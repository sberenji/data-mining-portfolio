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21"/>
  </p:notesMasterIdLst>
  <p:sldIdLst>
    <p:sldId id="256" r:id="rId2"/>
    <p:sldId id="258" r:id="rId3"/>
    <p:sldId id="259" r:id="rId4"/>
    <p:sldId id="267" r:id="rId5"/>
    <p:sldId id="268" r:id="rId6"/>
    <p:sldId id="272" r:id="rId7"/>
    <p:sldId id="271" r:id="rId8"/>
    <p:sldId id="262" r:id="rId9"/>
    <p:sldId id="297" r:id="rId10"/>
    <p:sldId id="299" r:id="rId11"/>
    <p:sldId id="306" r:id="rId12"/>
    <p:sldId id="307" r:id="rId13"/>
    <p:sldId id="308" r:id="rId14"/>
    <p:sldId id="304" r:id="rId15"/>
    <p:sldId id="303" r:id="rId16"/>
    <p:sldId id="300" r:id="rId17"/>
    <p:sldId id="301" r:id="rId18"/>
    <p:sldId id="266" r:id="rId19"/>
    <p:sldId id="270" r:id="rId20"/>
  </p:sldIdLst>
  <p:sldSz cx="9144000" cy="5143500" type="screen16x9"/>
  <p:notesSz cx="6858000" cy="9144000"/>
  <p:embeddedFontLst>
    <p:embeddedFont>
      <p:font typeface="Anaheim" panose="020B0604020202020204" charset="0"/>
      <p:regular r:id="rId22"/>
      <p:bold r:id="rId23"/>
    </p:embeddedFont>
    <p:embeddedFont>
      <p:font typeface="Barlow" panose="00000500000000000000" pitchFamily="2" charset="0"/>
      <p:regular r:id="rId24"/>
      <p:bold r:id="rId25"/>
      <p:italic r:id="rId26"/>
      <p:boldItalic r:id="rId27"/>
    </p:embeddedFont>
    <p:embeddedFont>
      <p:font typeface="Bebas Neue" panose="020B0606020202050201" pitchFamily="34" charset="0"/>
      <p:regular r:id="rId28"/>
    </p:embeddedFont>
    <p:embeddedFont>
      <p:font typeface="Nunito Light" pitchFamily="2" charset="0"/>
      <p:regular r:id="rId29"/>
      <p:italic r:id="rId30"/>
    </p:embeddedFont>
    <p:embeddedFont>
      <p:font typeface="Oswald" panose="00000500000000000000" pitchFamily="2" charset="0"/>
      <p:regular r:id="rId31"/>
      <p:bold r:id="rId32"/>
    </p:embeddedFont>
    <p:embeddedFont>
      <p:font typeface="Oswald Medium" panose="00000600000000000000" pitchFamily="2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83E5E"/>
    <a:srgbClr val="E7F1F9"/>
    <a:srgbClr val="0F4D73"/>
    <a:srgbClr val="A7D6F4"/>
    <a:srgbClr val="F7FB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CFD059-254A-DB57-73F9-64EE4FC90774}" v="12" dt="2026-08-17T23:06:30.777"/>
    <p1510:client id="{2FE3EDCE-C67F-4488-BF91-A2B16B07FD2B}" v="427" dt="2026-08-18T14:59:48.031"/>
    <p1510:client id="{5BD32D1C-531B-4A3C-81A9-B3AFC4653F67}" v="1500" dt="2026-08-18T12:31:53.849"/>
  </p1510:revLst>
</p1510:revInfo>
</file>

<file path=ppt/tableStyles.xml><?xml version="1.0" encoding="utf-8"?>
<a:tblStyleLst xmlns:a="http://schemas.openxmlformats.org/drawingml/2006/main" def="{58FB02A1-AD67-4930-A46A-6CA0E77E75BC}">
  <a:tblStyle styleId="{58FB02A1-AD67-4930-A46A-6CA0E77E75B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989F6EFE-6EF4-450C-9C13-3FAD2116CB2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1594" y="5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microsoft.com/office/2015/10/relationships/revisionInfo" Target="revisionInfo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7D1B704-4E25-46F6-A03B-9834E28EA348}" type="doc">
      <dgm:prSet loTypeId="urn:microsoft.com/office/officeart/2005/8/layout/equation1" loCatId="relationship" qsTypeId="urn:microsoft.com/office/officeart/2005/8/quickstyle/simple4#1" qsCatId="simple" csTypeId="urn:microsoft.com/office/officeart/2005/8/colors/accent1_2#1" csCatId="accent1" phldr="1"/>
      <dgm:spPr/>
      <dgm:t>
        <a:bodyPr/>
        <a:lstStyle/>
        <a:p>
          <a:endParaRPr lang="en-CA"/>
        </a:p>
      </dgm:t>
    </dgm:pt>
    <dgm:pt modelId="{EEB19872-B645-4EF1-8541-630E70A19454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/>
            <a:t>UK Online Retail Data</a:t>
          </a:r>
        </a:p>
      </dgm:t>
    </dgm:pt>
    <dgm:pt modelId="{8B4FC36A-CD17-4DF5-B0BD-B1C6E1551EF7}" type="parTrans" cxnId="{AD9B5E6F-C858-42AC-B08E-9D6A479A43DE}">
      <dgm:prSet/>
      <dgm:spPr/>
      <dgm:t>
        <a:bodyPr/>
        <a:lstStyle/>
        <a:p>
          <a:endParaRPr lang="en-CA"/>
        </a:p>
      </dgm:t>
    </dgm:pt>
    <dgm:pt modelId="{8213859B-9166-4AB6-A0E1-4D0373F37BC1}" type="sibTrans" cxnId="{AD9B5E6F-C858-42AC-B08E-9D6A479A43DE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CC249ECA-2D58-47A8-943D-DC4D17171A94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/>
            <a:t>UK Weather Data</a:t>
          </a:r>
          <a:endParaRPr lang="en-CA" dirty="0"/>
        </a:p>
      </dgm:t>
    </dgm:pt>
    <dgm:pt modelId="{1FCC7A58-B726-48D3-9BB4-4948DF724E84}" type="parTrans" cxnId="{CC598699-9789-4D1E-A336-F17A3314044F}">
      <dgm:prSet/>
      <dgm:spPr/>
      <dgm:t>
        <a:bodyPr/>
        <a:lstStyle/>
        <a:p>
          <a:endParaRPr lang="en-CA"/>
        </a:p>
      </dgm:t>
    </dgm:pt>
    <dgm:pt modelId="{2EF55EFE-2C6A-41B5-82CC-6BF21465CEED}" type="sibTrans" cxnId="{CC598699-9789-4D1E-A336-F17A3314044F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B4188B88-27B3-429B-A25C-F76A0807432F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/>
            <a:t>Retail and Weather</a:t>
          </a:r>
          <a:endParaRPr lang="en-CA" dirty="0"/>
        </a:p>
      </dgm:t>
    </dgm:pt>
    <dgm:pt modelId="{E6C3E16B-89C3-4B5E-93C6-D7A7264FCFA2}" type="parTrans" cxnId="{49986A8B-2F25-4FBB-B275-2E78E7AF2346}">
      <dgm:prSet/>
      <dgm:spPr/>
      <dgm:t>
        <a:bodyPr/>
        <a:lstStyle/>
        <a:p>
          <a:endParaRPr lang="en-CA"/>
        </a:p>
      </dgm:t>
    </dgm:pt>
    <dgm:pt modelId="{29E3CAB6-EBD8-41C1-87A7-A8321C5B8AB2}" type="sibTrans" cxnId="{49986A8B-2F25-4FBB-B275-2E78E7AF2346}">
      <dgm:prSet/>
      <dgm:spPr/>
      <dgm:t>
        <a:bodyPr/>
        <a:lstStyle/>
        <a:p>
          <a:endParaRPr lang="en-CA"/>
        </a:p>
      </dgm:t>
    </dgm:pt>
    <dgm:pt modelId="{AB1360D9-C21A-4D0A-9D03-FB39C2E24F01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 dirty="0"/>
            <a:t>981K Transactions</a:t>
          </a:r>
        </a:p>
      </dgm:t>
    </dgm:pt>
    <dgm:pt modelId="{74533C13-94EC-4BA5-A899-C1514809F6D9}" type="parTrans" cxnId="{DDCF778F-CBFF-453E-8426-233B6D7FED6D}">
      <dgm:prSet/>
      <dgm:spPr/>
      <dgm:t>
        <a:bodyPr/>
        <a:lstStyle/>
        <a:p>
          <a:endParaRPr lang="en-CA"/>
        </a:p>
      </dgm:t>
    </dgm:pt>
    <dgm:pt modelId="{373509FC-176A-4320-A839-83C3F402874D}" type="sibTrans" cxnId="{DDCF778F-CBFF-453E-8426-233B6D7FED6D}">
      <dgm:prSet/>
      <dgm:spPr/>
      <dgm:t>
        <a:bodyPr/>
        <a:lstStyle/>
        <a:p>
          <a:endParaRPr lang="en-CA"/>
        </a:p>
      </dgm:t>
    </dgm:pt>
    <dgm:pt modelId="{8834EE1C-D73E-4327-B13A-D3E921212956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/>
            <a:t>2009-2011</a:t>
          </a:r>
          <a:endParaRPr lang="en-CA" dirty="0"/>
        </a:p>
      </dgm:t>
    </dgm:pt>
    <dgm:pt modelId="{91161B1E-4791-4A99-A28F-3D543067AEA7}" type="parTrans" cxnId="{B7775851-1557-4FA4-97C7-FB298E63F1A4}">
      <dgm:prSet/>
      <dgm:spPr/>
      <dgm:t>
        <a:bodyPr/>
        <a:lstStyle/>
        <a:p>
          <a:endParaRPr lang="en-CA"/>
        </a:p>
      </dgm:t>
    </dgm:pt>
    <dgm:pt modelId="{5FDE3B1B-1A2D-4145-BC8F-A246CAB13B96}" type="sibTrans" cxnId="{B7775851-1557-4FA4-97C7-FB298E63F1A4}">
      <dgm:prSet/>
      <dgm:spPr/>
      <dgm:t>
        <a:bodyPr/>
        <a:lstStyle/>
        <a:p>
          <a:endParaRPr lang="en-CA"/>
        </a:p>
      </dgm:t>
    </dgm:pt>
    <dgm:pt modelId="{2D0F450B-15B0-4F0D-BAE0-C781CA9230FC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 dirty="0"/>
            <a:t>Quantity - Price</a:t>
          </a:r>
        </a:p>
      </dgm:t>
    </dgm:pt>
    <dgm:pt modelId="{4828EE53-B101-4DA3-AF90-EEE9FAD18B5B}" type="parTrans" cxnId="{B19534AA-2C7C-4906-B484-E569A4570044}">
      <dgm:prSet/>
      <dgm:spPr/>
      <dgm:t>
        <a:bodyPr/>
        <a:lstStyle/>
        <a:p>
          <a:endParaRPr lang="en-CA"/>
        </a:p>
      </dgm:t>
    </dgm:pt>
    <dgm:pt modelId="{6C4AFC5B-53DE-47BC-B697-6CBF2F3DB24A}" type="sibTrans" cxnId="{B19534AA-2C7C-4906-B484-E569A4570044}">
      <dgm:prSet/>
      <dgm:spPr/>
      <dgm:t>
        <a:bodyPr/>
        <a:lstStyle/>
        <a:p>
          <a:endParaRPr lang="en-CA"/>
        </a:p>
      </dgm:t>
    </dgm:pt>
    <dgm:pt modelId="{67496E69-1838-455A-B8B5-858CBED58A89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/>
            <a:t>Daily Weather</a:t>
          </a:r>
          <a:endParaRPr lang="en-CA" dirty="0"/>
        </a:p>
      </dgm:t>
    </dgm:pt>
    <dgm:pt modelId="{D8400C8E-65BC-46CE-A05D-83D9DBD8D46D}" type="parTrans" cxnId="{875A5B36-BF51-4CA3-BEBC-934F13ABFC80}">
      <dgm:prSet/>
      <dgm:spPr/>
      <dgm:t>
        <a:bodyPr/>
        <a:lstStyle/>
        <a:p>
          <a:endParaRPr lang="en-CA"/>
        </a:p>
      </dgm:t>
    </dgm:pt>
    <dgm:pt modelId="{D88E629A-7B85-42EF-AA0D-04A628CCB5E4}" type="sibTrans" cxnId="{875A5B36-BF51-4CA3-BEBC-934F13ABFC80}">
      <dgm:prSet/>
      <dgm:spPr/>
      <dgm:t>
        <a:bodyPr/>
        <a:lstStyle/>
        <a:p>
          <a:endParaRPr lang="en-CA"/>
        </a:p>
      </dgm:t>
    </dgm:pt>
    <dgm:pt modelId="{3FFF20F0-3FC2-4EF3-839B-6142DC07A2A9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/>
            <a:t>Temperature – Rain – Humidity –Cloud – Wind</a:t>
          </a:r>
          <a:endParaRPr lang="en-CA" dirty="0"/>
        </a:p>
      </dgm:t>
    </dgm:pt>
    <dgm:pt modelId="{C25DD7B5-2505-4B3E-B864-DE5FFE251714}" type="parTrans" cxnId="{49129F64-8B9A-4DA5-AFC2-B1AA66B7B996}">
      <dgm:prSet/>
      <dgm:spPr/>
      <dgm:t>
        <a:bodyPr/>
        <a:lstStyle/>
        <a:p>
          <a:endParaRPr lang="en-CA"/>
        </a:p>
      </dgm:t>
    </dgm:pt>
    <dgm:pt modelId="{68007E41-856E-40D6-8DD4-AB8ABB56B59E}" type="sibTrans" cxnId="{49129F64-8B9A-4DA5-AFC2-B1AA66B7B996}">
      <dgm:prSet/>
      <dgm:spPr/>
      <dgm:t>
        <a:bodyPr/>
        <a:lstStyle/>
        <a:p>
          <a:endParaRPr lang="en-CA"/>
        </a:p>
      </dgm:t>
    </dgm:pt>
    <dgm:pt modelId="{9828E0E5-F8DE-4965-A767-E40CC6EADC9F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/>
            <a:t>Matched by Date</a:t>
          </a:r>
          <a:endParaRPr lang="en-CA" dirty="0"/>
        </a:p>
      </dgm:t>
    </dgm:pt>
    <dgm:pt modelId="{9E031D50-F7F9-40FE-BCDD-7EC7A08B0A2B}" type="parTrans" cxnId="{10690AC9-DEBB-4817-9A37-B5A45BFA9C90}">
      <dgm:prSet/>
      <dgm:spPr/>
      <dgm:t>
        <a:bodyPr/>
        <a:lstStyle/>
        <a:p>
          <a:endParaRPr lang="en-CA"/>
        </a:p>
      </dgm:t>
    </dgm:pt>
    <dgm:pt modelId="{194CD355-96FD-4E0E-B7F2-1B3C8637D27C}" type="sibTrans" cxnId="{10690AC9-DEBB-4817-9A37-B5A45BFA9C90}">
      <dgm:prSet/>
      <dgm:spPr/>
      <dgm:t>
        <a:bodyPr/>
        <a:lstStyle/>
        <a:p>
          <a:endParaRPr lang="en-CA"/>
        </a:p>
      </dgm:t>
    </dgm:pt>
    <dgm:pt modelId="{BFCC22D7-E469-4611-9E1F-19C3FCB37512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/>
            <a:t>2009-2011</a:t>
          </a:r>
          <a:endParaRPr lang="en-CA" dirty="0"/>
        </a:p>
      </dgm:t>
    </dgm:pt>
    <dgm:pt modelId="{099B67C9-D6E2-4969-B786-D5BBB1B1EA08}" type="parTrans" cxnId="{5138A7CD-4617-4113-8DFA-3F4B13288EF9}">
      <dgm:prSet/>
      <dgm:spPr/>
      <dgm:t>
        <a:bodyPr/>
        <a:lstStyle/>
        <a:p>
          <a:endParaRPr lang="en-CA"/>
        </a:p>
      </dgm:t>
    </dgm:pt>
    <dgm:pt modelId="{98D60F10-7C53-4688-9F0C-C0E956CC0FB6}" type="sibTrans" cxnId="{5138A7CD-4617-4113-8DFA-3F4B13288EF9}">
      <dgm:prSet/>
      <dgm:spPr/>
      <dgm:t>
        <a:bodyPr/>
        <a:lstStyle/>
        <a:p>
          <a:endParaRPr lang="en-CA"/>
        </a:p>
      </dgm:t>
    </dgm:pt>
    <dgm:pt modelId="{63E2FBA9-9B02-4BB3-9E02-9609BA61D6C5}" type="pres">
      <dgm:prSet presAssocID="{57D1B704-4E25-46F6-A03B-9834E28EA348}" presName="linearFlow" presStyleCnt="0">
        <dgm:presLayoutVars>
          <dgm:dir/>
          <dgm:resizeHandles val="exact"/>
        </dgm:presLayoutVars>
      </dgm:prSet>
      <dgm:spPr/>
    </dgm:pt>
    <dgm:pt modelId="{37AFF39F-F590-4A5B-90FA-7B6A9C386764}" type="pres">
      <dgm:prSet presAssocID="{EEB19872-B645-4EF1-8541-630E70A19454}" presName="node" presStyleLbl="node1" presStyleIdx="0" presStyleCnt="3" custLinFactNeighborY="184">
        <dgm:presLayoutVars>
          <dgm:bulletEnabled val="1"/>
        </dgm:presLayoutVars>
      </dgm:prSet>
      <dgm:spPr/>
    </dgm:pt>
    <dgm:pt modelId="{013B6FE5-2828-4D76-8AFF-918A473F667C}" type="pres">
      <dgm:prSet presAssocID="{8213859B-9166-4AB6-A0E1-4D0373F37BC1}" presName="spacerL" presStyleCnt="0"/>
      <dgm:spPr/>
    </dgm:pt>
    <dgm:pt modelId="{351D4AAE-85D6-498B-A41B-E0659FF7BB13}" type="pres">
      <dgm:prSet presAssocID="{8213859B-9166-4AB6-A0E1-4D0373F37BC1}" presName="sibTrans" presStyleLbl="sibTrans2D1" presStyleIdx="0" presStyleCnt="2" custLinFactNeighborY="317"/>
      <dgm:spPr/>
    </dgm:pt>
    <dgm:pt modelId="{34312E76-961F-4D84-880C-2208DAF3A2CB}" type="pres">
      <dgm:prSet presAssocID="{8213859B-9166-4AB6-A0E1-4D0373F37BC1}" presName="spacerR" presStyleCnt="0"/>
      <dgm:spPr/>
    </dgm:pt>
    <dgm:pt modelId="{00BBAA9A-5E28-4DC8-9AA1-8CF8EB99889E}" type="pres">
      <dgm:prSet presAssocID="{CC249ECA-2D58-47A8-943D-DC4D17171A94}" presName="node" presStyleLbl="node1" presStyleIdx="1" presStyleCnt="3" custLinFactNeighborY="184">
        <dgm:presLayoutVars>
          <dgm:bulletEnabled val="1"/>
        </dgm:presLayoutVars>
      </dgm:prSet>
      <dgm:spPr/>
    </dgm:pt>
    <dgm:pt modelId="{8E3C2A5C-9B30-4B63-A105-1FC552FA0960}" type="pres">
      <dgm:prSet presAssocID="{2EF55EFE-2C6A-41B5-82CC-6BF21465CEED}" presName="spacerL" presStyleCnt="0"/>
      <dgm:spPr/>
    </dgm:pt>
    <dgm:pt modelId="{EC535D3C-C0C7-48B2-BCF1-150509825A2C}" type="pres">
      <dgm:prSet presAssocID="{2EF55EFE-2C6A-41B5-82CC-6BF21465CEED}" presName="sibTrans" presStyleLbl="sibTrans2D1" presStyleIdx="1" presStyleCnt="2" custLinFactNeighborY="317"/>
      <dgm:spPr/>
    </dgm:pt>
    <dgm:pt modelId="{C7E11CE7-60AF-4BB8-8566-A1474DBEAE3B}" type="pres">
      <dgm:prSet presAssocID="{2EF55EFE-2C6A-41B5-82CC-6BF21465CEED}" presName="spacerR" presStyleCnt="0"/>
      <dgm:spPr/>
    </dgm:pt>
    <dgm:pt modelId="{64806803-E639-444B-807E-686F73BE3673}" type="pres">
      <dgm:prSet presAssocID="{B4188B88-27B3-429B-A25C-F76A0807432F}" presName="node" presStyleLbl="node1" presStyleIdx="2" presStyleCnt="3" custLinFactNeighborY="-849">
        <dgm:presLayoutVars>
          <dgm:bulletEnabled val="1"/>
        </dgm:presLayoutVars>
      </dgm:prSet>
      <dgm:spPr/>
    </dgm:pt>
  </dgm:ptLst>
  <dgm:cxnLst>
    <dgm:cxn modelId="{90083F20-2B78-4BBB-9772-99214D871247}" type="presOf" srcId="{CC249ECA-2D58-47A8-943D-DC4D17171A94}" destId="{00BBAA9A-5E28-4DC8-9AA1-8CF8EB99889E}" srcOrd="0" destOrd="0" presId="urn:microsoft.com/office/officeart/2005/8/layout/equation1"/>
    <dgm:cxn modelId="{7C25852F-2F44-48A4-821C-9CEA19662A2F}" type="presOf" srcId="{3FFF20F0-3FC2-4EF3-839B-6142DC07A2A9}" destId="{00BBAA9A-5E28-4DC8-9AA1-8CF8EB99889E}" srcOrd="0" destOrd="3" presId="urn:microsoft.com/office/officeart/2005/8/layout/equation1"/>
    <dgm:cxn modelId="{875A5B36-BF51-4CA3-BEBC-934F13ABFC80}" srcId="{CC249ECA-2D58-47A8-943D-DC4D17171A94}" destId="{67496E69-1838-455A-B8B5-858CBED58A89}" srcOrd="0" destOrd="0" parTransId="{D8400C8E-65BC-46CE-A05D-83D9DBD8D46D}" sibTransId="{D88E629A-7B85-42EF-AA0D-04A628CCB5E4}"/>
    <dgm:cxn modelId="{49129F64-8B9A-4DA5-AFC2-B1AA66B7B996}" srcId="{CC249ECA-2D58-47A8-943D-DC4D17171A94}" destId="{3FFF20F0-3FC2-4EF3-839B-6142DC07A2A9}" srcOrd="2" destOrd="0" parTransId="{C25DD7B5-2505-4B3E-B864-DE5FFE251714}" sibTransId="{68007E41-856E-40D6-8DD4-AB8ABB56B59E}"/>
    <dgm:cxn modelId="{AD9B5E6F-C858-42AC-B08E-9D6A479A43DE}" srcId="{57D1B704-4E25-46F6-A03B-9834E28EA348}" destId="{EEB19872-B645-4EF1-8541-630E70A19454}" srcOrd="0" destOrd="0" parTransId="{8B4FC36A-CD17-4DF5-B0BD-B1C6E1551EF7}" sibTransId="{8213859B-9166-4AB6-A0E1-4D0373F37BC1}"/>
    <dgm:cxn modelId="{B7775851-1557-4FA4-97C7-FB298E63F1A4}" srcId="{EEB19872-B645-4EF1-8541-630E70A19454}" destId="{8834EE1C-D73E-4327-B13A-D3E921212956}" srcOrd="1" destOrd="0" parTransId="{91161B1E-4791-4A99-A28F-3D543067AEA7}" sibTransId="{5FDE3B1B-1A2D-4145-BC8F-A246CAB13B96}"/>
    <dgm:cxn modelId="{49986A8B-2F25-4FBB-B275-2E78E7AF2346}" srcId="{57D1B704-4E25-46F6-A03B-9834E28EA348}" destId="{B4188B88-27B3-429B-A25C-F76A0807432F}" srcOrd="2" destOrd="0" parTransId="{E6C3E16B-89C3-4B5E-93C6-D7A7264FCFA2}" sibTransId="{29E3CAB6-EBD8-41C1-87A7-A8321C5B8AB2}"/>
    <dgm:cxn modelId="{DDCF778F-CBFF-453E-8426-233B6D7FED6D}" srcId="{EEB19872-B645-4EF1-8541-630E70A19454}" destId="{AB1360D9-C21A-4D0A-9D03-FB39C2E24F01}" srcOrd="0" destOrd="0" parTransId="{74533C13-94EC-4BA5-A899-C1514809F6D9}" sibTransId="{373509FC-176A-4320-A839-83C3F402874D}"/>
    <dgm:cxn modelId="{C4042E91-E1B9-40E6-9C16-A11728CA294A}" type="presOf" srcId="{57D1B704-4E25-46F6-A03B-9834E28EA348}" destId="{63E2FBA9-9B02-4BB3-9E02-9609BA61D6C5}" srcOrd="0" destOrd="0" presId="urn:microsoft.com/office/officeart/2005/8/layout/equation1"/>
    <dgm:cxn modelId="{CC598699-9789-4D1E-A336-F17A3314044F}" srcId="{57D1B704-4E25-46F6-A03B-9834E28EA348}" destId="{CC249ECA-2D58-47A8-943D-DC4D17171A94}" srcOrd="1" destOrd="0" parTransId="{1FCC7A58-B726-48D3-9BB4-4948DF724E84}" sibTransId="{2EF55EFE-2C6A-41B5-82CC-6BF21465CEED}"/>
    <dgm:cxn modelId="{D44DC8A5-C347-476C-8159-E300C4A8A518}" type="presOf" srcId="{8834EE1C-D73E-4327-B13A-D3E921212956}" destId="{37AFF39F-F590-4A5B-90FA-7B6A9C386764}" srcOrd="0" destOrd="2" presId="urn:microsoft.com/office/officeart/2005/8/layout/equation1"/>
    <dgm:cxn modelId="{B19534AA-2C7C-4906-B484-E569A4570044}" srcId="{EEB19872-B645-4EF1-8541-630E70A19454}" destId="{2D0F450B-15B0-4F0D-BAE0-C781CA9230FC}" srcOrd="2" destOrd="0" parTransId="{4828EE53-B101-4DA3-AF90-EEE9FAD18B5B}" sibTransId="{6C4AFC5B-53DE-47BC-B697-6CBF2F3DB24A}"/>
    <dgm:cxn modelId="{44EB3FAB-E6C2-4283-9197-4383A3163BF2}" type="presOf" srcId="{B4188B88-27B3-429B-A25C-F76A0807432F}" destId="{64806803-E639-444B-807E-686F73BE3673}" srcOrd="0" destOrd="0" presId="urn:microsoft.com/office/officeart/2005/8/layout/equation1"/>
    <dgm:cxn modelId="{93CD15AE-47C6-4329-AAB7-7A56790B27FA}" type="presOf" srcId="{AB1360D9-C21A-4D0A-9D03-FB39C2E24F01}" destId="{37AFF39F-F590-4A5B-90FA-7B6A9C386764}" srcOrd="0" destOrd="1" presId="urn:microsoft.com/office/officeart/2005/8/layout/equation1"/>
    <dgm:cxn modelId="{162E43B0-BF58-4705-8933-979631F4FB69}" type="presOf" srcId="{EEB19872-B645-4EF1-8541-630E70A19454}" destId="{37AFF39F-F590-4A5B-90FA-7B6A9C386764}" srcOrd="0" destOrd="0" presId="urn:microsoft.com/office/officeart/2005/8/layout/equation1"/>
    <dgm:cxn modelId="{BFA14EC8-A732-4241-ACE8-05FACD4E0757}" type="presOf" srcId="{2EF55EFE-2C6A-41B5-82CC-6BF21465CEED}" destId="{EC535D3C-C0C7-48B2-BCF1-150509825A2C}" srcOrd="0" destOrd="0" presId="urn:microsoft.com/office/officeart/2005/8/layout/equation1"/>
    <dgm:cxn modelId="{10690AC9-DEBB-4817-9A37-B5A45BFA9C90}" srcId="{B4188B88-27B3-429B-A25C-F76A0807432F}" destId="{9828E0E5-F8DE-4965-A767-E40CC6EADC9F}" srcOrd="0" destOrd="0" parTransId="{9E031D50-F7F9-40FE-BCDD-7EC7A08B0A2B}" sibTransId="{194CD355-96FD-4E0E-B7F2-1B3C8637D27C}"/>
    <dgm:cxn modelId="{C5C606CA-1963-4B56-9E62-BC239C3A1EC5}" type="presOf" srcId="{8213859B-9166-4AB6-A0E1-4D0373F37BC1}" destId="{351D4AAE-85D6-498B-A41B-E0659FF7BB13}" srcOrd="0" destOrd="0" presId="urn:microsoft.com/office/officeart/2005/8/layout/equation1"/>
    <dgm:cxn modelId="{5138A7CD-4617-4113-8DFA-3F4B13288EF9}" srcId="{CC249ECA-2D58-47A8-943D-DC4D17171A94}" destId="{BFCC22D7-E469-4611-9E1F-19C3FCB37512}" srcOrd="1" destOrd="0" parTransId="{099B67C9-D6E2-4969-B786-D5BBB1B1EA08}" sibTransId="{98D60F10-7C53-4688-9F0C-C0E956CC0FB6}"/>
    <dgm:cxn modelId="{5AB479D9-EED9-4AD7-92AA-06AA3778F5C0}" type="presOf" srcId="{BFCC22D7-E469-4611-9E1F-19C3FCB37512}" destId="{00BBAA9A-5E28-4DC8-9AA1-8CF8EB99889E}" srcOrd="0" destOrd="2" presId="urn:microsoft.com/office/officeart/2005/8/layout/equation1"/>
    <dgm:cxn modelId="{9A169CDE-89C1-45D3-98F9-B9562CC530EC}" type="presOf" srcId="{67496E69-1838-455A-B8B5-858CBED58A89}" destId="{00BBAA9A-5E28-4DC8-9AA1-8CF8EB99889E}" srcOrd="0" destOrd="1" presId="urn:microsoft.com/office/officeart/2005/8/layout/equation1"/>
    <dgm:cxn modelId="{5C9AA8F7-A861-4A2C-8449-409F79A42E93}" type="presOf" srcId="{2D0F450B-15B0-4F0D-BAE0-C781CA9230FC}" destId="{37AFF39F-F590-4A5B-90FA-7B6A9C386764}" srcOrd="0" destOrd="3" presId="urn:microsoft.com/office/officeart/2005/8/layout/equation1"/>
    <dgm:cxn modelId="{96FB00FD-813C-4197-AB1A-78237DF4C181}" type="presOf" srcId="{9828E0E5-F8DE-4965-A767-E40CC6EADC9F}" destId="{64806803-E639-444B-807E-686F73BE3673}" srcOrd="0" destOrd="1" presId="urn:microsoft.com/office/officeart/2005/8/layout/equation1"/>
    <dgm:cxn modelId="{CA820620-A2D6-4DD3-8D6C-A19AAB933971}" type="presParOf" srcId="{63E2FBA9-9B02-4BB3-9E02-9609BA61D6C5}" destId="{37AFF39F-F590-4A5B-90FA-7B6A9C386764}" srcOrd="0" destOrd="0" presId="urn:microsoft.com/office/officeart/2005/8/layout/equation1"/>
    <dgm:cxn modelId="{6A5CA170-66E0-41EF-A9FB-FCEB7599F91A}" type="presParOf" srcId="{63E2FBA9-9B02-4BB3-9E02-9609BA61D6C5}" destId="{013B6FE5-2828-4D76-8AFF-918A473F667C}" srcOrd="1" destOrd="0" presId="urn:microsoft.com/office/officeart/2005/8/layout/equation1"/>
    <dgm:cxn modelId="{71D0AB5B-BD54-41FE-B4A4-622B6973ACC7}" type="presParOf" srcId="{63E2FBA9-9B02-4BB3-9E02-9609BA61D6C5}" destId="{351D4AAE-85D6-498B-A41B-E0659FF7BB13}" srcOrd="2" destOrd="0" presId="urn:microsoft.com/office/officeart/2005/8/layout/equation1"/>
    <dgm:cxn modelId="{D4289CFD-D1AB-4208-8AFE-D823C814EB7E}" type="presParOf" srcId="{63E2FBA9-9B02-4BB3-9E02-9609BA61D6C5}" destId="{34312E76-961F-4D84-880C-2208DAF3A2CB}" srcOrd="3" destOrd="0" presId="urn:microsoft.com/office/officeart/2005/8/layout/equation1"/>
    <dgm:cxn modelId="{BF370794-8224-43B6-9497-0190BB45D7FC}" type="presParOf" srcId="{63E2FBA9-9B02-4BB3-9E02-9609BA61D6C5}" destId="{00BBAA9A-5E28-4DC8-9AA1-8CF8EB99889E}" srcOrd="4" destOrd="0" presId="urn:microsoft.com/office/officeart/2005/8/layout/equation1"/>
    <dgm:cxn modelId="{96417B3D-5DD8-4EDC-9DAC-0EE0B586E1F7}" type="presParOf" srcId="{63E2FBA9-9B02-4BB3-9E02-9609BA61D6C5}" destId="{8E3C2A5C-9B30-4B63-A105-1FC552FA0960}" srcOrd="5" destOrd="0" presId="urn:microsoft.com/office/officeart/2005/8/layout/equation1"/>
    <dgm:cxn modelId="{AB92C633-79FA-4023-90FC-F8A3CFA0EE18}" type="presParOf" srcId="{63E2FBA9-9B02-4BB3-9E02-9609BA61D6C5}" destId="{EC535D3C-C0C7-48B2-BCF1-150509825A2C}" srcOrd="6" destOrd="0" presId="urn:microsoft.com/office/officeart/2005/8/layout/equation1"/>
    <dgm:cxn modelId="{0C7DAF8C-16C9-48E9-96FD-64AD870272EC}" type="presParOf" srcId="{63E2FBA9-9B02-4BB3-9E02-9609BA61D6C5}" destId="{C7E11CE7-60AF-4BB8-8566-A1474DBEAE3B}" srcOrd="7" destOrd="0" presId="urn:microsoft.com/office/officeart/2005/8/layout/equation1"/>
    <dgm:cxn modelId="{E229A993-7C94-4846-AF23-A095FF7FB563}" type="presParOf" srcId="{63E2FBA9-9B02-4BB3-9E02-9609BA61D6C5}" destId="{64806803-E639-444B-807E-686F73BE3673}" srcOrd="8" destOrd="0" presId="urn:microsoft.com/office/officeart/2005/8/layout/equation1"/>
  </dgm:cxnLst>
  <dgm:bg/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2DAC305-5A40-4144-9F09-1B0766103228}" type="doc">
      <dgm:prSet loTypeId="urn:microsoft.com/office/officeart/2005/8/layout/process1" loCatId="process" qsTypeId="urn:microsoft.com/office/officeart/2005/8/quickstyle/simple2#1" qsCatId="simple" csTypeId="urn:microsoft.com/office/officeart/2005/8/colors/accent1_2#2" csCatId="accent1" phldr="1"/>
      <dgm:spPr/>
      <dgm:t>
        <a:bodyPr/>
        <a:lstStyle/>
        <a:p>
          <a:endParaRPr lang="en-CA"/>
        </a:p>
      </dgm:t>
    </dgm:pt>
    <dgm:pt modelId="{CA25F816-C1F3-4325-9B13-31B9E087326A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b="1" dirty="0"/>
            <a:t>Forecast</a:t>
          </a:r>
        </a:p>
      </dgm:t>
    </dgm:pt>
    <dgm:pt modelId="{27A532DC-E759-40AB-8E8F-40AA3A2D19B4}" type="parTrans" cxnId="{02E58E1D-9930-4DAC-94D0-4B3B65B9B43B}">
      <dgm:prSet/>
      <dgm:spPr/>
      <dgm:t>
        <a:bodyPr/>
        <a:lstStyle/>
        <a:p>
          <a:endParaRPr lang="en-CA"/>
        </a:p>
      </dgm:t>
    </dgm:pt>
    <dgm:pt modelId="{BAED27A1-543B-4F65-97BB-983BB3CF82F2}" type="sibTrans" cxnId="{02E58E1D-9930-4DAC-94D0-4B3B65B9B43B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D78F6D57-6AD0-4E21-BA6F-8BBBE1704B01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b="1" dirty="0"/>
            <a:t>Demand Signal</a:t>
          </a:r>
        </a:p>
      </dgm:t>
    </dgm:pt>
    <dgm:pt modelId="{62B44BF5-73F0-489A-B16E-6B85CA13A0B1}" type="parTrans" cxnId="{26CB3F75-E99C-450F-9F93-50F4877CE528}">
      <dgm:prSet/>
      <dgm:spPr/>
      <dgm:t>
        <a:bodyPr/>
        <a:lstStyle/>
        <a:p>
          <a:endParaRPr lang="en-CA"/>
        </a:p>
      </dgm:t>
    </dgm:pt>
    <dgm:pt modelId="{59DE7C7A-0CD0-4689-9130-0E9782E20826}" type="sibTrans" cxnId="{26CB3F75-E99C-450F-9F93-50F4877CE528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A49C6BBB-7136-483D-B2D2-32C6B440604D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b="1" dirty="0"/>
            <a:t>Review Stock</a:t>
          </a:r>
        </a:p>
      </dgm:t>
    </dgm:pt>
    <dgm:pt modelId="{76660AE6-614C-48CF-BC94-16C9CCC2660E}" type="parTrans" cxnId="{04458C8F-F1EB-4EBB-BB7F-410023FEA46C}">
      <dgm:prSet/>
      <dgm:spPr/>
      <dgm:t>
        <a:bodyPr/>
        <a:lstStyle/>
        <a:p>
          <a:endParaRPr lang="en-CA"/>
        </a:p>
      </dgm:t>
    </dgm:pt>
    <dgm:pt modelId="{436CA195-CCA9-47E9-B442-8C030BA7F96F}" type="sibTrans" cxnId="{04458C8F-F1EB-4EBB-BB7F-410023FEA46C}">
      <dgm:prSet/>
      <dgm:spPr/>
      <dgm:t>
        <a:bodyPr/>
        <a:lstStyle/>
        <a:p>
          <a:endParaRPr lang="en-CA"/>
        </a:p>
      </dgm:t>
    </dgm:pt>
    <dgm:pt modelId="{4D06A6C6-2BF6-4BB7-A20C-38760A0150A2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/>
            <a:t>Wet, Cloudy &amp; Windy</a:t>
          </a:r>
        </a:p>
      </dgm:t>
    </dgm:pt>
    <dgm:pt modelId="{B5F3B5B5-92BB-4757-A621-1B416FA73674}" type="parTrans" cxnId="{51062D6F-FFC4-4FB6-8D36-FA8FD92321F4}">
      <dgm:prSet/>
      <dgm:spPr/>
      <dgm:t>
        <a:bodyPr/>
        <a:lstStyle/>
        <a:p>
          <a:endParaRPr lang="en-CA"/>
        </a:p>
      </dgm:t>
    </dgm:pt>
    <dgm:pt modelId="{0C15329F-D9DB-4030-B72D-945DA17FE2FB}" type="sibTrans" cxnId="{51062D6F-FFC4-4FB6-8D36-FA8FD92321F4}">
      <dgm:prSet/>
      <dgm:spPr/>
      <dgm:t>
        <a:bodyPr/>
        <a:lstStyle/>
        <a:p>
          <a:endParaRPr lang="en-CA"/>
        </a:p>
      </dgm:t>
    </dgm:pt>
    <dgm:pt modelId="{3DD0F619-4CC2-4BDE-9523-AAE2A102E1E7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 dirty="0"/>
            <a:t>Historically Higher Quantity</a:t>
          </a:r>
        </a:p>
      </dgm:t>
    </dgm:pt>
    <dgm:pt modelId="{13B703E8-3B7D-4BCD-B872-671847ED25E5}" type="parTrans" cxnId="{B453864E-BAD3-429E-8260-BC193ECEE06D}">
      <dgm:prSet/>
      <dgm:spPr/>
      <dgm:t>
        <a:bodyPr/>
        <a:lstStyle/>
        <a:p>
          <a:endParaRPr lang="en-CA"/>
        </a:p>
      </dgm:t>
    </dgm:pt>
    <dgm:pt modelId="{6F0C1BC5-AC4D-4408-9651-994ED56DB5F0}" type="sibTrans" cxnId="{B453864E-BAD3-429E-8260-BC193ECEE06D}">
      <dgm:prSet/>
      <dgm:spPr/>
      <dgm:t>
        <a:bodyPr/>
        <a:lstStyle/>
        <a:p>
          <a:endParaRPr lang="en-CA"/>
        </a:p>
      </dgm:t>
    </dgm:pt>
    <dgm:pt modelId="{DE8CD99B-C1A1-44A4-A57A-93AE8A357993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 dirty="0"/>
            <a:t>Product Availability</a:t>
          </a:r>
        </a:p>
      </dgm:t>
    </dgm:pt>
    <dgm:pt modelId="{36B9B2D1-8B5F-4C53-8BCD-4CBB76C13C17}" type="parTrans" cxnId="{B32F6916-E1BE-480D-B8B5-9BFB99F92C6D}">
      <dgm:prSet/>
      <dgm:spPr/>
      <dgm:t>
        <a:bodyPr/>
        <a:lstStyle/>
        <a:p>
          <a:endParaRPr lang="en-CA"/>
        </a:p>
      </dgm:t>
    </dgm:pt>
    <dgm:pt modelId="{B3209DA8-EECD-40B5-99F3-F6FC261E67E7}" type="sibTrans" cxnId="{B32F6916-E1BE-480D-B8B5-9BFB99F92C6D}">
      <dgm:prSet/>
      <dgm:spPr/>
      <dgm:t>
        <a:bodyPr/>
        <a:lstStyle/>
        <a:p>
          <a:endParaRPr lang="en-CA"/>
        </a:p>
      </dgm:t>
    </dgm:pt>
    <dgm:pt modelId="{63B61979-DF38-4201-923E-8A4BD2030243}" type="pres">
      <dgm:prSet presAssocID="{92DAC305-5A40-4144-9F09-1B0766103228}" presName="Name0" presStyleCnt="0">
        <dgm:presLayoutVars>
          <dgm:dir/>
          <dgm:resizeHandles val="exact"/>
        </dgm:presLayoutVars>
      </dgm:prSet>
      <dgm:spPr/>
    </dgm:pt>
    <dgm:pt modelId="{E6B7ACC9-35BC-4CE1-990D-B3490C6219EF}" type="pres">
      <dgm:prSet presAssocID="{CA25F816-C1F3-4325-9B13-31B9E087326A}" presName="node" presStyleLbl="node1" presStyleIdx="0" presStyleCnt="3" custLinFactNeighborX="5838" custLinFactNeighborY="-1297">
        <dgm:presLayoutVars>
          <dgm:bulletEnabled val="1"/>
        </dgm:presLayoutVars>
      </dgm:prSet>
      <dgm:spPr/>
    </dgm:pt>
    <dgm:pt modelId="{B64C599C-BFA4-4D86-BBE6-15A884D42422}" type="pres">
      <dgm:prSet presAssocID="{BAED27A1-543B-4F65-97BB-983BB3CF82F2}" presName="sibTrans" presStyleLbl="sibTrans2D1" presStyleIdx="0" presStyleCnt="2"/>
      <dgm:spPr/>
    </dgm:pt>
    <dgm:pt modelId="{E377B0BF-B4F1-4E0D-8DE8-988D5E6F56E1}" type="pres">
      <dgm:prSet presAssocID="{BAED27A1-543B-4F65-97BB-983BB3CF82F2}" presName="connectorText" presStyleLbl="sibTrans2D1" presStyleIdx="0" presStyleCnt="2"/>
      <dgm:spPr/>
    </dgm:pt>
    <dgm:pt modelId="{4ED1AF48-9963-48E9-91D6-25F052E92B2D}" type="pres">
      <dgm:prSet presAssocID="{D78F6D57-6AD0-4E21-BA6F-8BBBE1704B01}" presName="node" presStyleLbl="node1" presStyleIdx="1" presStyleCnt="3" custLinFactNeighborX="2919" custLinFactNeighborY="-1297">
        <dgm:presLayoutVars>
          <dgm:bulletEnabled val="1"/>
        </dgm:presLayoutVars>
      </dgm:prSet>
      <dgm:spPr/>
    </dgm:pt>
    <dgm:pt modelId="{4EBCA1E8-47E3-4B04-8A69-DFB717A1DF66}" type="pres">
      <dgm:prSet presAssocID="{59DE7C7A-0CD0-4689-9130-0E9782E20826}" presName="sibTrans" presStyleLbl="sibTrans2D1" presStyleIdx="1" presStyleCnt="2"/>
      <dgm:spPr/>
    </dgm:pt>
    <dgm:pt modelId="{63FD5381-1A90-4790-AC1E-704073A07F0A}" type="pres">
      <dgm:prSet presAssocID="{59DE7C7A-0CD0-4689-9130-0E9782E20826}" presName="connectorText" presStyleLbl="sibTrans2D1" presStyleIdx="1" presStyleCnt="2"/>
      <dgm:spPr/>
    </dgm:pt>
    <dgm:pt modelId="{16F376A4-F184-4ABF-A8E1-968D959F6F90}" type="pres">
      <dgm:prSet presAssocID="{A49C6BBB-7136-483D-B2D2-32C6B440604D}" presName="node" presStyleLbl="node1" presStyleIdx="2" presStyleCnt="3" custLinFactNeighborY="-1297">
        <dgm:presLayoutVars>
          <dgm:bulletEnabled val="1"/>
        </dgm:presLayoutVars>
      </dgm:prSet>
      <dgm:spPr/>
    </dgm:pt>
  </dgm:ptLst>
  <dgm:cxnLst>
    <dgm:cxn modelId="{51A80602-8A1E-4BFB-AC29-A90A264F11FD}" type="presOf" srcId="{CA25F816-C1F3-4325-9B13-31B9E087326A}" destId="{E6B7ACC9-35BC-4CE1-990D-B3490C6219EF}" srcOrd="0" destOrd="0" presId="urn:microsoft.com/office/officeart/2005/8/layout/process1"/>
    <dgm:cxn modelId="{B32F6916-E1BE-480D-B8B5-9BFB99F92C6D}" srcId="{A49C6BBB-7136-483D-B2D2-32C6B440604D}" destId="{DE8CD99B-C1A1-44A4-A57A-93AE8A357993}" srcOrd="0" destOrd="0" parTransId="{36B9B2D1-8B5F-4C53-8BCD-4CBB76C13C17}" sibTransId="{B3209DA8-EECD-40B5-99F3-F6FC261E67E7}"/>
    <dgm:cxn modelId="{5F62301D-B016-4160-84D0-7543FE820CDB}" type="presOf" srcId="{4D06A6C6-2BF6-4BB7-A20C-38760A0150A2}" destId="{E6B7ACC9-35BC-4CE1-990D-B3490C6219EF}" srcOrd="0" destOrd="1" presId="urn:microsoft.com/office/officeart/2005/8/layout/process1"/>
    <dgm:cxn modelId="{02E58E1D-9930-4DAC-94D0-4B3B65B9B43B}" srcId="{92DAC305-5A40-4144-9F09-1B0766103228}" destId="{CA25F816-C1F3-4325-9B13-31B9E087326A}" srcOrd="0" destOrd="0" parTransId="{27A532DC-E759-40AB-8E8F-40AA3A2D19B4}" sibTransId="{BAED27A1-543B-4F65-97BB-983BB3CF82F2}"/>
    <dgm:cxn modelId="{497FF62A-9412-4F00-A209-3D0D8B477B45}" type="presOf" srcId="{BAED27A1-543B-4F65-97BB-983BB3CF82F2}" destId="{E377B0BF-B4F1-4E0D-8DE8-988D5E6F56E1}" srcOrd="1" destOrd="0" presId="urn:microsoft.com/office/officeart/2005/8/layout/process1"/>
    <dgm:cxn modelId="{B453864E-BAD3-429E-8260-BC193ECEE06D}" srcId="{D78F6D57-6AD0-4E21-BA6F-8BBBE1704B01}" destId="{3DD0F619-4CC2-4BDE-9523-AAE2A102E1E7}" srcOrd="0" destOrd="0" parTransId="{13B703E8-3B7D-4BCD-B872-671847ED25E5}" sibTransId="{6F0C1BC5-AC4D-4408-9651-994ED56DB5F0}"/>
    <dgm:cxn modelId="{51062D6F-FFC4-4FB6-8D36-FA8FD92321F4}" srcId="{CA25F816-C1F3-4325-9B13-31B9E087326A}" destId="{4D06A6C6-2BF6-4BB7-A20C-38760A0150A2}" srcOrd="0" destOrd="0" parTransId="{B5F3B5B5-92BB-4757-A621-1B416FA73674}" sibTransId="{0C15329F-D9DB-4030-B72D-945DA17FE2FB}"/>
    <dgm:cxn modelId="{26CB3F75-E99C-450F-9F93-50F4877CE528}" srcId="{92DAC305-5A40-4144-9F09-1B0766103228}" destId="{D78F6D57-6AD0-4E21-BA6F-8BBBE1704B01}" srcOrd="1" destOrd="0" parTransId="{62B44BF5-73F0-489A-B16E-6B85CA13A0B1}" sibTransId="{59DE7C7A-0CD0-4689-9130-0E9782E20826}"/>
    <dgm:cxn modelId="{C653B856-191E-4461-A65A-300D0A80A72D}" type="presOf" srcId="{DE8CD99B-C1A1-44A4-A57A-93AE8A357993}" destId="{16F376A4-F184-4ABF-A8E1-968D959F6F90}" srcOrd="0" destOrd="1" presId="urn:microsoft.com/office/officeart/2005/8/layout/process1"/>
    <dgm:cxn modelId="{4AE70784-F4D5-45F4-93DA-F0E759104289}" type="presOf" srcId="{92DAC305-5A40-4144-9F09-1B0766103228}" destId="{63B61979-DF38-4201-923E-8A4BD2030243}" srcOrd="0" destOrd="0" presId="urn:microsoft.com/office/officeart/2005/8/layout/process1"/>
    <dgm:cxn modelId="{A318C284-490B-4EB7-8E1C-9848ABE3CFEF}" type="presOf" srcId="{59DE7C7A-0CD0-4689-9130-0E9782E20826}" destId="{63FD5381-1A90-4790-AC1E-704073A07F0A}" srcOrd="1" destOrd="0" presId="urn:microsoft.com/office/officeart/2005/8/layout/process1"/>
    <dgm:cxn modelId="{04458C8F-F1EB-4EBB-BB7F-410023FEA46C}" srcId="{92DAC305-5A40-4144-9F09-1B0766103228}" destId="{A49C6BBB-7136-483D-B2D2-32C6B440604D}" srcOrd="2" destOrd="0" parTransId="{76660AE6-614C-48CF-BC94-16C9CCC2660E}" sibTransId="{436CA195-CCA9-47E9-B442-8C030BA7F96F}"/>
    <dgm:cxn modelId="{533FA4B8-521A-40DE-8A61-65503197D2AE}" type="presOf" srcId="{59DE7C7A-0CD0-4689-9130-0E9782E20826}" destId="{4EBCA1E8-47E3-4B04-8A69-DFB717A1DF66}" srcOrd="0" destOrd="0" presId="urn:microsoft.com/office/officeart/2005/8/layout/process1"/>
    <dgm:cxn modelId="{78B128C8-F045-4B35-8183-982561D6ECFF}" type="presOf" srcId="{BAED27A1-543B-4F65-97BB-983BB3CF82F2}" destId="{B64C599C-BFA4-4D86-BBE6-15A884D42422}" srcOrd="0" destOrd="0" presId="urn:microsoft.com/office/officeart/2005/8/layout/process1"/>
    <dgm:cxn modelId="{BF9A16C9-BB3D-4B43-8B88-DEBC44F67350}" type="presOf" srcId="{D78F6D57-6AD0-4E21-BA6F-8BBBE1704B01}" destId="{4ED1AF48-9963-48E9-91D6-25F052E92B2D}" srcOrd="0" destOrd="0" presId="urn:microsoft.com/office/officeart/2005/8/layout/process1"/>
    <dgm:cxn modelId="{A05BE4D0-A634-4989-B9EC-C983EDC17B7E}" type="presOf" srcId="{A49C6BBB-7136-483D-B2D2-32C6B440604D}" destId="{16F376A4-F184-4ABF-A8E1-968D959F6F90}" srcOrd="0" destOrd="0" presId="urn:microsoft.com/office/officeart/2005/8/layout/process1"/>
    <dgm:cxn modelId="{A23BE4FD-A052-4BB4-8AA2-ACEA56AB177F}" type="presOf" srcId="{3DD0F619-4CC2-4BDE-9523-AAE2A102E1E7}" destId="{4ED1AF48-9963-48E9-91D6-25F052E92B2D}" srcOrd="0" destOrd="1" presId="urn:microsoft.com/office/officeart/2005/8/layout/process1"/>
    <dgm:cxn modelId="{4FEFF365-F397-490B-A434-BDBC83715D23}" type="presParOf" srcId="{63B61979-DF38-4201-923E-8A4BD2030243}" destId="{E6B7ACC9-35BC-4CE1-990D-B3490C6219EF}" srcOrd="0" destOrd="0" presId="urn:microsoft.com/office/officeart/2005/8/layout/process1"/>
    <dgm:cxn modelId="{FE0E86DC-A64E-4784-B1E9-FBD9DC61DD52}" type="presParOf" srcId="{63B61979-DF38-4201-923E-8A4BD2030243}" destId="{B64C599C-BFA4-4D86-BBE6-15A884D42422}" srcOrd="1" destOrd="0" presId="urn:microsoft.com/office/officeart/2005/8/layout/process1"/>
    <dgm:cxn modelId="{47F61C1E-368E-4CDD-9F9A-82DBF16C504F}" type="presParOf" srcId="{B64C599C-BFA4-4D86-BBE6-15A884D42422}" destId="{E377B0BF-B4F1-4E0D-8DE8-988D5E6F56E1}" srcOrd="0" destOrd="0" presId="urn:microsoft.com/office/officeart/2005/8/layout/process1"/>
    <dgm:cxn modelId="{E4D8C33B-4CDB-40F6-8C1A-6B12CCAC0811}" type="presParOf" srcId="{63B61979-DF38-4201-923E-8A4BD2030243}" destId="{4ED1AF48-9963-48E9-91D6-25F052E92B2D}" srcOrd="2" destOrd="0" presId="urn:microsoft.com/office/officeart/2005/8/layout/process1"/>
    <dgm:cxn modelId="{8F09ECC5-8F32-4859-A90B-130F7B902BD8}" type="presParOf" srcId="{63B61979-DF38-4201-923E-8A4BD2030243}" destId="{4EBCA1E8-47E3-4B04-8A69-DFB717A1DF66}" srcOrd="3" destOrd="0" presId="urn:microsoft.com/office/officeart/2005/8/layout/process1"/>
    <dgm:cxn modelId="{80D38E5A-B21D-4242-8543-4600BB3DE404}" type="presParOf" srcId="{4EBCA1E8-47E3-4B04-8A69-DFB717A1DF66}" destId="{63FD5381-1A90-4790-AC1E-704073A07F0A}" srcOrd="0" destOrd="0" presId="urn:microsoft.com/office/officeart/2005/8/layout/process1"/>
    <dgm:cxn modelId="{6E1EC785-BDE5-4E53-BA56-02EBE09CA098}" type="presParOf" srcId="{63B61979-DF38-4201-923E-8A4BD2030243}" destId="{16F376A4-F184-4ABF-A8E1-968D959F6F90}" srcOrd="4" destOrd="0" presId="urn:microsoft.com/office/officeart/2005/8/layout/process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2DAC305-5A40-4144-9F09-1B0766103228}" type="doc">
      <dgm:prSet loTypeId="urn:microsoft.com/office/officeart/2005/8/layout/process1" loCatId="process" qsTypeId="urn:microsoft.com/office/officeart/2005/8/quickstyle/simple2#2" qsCatId="simple" csTypeId="urn:microsoft.com/office/officeart/2005/8/colors/accent1_2#3" csCatId="accent1" phldr="1"/>
      <dgm:spPr/>
      <dgm:t>
        <a:bodyPr/>
        <a:lstStyle/>
        <a:p>
          <a:endParaRPr lang="en-CA"/>
        </a:p>
      </dgm:t>
    </dgm:pt>
    <dgm:pt modelId="{CA25F816-C1F3-4325-9B13-31B9E087326A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b="1" dirty="0"/>
            <a:t>Forecast</a:t>
          </a:r>
        </a:p>
      </dgm:t>
    </dgm:pt>
    <dgm:pt modelId="{27A532DC-E759-40AB-8E8F-40AA3A2D19B4}" type="parTrans" cxnId="{02E58E1D-9930-4DAC-94D0-4B3B65B9B43B}">
      <dgm:prSet/>
      <dgm:spPr/>
      <dgm:t>
        <a:bodyPr/>
        <a:lstStyle/>
        <a:p>
          <a:endParaRPr lang="en-CA"/>
        </a:p>
      </dgm:t>
    </dgm:pt>
    <dgm:pt modelId="{BAED27A1-543B-4F65-97BB-983BB3CF82F2}" type="sibTrans" cxnId="{02E58E1D-9930-4DAC-94D0-4B3B65B9B43B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D78F6D57-6AD0-4E21-BA6F-8BBBE1704B01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b="1" dirty="0"/>
            <a:t>Purchasing Pattern</a:t>
          </a:r>
        </a:p>
      </dgm:t>
    </dgm:pt>
    <dgm:pt modelId="{62B44BF5-73F0-489A-B16E-6B85CA13A0B1}" type="parTrans" cxnId="{26CB3F75-E99C-450F-9F93-50F4877CE528}">
      <dgm:prSet/>
      <dgm:spPr/>
      <dgm:t>
        <a:bodyPr/>
        <a:lstStyle/>
        <a:p>
          <a:endParaRPr lang="en-CA"/>
        </a:p>
      </dgm:t>
    </dgm:pt>
    <dgm:pt modelId="{59DE7C7A-0CD0-4689-9130-0E9782E20826}" type="sibTrans" cxnId="{26CB3F75-E99C-450F-9F93-50F4877CE528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A49C6BBB-7136-483D-B2D2-32C6B440604D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b="1" dirty="0"/>
            <a:t>Review Promotions</a:t>
          </a:r>
        </a:p>
      </dgm:t>
    </dgm:pt>
    <dgm:pt modelId="{76660AE6-614C-48CF-BC94-16C9CCC2660E}" type="parTrans" cxnId="{04458C8F-F1EB-4EBB-BB7F-410023FEA46C}">
      <dgm:prSet/>
      <dgm:spPr/>
      <dgm:t>
        <a:bodyPr/>
        <a:lstStyle/>
        <a:p>
          <a:endParaRPr lang="en-CA"/>
        </a:p>
      </dgm:t>
    </dgm:pt>
    <dgm:pt modelId="{436CA195-CCA9-47E9-B442-8C030BA7F96F}" type="sibTrans" cxnId="{04458C8F-F1EB-4EBB-BB7F-410023FEA46C}">
      <dgm:prSet/>
      <dgm:spPr/>
      <dgm:t>
        <a:bodyPr/>
        <a:lstStyle/>
        <a:p>
          <a:endParaRPr lang="en-CA"/>
        </a:p>
      </dgm:t>
    </dgm:pt>
    <dgm:pt modelId="{4D06A6C6-2BF6-4BB7-A20C-38760A0150A2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 dirty="0"/>
            <a:t>Warm &amp; Dry Conditions</a:t>
          </a:r>
        </a:p>
      </dgm:t>
    </dgm:pt>
    <dgm:pt modelId="{B5F3B5B5-92BB-4757-A621-1B416FA73674}" type="parTrans" cxnId="{51062D6F-FFC4-4FB6-8D36-FA8FD92321F4}">
      <dgm:prSet/>
      <dgm:spPr/>
      <dgm:t>
        <a:bodyPr/>
        <a:lstStyle/>
        <a:p>
          <a:endParaRPr lang="en-CA"/>
        </a:p>
      </dgm:t>
    </dgm:pt>
    <dgm:pt modelId="{0C15329F-D9DB-4030-B72D-945DA17FE2FB}" type="sibTrans" cxnId="{51062D6F-FFC4-4FB6-8D36-FA8FD92321F4}">
      <dgm:prSet/>
      <dgm:spPr/>
      <dgm:t>
        <a:bodyPr/>
        <a:lstStyle/>
        <a:p>
          <a:endParaRPr lang="en-CA"/>
        </a:p>
      </dgm:t>
    </dgm:pt>
    <dgm:pt modelId="{3DD0F619-4CC2-4BDE-9523-AAE2A102E1E7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 b="0" dirty="0"/>
            <a:t>Higher-Priced Items</a:t>
          </a:r>
          <a:br>
            <a:rPr lang="en-CA" b="0" dirty="0"/>
          </a:br>
          <a:r>
            <a:rPr lang="en-CA" dirty="0"/>
            <a:t>Purchased Historically</a:t>
          </a:r>
        </a:p>
      </dgm:t>
    </dgm:pt>
    <dgm:pt modelId="{13B703E8-3B7D-4BCD-B872-671847ED25E5}" type="parTrans" cxnId="{B453864E-BAD3-429E-8260-BC193ECEE06D}">
      <dgm:prSet/>
      <dgm:spPr/>
      <dgm:t>
        <a:bodyPr/>
        <a:lstStyle/>
        <a:p>
          <a:endParaRPr lang="en-CA"/>
        </a:p>
      </dgm:t>
    </dgm:pt>
    <dgm:pt modelId="{6F0C1BC5-AC4D-4408-9651-994ED56DB5F0}" type="sibTrans" cxnId="{B453864E-BAD3-429E-8260-BC193ECEE06D}">
      <dgm:prSet/>
      <dgm:spPr/>
      <dgm:t>
        <a:bodyPr/>
        <a:lstStyle/>
        <a:p>
          <a:endParaRPr lang="en-CA"/>
        </a:p>
      </dgm:t>
    </dgm:pt>
    <dgm:pt modelId="{DE8CD99B-C1A1-44A4-A57A-93AE8A357993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l"/>
          <a:r>
            <a:rPr lang="en-CA" dirty="0"/>
            <a:t>Promote Higher-Priced Products</a:t>
          </a:r>
        </a:p>
      </dgm:t>
    </dgm:pt>
    <dgm:pt modelId="{36B9B2D1-8B5F-4C53-8BCD-4CBB76C13C17}" type="parTrans" cxnId="{B32F6916-E1BE-480D-B8B5-9BFB99F92C6D}">
      <dgm:prSet/>
      <dgm:spPr/>
      <dgm:t>
        <a:bodyPr/>
        <a:lstStyle/>
        <a:p>
          <a:endParaRPr lang="en-CA"/>
        </a:p>
      </dgm:t>
    </dgm:pt>
    <dgm:pt modelId="{B3209DA8-EECD-40B5-99F3-F6FC261E67E7}" type="sibTrans" cxnId="{B32F6916-E1BE-480D-B8B5-9BFB99F92C6D}">
      <dgm:prSet/>
      <dgm:spPr/>
      <dgm:t>
        <a:bodyPr/>
        <a:lstStyle/>
        <a:p>
          <a:endParaRPr lang="en-CA"/>
        </a:p>
      </dgm:t>
    </dgm:pt>
    <dgm:pt modelId="{63B61979-DF38-4201-923E-8A4BD2030243}" type="pres">
      <dgm:prSet presAssocID="{92DAC305-5A40-4144-9F09-1B0766103228}" presName="Name0" presStyleCnt="0">
        <dgm:presLayoutVars>
          <dgm:dir/>
          <dgm:resizeHandles val="exact"/>
        </dgm:presLayoutVars>
      </dgm:prSet>
      <dgm:spPr/>
    </dgm:pt>
    <dgm:pt modelId="{E6B7ACC9-35BC-4CE1-990D-B3490C6219EF}" type="pres">
      <dgm:prSet presAssocID="{CA25F816-C1F3-4325-9B13-31B9E087326A}" presName="node" presStyleLbl="node1" presStyleIdx="0" presStyleCnt="3">
        <dgm:presLayoutVars>
          <dgm:bulletEnabled val="1"/>
        </dgm:presLayoutVars>
      </dgm:prSet>
      <dgm:spPr/>
    </dgm:pt>
    <dgm:pt modelId="{B64C599C-BFA4-4D86-BBE6-15A884D42422}" type="pres">
      <dgm:prSet presAssocID="{BAED27A1-543B-4F65-97BB-983BB3CF82F2}" presName="sibTrans" presStyleLbl="sibTrans2D1" presStyleIdx="0" presStyleCnt="2"/>
      <dgm:spPr/>
    </dgm:pt>
    <dgm:pt modelId="{E377B0BF-B4F1-4E0D-8DE8-988D5E6F56E1}" type="pres">
      <dgm:prSet presAssocID="{BAED27A1-543B-4F65-97BB-983BB3CF82F2}" presName="connectorText" presStyleLbl="sibTrans2D1" presStyleIdx="0" presStyleCnt="2"/>
      <dgm:spPr/>
    </dgm:pt>
    <dgm:pt modelId="{4ED1AF48-9963-48E9-91D6-25F052E92B2D}" type="pres">
      <dgm:prSet presAssocID="{D78F6D57-6AD0-4E21-BA6F-8BBBE1704B01}" presName="node" presStyleLbl="node1" presStyleIdx="1" presStyleCnt="3">
        <dgm:presLayoutVars>
          <dgm:bulletEnabled val="1"/>
        </dgm:presLayoutVars>
      </dgm:prSet>
      <dgm:spPr/>
    </dgm:pt>
    <dgm:pt modelId="{4EBCA1E8-47E3-4B04-8A69-DFB717A1DF66}" type="pres">
      <dgm:prSet presAssocID="{59DE7C7A-0CD0-4689-9130-0E9782E20826}" presName="sibTrans" presStyleLbl="sibTrans2D1" presStyleIdx="1" presStyleCnt="2"/>
      <dgm:spPr/>
    </dgm:pt>
    <dgm:pt modelId="{63FD5381-1A90-4790-AC1E-704073A07F0A}" type="pres">
      <dgm:prSet presAssocID="{59DE7C7A-0CD0-4689-9130-0E9782E20826}" presName="connectorText" presStyleLbl="sibTrans2D1" presStyleIdx="1" presStyleCnt="2"/>
      <dgm:spPr/>
    </dgm:pt>
    <dgm:pt modelId="{16F376A4-F184-4ABF-A8E1-968D959F6F90}" type="pres">
      <dgm:prSet presAssocID="{A49C6BBB-7136-483D-B2D2-32C6B440604D}" presName="node" presStyleLbl="node1" presStyleIdx="2" presStyleCnt="3">
        <dgm:presLayoutVars>
          <dgm:bulletEnabled val="1"/>
        </dgm:presLayoutVars>
      </dgm:prSet>
      <dgm:spPr/>
    </dgm:pt>
  </dgm:ptLst>
  <dgm:cxnLst>
    <dgm:cxn modelId="{51A80602-8A1E-4BFB-AC29-A90A264F11FD}" type="presOf" srcId="{CA25F816-C1F3-4325-9B13-31B9E087326A}" destId="{E6B7ACC9-35BC-4CE1-990D-B3490C6219EF}" srcOrd="0" destOrd="0" presId="urn:microsoft.com/office/officeart/2005/8/layout/process1"/>
    <dgm:cxn modelId="{B32F6916-E1BE-480D-B8B5-9BFB99F92C6D}" srcId="{A49C6BBB-7136-483D-B2D2-32C6B440604D}" destId="{DE8CD99B-C1A1-44A4-A57A-93AE8A357993}" srcOrd="0" destOrd="0" parTransId="{36B9B2D1-8B5F-4C53-8BCD-4CBB76C13C17}" sibTransId="{B3209DA8-EECD-40B5-99F3-F6FC261E67E7}"/>
    <dgm:cxn modelId="{5F62301D-B016-4160-84D0-7543FE820CDB}" type="presOf" srcId="{4D06A6C6-2BF6-4BB7-A20C-38760A0150A2}" destId="{E6B7ACC9-35BC-4CE1-990D-B3490C6219EF}" srcOrd="0" destOrd="1" presId="urn:microsoft.com/office/officeart/2005/8/layout/process1"/>
    <dgm:cxn modelId="{02E58E1D-9930-4DAC-94D0-4B3B65B9B43B}" srcId="{92DAC305-5A40-4144-9F09-1B0766103228}" destId="{CA25F816-C1F3-4325-9B13-31B9E087326A}" srcOrd="0" destOrd="0" parTransId="{27A532DC-E759-40AB-8E8F-40AA3A2D19B4}" sibTransId="{BAED27A1-543B-4F65-97BB-983BB3CF82F2}"/>
    <dgm:cxn modelId="{497FF62A-9412-4F00-A209-3D0D8B477B45}" type="presOf" srcId="{BAED27A1-543B-4F65-97BB-983BB3CF82F2}" destId="{E377B0BF-B4F1-4E0D-8DE8-988D5E6F56E1}" srcOrd="1" destOrd="0" presId="urn:microsoft.com/office/officeart/2005/8/layout/process1"/>
    <dgm:cxn modelId="{B453864E-BAD3-429E-8260-BC193ECEE06D}" srcId="{D78F6D57-6AD0-4E21-BA6F-8BBBE1704B01}" destId="{3DD0F619-4CC2-4BDE-9523-AAE2A102E1E7}" srcOrd="0" destOrd="0" parTransId="{13B703E8-3B7D-4BCD-B872-671847ED25E5}" sibTransId="{6F0C1BC5-AC4D-4408-9651-994ED56DB5F0}"/>
    <dgm:cxn modelId="{51062D6F-FFC4-4FB6-8D36-FA8FD92321F4}" srcId="{CA25F816-C1F3-4325-9B13-31B9E087326A}" destId="{4D06A6C6-2BF6-4BB7-A20C-38760A0150A2}" srcOrd="0" destOrd="0" parTransId="{B5F3B5B5-92BB-4757-A621-1B416FA73674}" sibTransId="{0C15329F-D9DB-4030-B72D-945DA17FE2FB}"/>
    <dgm:cxn modelId="{26CB3F75-E99C-450F-9F93-50F4877CE528}" srcId="{92DAC305-5A40-4144-9F09-1B0766103228}" destId="{D78F6D57-6AD0-4E21-BA6F-8BBBE1704B01}" srcOrd="1" destOrd="0" parTransId="{62B44BF5-73F0-489A-B16E-6B85CA13A0B1}" sibTransId="{59DE7C7A-0CD0-4689-9130-0E9782E20826}"/>
    <dgm:cxn modelId="{C653B856-191E-4461-A65A-300D0A80A72D}" type="presOf" srcId="{DE8CD99B-C1A1-44A4-A57A-93AE8A357993}" destId="{16F376A4-F184-4ABF-A8E1-968D959F6F90}" srcOrd="0" destOrd="1" presId="urn:microsoft.com/office/officeart/2005/8/layout/process1"/>
    <dgm:cxn modelId="{4AE70784-F4D5-45F4-93DA-F0E759104289}" type="presOf" srcId="{92DAC305-5A40-4144-9F09-1B0766103228}" destId="{63B61979-DF38-4201-923E-8A4BD2030243}" srcOrd="0" destOrd="0" presId="urn:microsoft.com/office/officeart/2005/8/layout/process1"/>
    <dgm:cxn modelId="{A318C284-490B-4EB7-8E1C-9848ABE3CFEF}" type="presOf" srcId="{59DE7C7A-0CD0-4689-9130-0E9782E20826}" destId="{63FD5381-1A90-4790-AC1E-704073A07F0A}" srcOrd="1" destOrd="0" presId="urn:microsoft.com/office/officeart/2005/8/layout/process1"/>
    <dgm:cxn modelId="{04458C8F-F1EB-4EBB-BB7F-410023FEA46C}" srcId="{92DAC305-5A40-4144-9F09-1B0766103228}" destId="{A49C6BBB-7136-483D-B2D2-32C6B440604D}" srcOrd="2" destOrd="0" parTransId="{76660AE6-614C-48CF-BC94-16C9CCC2660E}" sibTransId="{436CA195-CCA9-47E9-B442-8C030BA7F96F}"/>
    <dgm:cxn modelId="{533FA4B8-521A-40DE-8A61-65503197D2AE}" type="presOf" srcId="{59DE7C7A-0CD0-4689-9130-0E9782E20826}" destId="{4EBCA1E8-47E3-4B04-8A69-DFB717A1DF66}" srcOrd="0" destOrd="0" presId="urn:microsoft.com/office/officeart/2005/8/layout/process1"/>
    <dgm:cxn modelId="{78B128C8-F045-4B35-8183-982561D6ECFF}" type="presOf" srcId="{BAED27A1-543B-4F65-97BB-983BB3CF82F2}" destId="{B64C599C-BFA4-4D86-BBE6-15A884D42422}" srcOrd="0" destOrd="0" presId="urn:microsoft.com/office/officeart/2005/8/layout/process1"/>
    <dgm:cxn modelId="{BF9A16C9-BB3D-4B43-8B88-DEBC44F67350}" type="presOf" srcId="{D78F6D57-6AD0-4E21-BA6F-8BBBE1704B01}" destId="{4ED1AF48-9963-48E9-91D6-25F052E92B2D}" srcOrd="0" destOrd="0" presId="urn:microsoft.com/office/officeart/2005/8/layout/process1"/>
    <dgm:cxn modelId="{A05BE4D0-A634-4989-B9EC-C983EDC17B7E}" type="presOf" srcId="{A49C6BBB-7136-483D-B2D2-32C6B440604D}" destId="{16F376A4-F184-4ABF-A8E1-968D959F6F90}" srcOrd="0" destOrd="0" presId="urn:microsoft.com/office/officeart/2005/8/layout/process1"/>
    <dgm:cxn modelId="{A23BE4FD-A052-4BB4-8AA2-ACEA56AB177F}" type="presOf" srcId="{3DD0F619-4CC2-4BDE-9523-AAE2A102E1E7}" destId="{4ED1AF48-9963-48E9-91D6-25F052E92B2D}" srcOrd="0" destOrd="1" presId="urn:microsoft.com/office/officeart/2005/8/layout/process1"/>
    <dgm:cxn modelId="{4FEFF365-F397-490B-A434-BDBC83715D23}" type="presParOf" srcId="{63B61979-DF38-4201-923E-8A4BD2030243}" destId="{E6B7ACC9-35BC-4CE1-990D-B3490C6219EF}" srcOrd="0" destOrd="0" presId="urn:microsoft.com/office/officeart/2005/8/layout/process1"/>
    <dgm:cxn modelId="{FE0E86DC-A64E-4784-B1E9-FBD9DC61DD52}" type="presParOf" srcId="{63B61979-DF38-4201-923E-8A4BD2030243}" destId="{B64C599C-BFA4-4D86-BBE6-15A884D42422}" srcOrd="1" destOrd="0" presId="urn:microsoft.com/office/officeart/2005/8/layout/process1"/>
    <dgm:cxn modelId="{47F61C1E-368E-4CDD-9F9A-82DBF16C504F}" type="presParOf" srcId="{B64C599C-BFA4-4D86-BBE6-15A884D42422}" destId="{E377B0BF-B4F1-4E0D-8DE8-988D5E6F56E1}" srcOrd="0" destOrd="0" presId="urn:microsoft.com/office/officeart/2005/8/layout/process1"/>
    <dgm:cxn modelId="{E4D8C33B-4CDB-40F6-8C1A-6B12CCAC0811}" type="presParOf" srcId="{63B61979-DF38-4201-923E-8A4BD2030243}" destId="{4ED1AF48-9963-48E9-91D6-25F052E92B2D}" srcOrd="2" destOrd="0" presId="urn:microsoft.com/office/officeart/2005/8/layout/process1"/>
    <dgm:cxn modelId="{8F09ECC5-8F32-4859-A90B-130F7B902BD8}" type="presParOf" srcId="{63B61979-DF38-4201-923E-8A4BD2030243}" destId="{4EBCA1E8-47E3-4B04-8A69-DFB717A1DF66}" srcOrd="3" destOrd="0" presId="urn:microsoft.com/office/officeart/2005/8/layout/process1"/>
    <dgm:cxn modelId="{80D38E5A-B21D-4242-8543-4600BB3DE404}" type="presParOf" srcId="{4EBCA1E8-47E3-4B04-8A69-DFB717A1DF66}" destId="{63FD5381-1A90-4790-AC1E-704073A07F0A}" srcOrd="0" destOrd="0" presId="urn:microsoft.com/office/officeart/2005/8/layout/process1"/>
    <dgm:cxn modelId="{6E1EC785-BDE5-4E53-BA56-02EBE09CA098}" type="presParOf" srcId="{63B61979-DF38-4201-923E-8A4BD2030243}" destId="{16F376A4-F184-4ABF-A8E1-968D959F6F90}" srcOrd="4" destOrd="0" presId="urn:microsoft.com/office/officeart/2005/8/layout/process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DAC305-5A40-4144-9F09-1B0766103228}" type="doc">
      <dgm:prSet loTypeId="urn:microsoft.com/office/officeart/2005/8/layout/process1" loCatId="process" qsTypeId="urn:microsoft.com/office/officeart/2005/8/quickstyle/simple2#2" qsCatId="simple" csTypeId="urn:microsoft.com/office/officeart/2005/8/colors/accent1_2#3" csCatId="accent1" phldr="1"/>
      <dgm:spPr/>
      <dgm:t>
        <a:bodyPr/>
        <a:lstStyle/>
        <a:p>
          <a:endParaRPr lang="en-CA"/>
        </a:p>
      </dgm:t>
    </dgm:pt>
    <dgm:pt modelId="{CA25F816-C1F3-4325-9B13-31B9E087326A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dirty="0"/>
            <a:t>Identify Strong</a:t>
          </a:r>
          <a:br>
            <a:rPr lang="en-CA" dirty="0"/>
          </a:br>
          <a:r>
            <a:rPr lang="en-CA" dirty="0"/>
            <a:t>Product Pairs</a:t>
          </a:r>
          <a:endParaRPr lang="en-CA" b="0" dirty="0"/>
        </a:p>
      </dgm:t>
    </dgm:pt>
    <dgm:pt modelId="{27A532DC-E759-40AB-8E8F-40AA3A2D19B4}" type="parTrans" cxnId="{02E58E1D-9930-4DAC-94D0-4B3B65B9B43B}">
      <dgm:prSet/>
      <dgm:spPr/>
      <dgm:t>
        <a:bodyPr/>
        <a:lstStyle/>
        <a:p>
          <a:endParaRPr lang="en-CA"/>
        </a:p>
      </dgm:t>
    </dgm:pt>
    <dgm:pt modelId="{BAED27A1-543B-4F65-97BB-983BB3CF82F2}" type="sibTrans" cxnId="{02E58E1D-9930-4DAC-94D0-4B3B65B9B43B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D78F6D57-6AD0-4E21-BA6F-8BBBE1704B01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dirty="0"/>
            <a:t>Review How Often</a:t>
          </a:r>
          <a:br>
            <a:rPr lang="en-CA" dirty="0"/>
          </a:br>
          <a:r>
            <a:rPr lang="en-CA" dirty="0"/>
            <a:t>They Are Purchased</a:t>
          </a:r>
          <a:br>
            <a:rPr lang="en-CA" dirty="0"/>
          </a:br>
          <a:r>
            <a:rPr lang="en-CA" dirty="0"/>
            <a:t>Together</a:t>
          </a:r>
          <a:endParaRPr lang="en-CA" b="0" dirty="0"/>
        </a:p>
      </dgm:t>
    </dgm:pt>
    <dgm:pt modelId="{62B44BF5-73F0-489A-B16E-6B85CA13A0B1}" type="parTrans" cxnId="{26CB3F75-E99C-450F-9F93-50F4877CE528}">
      <dgm:prSet/>
      <dgm:spPr/>
      <dgm:t>
        <a:bodyPr/>
        <a:lstStyle/>
        <a:p>
          <a:endParaRPr lang="en-CA"/>
        </a:p>
      </dgm:t>
    </dgm:pt>
    <dgm:pt modelId="{59DE7C7A-0CD0-4689-9130-0E9782E20826}" type="sibTrans" cxnId="{26CB3F75-E99C-450F-9F93-50F4877CE528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A49C6BBB-7136-483D-B2D2-32C6B440604D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dirty="0"/>
            <a:t>Bundle or</a:t>
          </a:r>
          <a:br>
            <a:rPr lang="en-CA" dirty="0"/>
          </a:br>
          <a:r>
            <a:rPr lang="en-CA" dirty="0"/>
            <a:t>Cross-Promote</a:t>
          </a:r>
          <a:br>
            <a:rPr lang="en-CA" dirty="0"/>
          </a:br>
          <a:r>
            <a:rPr lang="en-CA" dirty="0"/>
            <a:t>Related Products</a:t>
          </a:r>
          <a:endParaRPr lang="en-CA" b="0" dirty="0"/>
        </a:p>
      </dgm:t>
    </dgm:pt>
    <dgm:pt modelId="{76660AE6-614C-48CF-BC94-16C9CCC2660E}" type="parTrans" cxnId="{04458C8F-F1EB-4EBB-BB7F-410023FEA46C}">
      <dgm:prSet/>
      <dgm:spPr/>
      <dgm:t>
        <a:bodyPr/>
        <a:lstStyle/>
        <a:p>
          <a:endParaRPr lang="en-CA"/>
        </a:p>
      </dgm:t>
    </dgm:pt>
    <dgm:pt modelId="{436CA195-CCA9-47E9-B442-8C030BA7F96F}" type="sibTrans" cxnId="{04458C8F-F1EB-4EBB-BB7F-410023FEA46C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/>
        </a:p>
      </dgm:t>
    </dgm:pt>
    <dgm:pt modelId="{09412F7D-6064-4DD0-A164-CF4AA95027DE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dirty="0"/>
            <a:t>Place Related</a:t>
          </a:r>
          <a:br>
            <a:rPr lang="en-CA" dirty="0"/>
          </a:br>
          <a:r>
            <a:rPr lang="en-CA" dirty="0"/>
            <a:t>Products Together</a:t>
          </a:r>
          <a:endParaRPr lang="en-CA" b="0" dirty="0"/>
        </a:p>
      </dgm:t>
    </dgm:pt>
    <dgm:pt modelId="{BEE5CC2A-AC73-4ABC-98DF-85A766B8DB50}" type="parTrans" cxnId="{647F1375-E081-4E20-A749-38BC1925CFE9}">
      <dgm:prSet/>
      <dgm:spPr/>
      <dgm:t>
        <a:bodyPr/>
        <a:lstStyle/>
        <a:p>
          <a:endParaRPr lang="en-CA"/>
        </a:p>
      </dgm:t>
    </dgm:pt>
    <dgm:pt modelId="{4C67EC7D-424E-455D-A870-F421EC101742}" type="sibTrans" cxnId="{647F1375-E081-4E20-A749-38BC1925CFE9}">
      <dgm:prSet/>
      <dgm:spPr/>
      <dgm:t>
        <a:bodyPr/>
        <a:lstStyle/>
        <a:p>
          <a:endParaRPr lang="en-CA"/>
        </a:p>
      </dgm:t>
    </dgm:pt>
    <dgm:pt modelId="{63B61979-DF38-4201-923E-8A4BD2030243}" type="pres">
      <dgm:prSet presAssocID="{92DAC305-5A40-4144-9F09-1B0766103228}" presName="Name0" presStyleCnt="0">
        <dgm:presLayoutVars>
          <dgm:dir/>
          <dgm:resizeHandles val="exact"/>
        </dgm:presLayoutVars>
      </dgm:prSet>
      <dgm:spPr/>
    </dgm:pt>
    <dgm:pt modelId="{E6B7ACC9-35BC-4CE1-990D-B3490C6219EF}" type="pres">
      <dgm:prSet presAssocID="{CA25F816-C1F3-4325-9B13-31B9E087326A}" presName="node" presStyleLbl="node1" presStyleIdx="0" presStyleCnt="4">
        <dgm:presLayoutVars>
          <dgm:bulletEnabled val="1"/>
        </dgm:presLayoutVars>
      </dgm:prSet>
      <dgm:spPr/>
    </dgm:pt>
    <dgm:pt modelId="{B64C599C-BFA4-4D86-BBE6-15A884D42422}" type="pres">
      <dgm:prSet presAssocID="{BAED27A1-543B-4F65-97BB-983BB3CF82F2}" presName="sibTrans" presStyleLbl="sibTrans2D1" presStyleIdx="0" presStyleCnt="3"/>
      <dgm:spPr/>
    </dgm:pt>
    <dgm:pt modelId="{E377B0BF-B4F1-4E0D-8DE8-988D5E6F56E1}" type="pres">
      <dgm:prSet presAssocID="{BAED27A1-543B-4F65-97BB-983BB3CF82F2}" presName="connectorText" presStyleLbl="sibTrans2D1" presStyleIdx="0" presStyleCnt="3"/>
      <dgm:spPr/>
    </dgm:pt>
    <dgm:pt modelId="{4ED1AF48-9963-48E9-91D6-25F052E92B2D}" type="pres">
      <dgm:prSet presAssocID="{D78F6D57-6AD0-4E21-BA6F-8BBBE1704B01}" presName="node" presStyleLbl="node1" presStyleIdx="1" presStyleCnt="4">
        <dgm:presLayoutVars>
          <dgm:bulletEnabled val="1"/>
        </dgm:presLayoutVars>
      </dgm:prSet>
      <dgm:spPr/>
    </dgm:pt>
    <dgm:pt modelId="{4EBCA1E8-47E3-4B04-8A69-DFB717A1DF66}" type="pres">
      <dgm:prSet presAssocID="{59DE7C7A-0CD0-4689-9130-0E9782E20826}" presName="sibTrans" presStyleLbl="sibTrans2D1" presStyleIdx="1" presStyleCnt="3"/>
      <dgm:spPr/>
    </dgm:pt>
    <dgm:pt modelId="{63FD5381-1A90-4790-AC1E-704073A07F0A}" type="pres">
      <dgm:prSet presAssocID="{59DE7C7A-0CD0-4689-9130-0E9782E20826}" presName="connectorText" presStyleLbl="sibTrans2D1" presStyleIdx="1" presStyleCnt="3"/>
      <dgm:spPr/>
    </dgm:pt>
    <dgm:pt modelId="{16F376A4-F184-4ABF-A8E1-968D959F6F90}" type="pres">
      <dgm:prSet presAssocID="{A49C6BBB-7136-483D-B2D2-32C6B440604D}" presName="node" presStyleLbl="node1" presStyleIdx="2" presStyleCnt="4">
        <dgm:presLayoutVars>
          <dgm:bulletEnabled val="1"/>
        </dgm:presLayoutVars>
      </dgm:prSet>
      <dgm:spPr/>
    </dgm:pt>
    <dgm:pt modelId="{BEEFA4A1-8047-4900-92D5-BFCBD39675CF}" type="pres">
      <dgm:prSet presAssocID="{436CA195-CCA9-47E9-B442-8C030BA7F96F}" presName="sibTrans" presStyleLbl="sibTrans2D1" presStyleIdx="2" presStyleCnt="3"/>
      <dgm:spPr/>
    </dgm:pt>
    <dgm:pt modelId="{020E559E-CFF6-4B8F-9397-096D6DF5E48A}" type="pres">
      <dgm:prSet presAssocID="{436CA195-CCA9-47E9-B442-8C030BA7F96F}" presName="connectorText" presStyleLbl="sibTrans2D1" presStyleIdx="2" presStyleCnt="3"/>
      <dgm:spPr/>
    </dgm:pt>
    <dgm:pt modelId="{3283C745-6FF0-4F2D-9C0B-D150D906D7B4}" type="pres">
      <dgm:prSet presAssocID="{09412F7D-6064-4DD0-A164-CF4AA95027DE}" presName="node" presStyleLbl="node1" presStyleIdx="3" presStyleCnt="4">
        <dgm:presLayoutVars>
          <dgm:bulletEnabled val="1"/>
        </dgm:presLayoutVars>
      </dgm:prSet>
      <dgm:spPr/>
    </dgm:pt>
  </dgm:ptLst>
  <dgm:cxnLst>
    <dgm:cxn modelId="{51A80602-8A1E-4BFB-AC29-A90A264F11FD}" type="presOf" srcId="{CA25F816-C1F3-4325-9B13-31B9E087326A}" destId="{E6B7ACC9-35BC-4CE1-990D-B3490C6219EF}" srcOrd="0" destOrd="0" presId="urn:microsoft.com/office/officeart/2005/8/layout/process1"/>
    <dgm:cxn modelId="{02E58E1D-9930-4DAC-94D0-4B3B65B9B43B}" srcId="{92DAC305-5A40-4144-9F09-1B0766103228}" destId="{CA25F816-C1F3-4325-9B13-31B9E087326A}" srcOrd="0" destOrd="0" parTransId="{27A532DC-E759-40AB-8E8F-40AA3A2D19B4}" sibTransId="{BAED27A1-543B-4F65-97BB-983BB3CF82F2}"/>
    <dgm:cxn modelId="{5AC0EC22-98B1-41AE-ABCD-9ADCF4BE1399}" type="presOf" srcId="{436CA195-CCA9-47E9-B442-8C030BA7F96F}" destId="{BEEFA4A1-8047-4900-92D5-BFCBD39675CF}" srcOrd="0" destOrd="0" presId="urn:microsoft.com/office/officeart/2005/8/layout/process1"/>
    <dgm:cxn modelId="{497FF62A-9412-4F00-A209-3D0D8B477B45}" type="presOf" srcId="{BAED27A1-543B-4F65-97BB-983BB3CF82F2}" destId="{E377B0BF-B4F1-4E0D-8DE8-988D5E6F56E1}" srcOrd="1" destOrd="0" presId="urn:microsoft.com/office/officeart/2005/8/layout/process1"/>
    <dgm:cxn modelId="{647F1375-E081-4E20-A749-38BC1925CFE9}" srcId="{92DAC305-5A40-4144-9F09-1B0766103228}" destId="{09412F7D-6064-4DD0-A164-CF4AA95027DE}" srcOrd="3" destOrd="0" parTransId="{BEE5CC2A-AC73-4ABC-98DF-85A766B8DB50}" sibTransId="{4C67EC7D-424E-455D-A870-F421EC101742}"/>
    <dgm:cxn modelId="{26CB3F75-E99C-450F-9F93-50F4877CE528}" srcId="{92DAC305-5A40-4144-9F09-1B0766103228}" destId="{D78F6D57-6AD0-4E21-BA6F-8BBBE1704B01}" srcOrd="1" destOrd="0" parTransId="{62B44BF5-73F0-489A-B16E-6B85CA13A0B1}" sibTransId="{59DE7C7A-0CD0-4689-9130-0E9782E20826}"/>
    <dgm:cxn modelId="{4AE70784-F4D5-45F4-93DA-F0E759104289}" type="presOf" srcId="{92DAC305-5A40-4144-9F09-1B0766103228}" destId="{63B61979-DF38-4201-923E-8A4BD2030243}" srcOrd="0" destOrd="0" presId="urn:microsoft.com/office/officeart/2005/8/layout/process1"/>
    <dgm:cxn modelId="{A318C284-490B-4EB7-8E1C-9848ABE3CFEF}" type="presOf" srcId="{59DE7C7A-0CD0-4689-9130-0E9782E20826}" destId="{63FD5381-1A90-4790-AC1E-704073A07F0A}" srcOrd="1" destOrd="0" presId="urn:microsoft.com/office/officeart/2005/8/layout/process1"/>
    <dgm:cxn modelId="{04458C8F-F1EB-4EBB-BB7F-410023FEA46C}" srcId="{92DAC305-5A40-4144-9F09-1B0766103228}" destId="{A49C6BBB-7136-483D-B2D2-32C6B440604D}" srcOrd="2" destOrd="0" parTransId="{76660AE6-614C-48CF-BC94-16C9CCC2660E}" sibTransId="{436CA195-CCA9-47E9-B442-8C030BA7F96F}"/>
    <dgm:cxn modelId="{DEECB197-0846-41B3-B612-658BF2A4C341}" type="presOf" srcId="{09412F7D-6064-4DD0-A164-CF4AA95027DE}" destId="{3283C745-6FF0-4F2D-9C0B-D150D906D7B4}" srcOrd="0" destOrd="0" presId="urn:microsoft.com/office/officeart/2005/8/layout/process1"/>
    <dgm:cxn modelId="{08B6DCA6-1D16-4C05-BB7D-B235479E5B19}" type="presOf" srcId="{436CA195-CCA9-47E9-B442-8C030BA7F96F}" destId="{020E559E-CFF6-4B8F-9397-096D6DF5E48A}" srcOrd="1" destOrd="0" presId="urn:microsoft.com/office/officeart/2005/8/layout/process1"/>
    <dgm:cxn modelId="{533FA4B8-521A-40DE-8A61-65503197D2AE}" type="presOf" srcId="{59DE7C7A-0CD0-4689-9130-0E9782E20826}" destId="{4EBCA1E8-47E3-4B04-8A69-DFB717A1DF66}" srcOrd="0" destOrd="0" presId="urn:microsoft.com/office/officeart/2005/8/layout/process1"/>
    <dgm:cxn modelId="{78B128C8-F045-4B35-8183-982561D6ECFF}" type="presOf" srcId="{BAED27A1-543B-4F65-97BB-983BB3CF82F2}" destId="{B64C599C-BFA4-4D86-BBE6-15A884D42422}" srcOrd="0" destOrd="0" presId="urn:microsoft.com/office/officeart/2005/8/layout/process1"/>
    <dgm:cxn modelId="{BF9A16C9-BB3D-4B43-8B88-DEBC44F67350}" type="presOf" srcId="{D78F6D57-6AD0-4E21-BA6F-8BBBE1704B01}" destId="{4ED1AF48-9963-48E9-91D6-25F052E92B2D}" srcOrd="0" destOrd="0" presId="urn:microsoft.com/office/officeart/2005/8/layout/process1"/>
    <dgm:cxn modelId="{A05BE4D0-A634-4989-B9EC-C983EDC17B7E}" type="presOf" srcId="{A49C6BBB-7136-483D-B2D2-32C6B440604D}" destId="{16F376A4-F184-4ABF-A8E1-968D959F6F90}" srcOrd="0" destOrd="0" presId="urn:microsoft.com/office/officeart/2005/8/layout/process1"/>
    <dgm:cxn modelId="{4FEFF365-F397-490B-A434-BDBC83715D23}" type="presParOf" srcId="{63B61979-DF38-4201-923E-8A4BD2030243}" destId="{E6B7ACC9-35BC-4CE1-990D-B3490C6219EF}" srcOrd="0" destOrd="0" presId="urn:microsoft.com/office/officeart/2005/8/layout/process1"/>
    <dgm:cxn modelId="{FE0E86DC-A64E-4784-B1E9-FBD9DC61DD52}" type="presParOf" srcId="{63B61979-DF38-4201-923E-8A4BD2030243}" destId="{B64C599C-BFA4-4D86-BBE6-15A884D42422}" srcOrd="1" destOrd="0" presId="urn:microsoft.com/office/officeart/2005/8/layout/process1"/>
    <dgm:cxn modelId="{47F61C1E-368E-4CDD-9F9A-82DBF16C504F}" type="presParOf" srcId="{B64C599C-BFA4-4D86-BBE6-15A884D42422}" destId="{E377B0BF-B4F1-4E0D-8DE8-988D5E6F56E1}" srcOrd="0" destOrd="0" presId="urn:microsoft.com/office/officeart/2005/8/layout/process1"/>
    <dgm:cxn modelId="{E4D8C33B-4CDB-40F6-8C1A-6B12CCAC0811}" type="presParOf" srcId="{63B61979-DF38-4201-923E-8A4BD2030243}" destId="{4ED1AF48-9963-48E9-91D6-25F052E92B2D}" srcOrd="2" destOrd="0" presId="urn:microsoft.com/office/officeart/2005/8/layout/process1"/>
    <dgm:cxn modelId="{8F09ECC5-8F32-4859-A90B-130F7B902BD8}" type="presParOf" srcId="{63B61979-DF38-4201-923E-8A4BD2030243}" destId="{4EBCA1E8-47E3-4B04-8A69-DFB717A1DF66}" srcOrd="3" destOrd="0" presId="urn:microsoft.com/office/officeart/2005/8/layout/process1"/>
    <dgm:cxn modelId="{80D38E5A-B21D-4242-8543-4600BB3DE404}" type="presParOf" srcId="{4EBCA1E8-47E3-4B04-8A69-DFB717A1DF66}" destId="{63FD5381-1A90-4790-AC1E-704073A07F0A}" srcOrd="0" destOrd="0" presId="urn:microsoft.com/office/officeart/2005/8/layout/process1"/>
    <dgm:cxn modelId="{6E1EC785-BDE5-4E53-BA56-02EBE09CA098}" type="presParOf" srcId="{63B61979-DF38-4201-923E-8A4BD2030243}" destId="{16F376A4-F184-4ABF-A8E1-968D959F6F90}" srcOrd="4" destOrd="0" presId="urn:microsoft.com/office/officeart/2005/8/layout/process1"/>
    <dgm:cxn modelId="{DD75F027-0D19-42DC-B059-7BD0EAD4DFE7}" type="presParOf" srcId="{63B61979-DF38-4201-923E-8A4BD2030243}" destId="{BEEFA4A1-8047-4900-92D5-BFCBD39675CF}" srcOrd="5" destOrd="0" presId="urn:microsoft.com/office/officeart/2005/8/layout/process1"/>
    <dgm:cxn modelId="{EED316B8-8A4E-4798-8607-959627FCD1D8}" type="presParOf" srcId="{BEEFA4A1-8047-4900-92D5-BFCBD39675CF}" destId="{020E559E-CFF6-4B8F-9397-096D6DF5E48A}" srcOrd="0" destOrd="0" presId="urn:microsoft.com/office/officeart/2005/8/layout/process1"/>
    <dgm:cxn modelId="{66BD2A07-7264-43E0-8E51-8BCF10CB78A3}" type="presParOf" srcId="{63B61979-DF38-4201-923E-8A4BD2030243}" destId="{3283C745-6FF0-4F2D-9C0B-D150D906D7B4}" srcOrd="6" destOrd="0" presId="urn:microsoft.com/office/officeart/2005/8/layout/process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92DAC305-5A40-4144-9F09-1B0766103228}" type="doc">
      <dgm:prSet loTypeId="urn:microsoft.com/office/officeart/2005/8/layout/process1" loCatId="process" qsTypeId="urn:microsoft.com/office/officeart/2005/8/quickstyle/simple2#2" qsCatId="simple" csTypeId="urn:microsoft.com/office/officeart/2005/8/colors/accent1_2#3" csCatId="accent1" phldr="1"/>
      <dgm:spPr/>
      <dgm:t>
        <a:bodyPr/>
        <a:lstStyle/>
        <a:p>
          <a:endParaRPr lang="en-CA"/>
        </a:p>
      </dgm:t>
    </dgm:pt>
    <dgm:pt modelId="{CA25F816-C1F3-4325-9B13-31B9E087326A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b="0"/>
            <a:t>Weather Forecast</a:t>
          </a:r>
        </a:p>
      </dgm:t>
    </dgm:pt>
    <dgm:pt modelId="{27A532DC-E759-40AB-8E8F-40AA3A2D19B4}" type="parTrans" cxnId="{02E58E1D-9930-4DAC-94D0-4B3B65B9B43B}">
      <dgm:prSet/>
      <dgm:spPr/>
      <dgm:t>
        <a:bodyPr/>
        <a:lstStyle/>
        <a:p>
          <a:endParaRPr lang="en-CA"/>
        </a:p>
      </dgm:t>
    </dgm:pt>
    <dgm:pt modelId="{BAED27A1-543B-4F65-97BB-983BB3CF82F2}" type="sibTrans" cxnId="{02E58E1D-9930-4DAC-94D0-4B3B65B9B43B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D78F6D57-6AD0-4E21-BA6F-8BBBE1704B01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b="0"/>
            <a:t>Check Historical Product Patterns</a:t>
          </a:r>
        </a:p>
      </dgm:t>
    </dgm:pt>
    <dgm:pt modelId="{62B44BF5-73F0-489A-B16E-6B85CA13A0B1}" type="parTrans" cxnId="{26CB3F75-E99C-450F-9F93-50F4877CE528}">
      <dgm:prSet/>
      <dgm:spPr/>
      <dgm:t>
        <a:bodyPr/>
        <a:lstStyle/>
        <a:p>
          <a:endParaRPr lang="en-CA"/>
        </a:p>
      </dgm:t>
    </dgm:pt>
    <dgm:pt modelId="{59DE7C7A-0CD0-4689-9130-0E9782E20826}" type="sibTrans" cxnId="{26CB3F75-E99C-450F-9F93-50F4877CE528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>
            <a:solidFill>
              <a:schemeClr val="bg1"/>
            </a:solidFill>
          </a:endParaRPr>
        </a:p>
      </dgm:t>
    </dgm:pt>
    <dgm:pt modelId="{A49C6BBB-7136-483D-B2D2-32C6B440604D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b="0"/>
            <a:t>Identify Products That May See Demand Changes</a:t>
          </a:r>
        </a:p>
      </dgm:t>
    </dgm:pt>
    <dgm:pt modelId="{76660AE6-614C-48CF-BC94-16C9CCC2660E}" type="parTrans" cxnId="{04458C8F-F1EB-4EBB-BB7F-410023FEA46C}">
      <dgm:prSet/>
      <dgm:spPr/>
      <dgm:t>
        <a:bodyPr/>
        <a:lstStyle/>
        <a:p>
          <a:endParaRPr lang="en-CA"/>
        </a:p>
      </dgm:t>
    </dgm:pt>
    <dgm:pt modelId="{436CA195-CCA9-47E9-B442-8C030BA7F96F}" type="sibTrans" cxnId="{04458C8F-F1EB-4EBB-BB7F-410023FEA46C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/>
        </a:p>
      </dgm:t>
    </dgm:pt>
    <dgm:pt modelId="{09412F7D-6064-4DD0-A164-CF4AA95027DE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pPr algn="ctr"/>
          <a:r>
            <a:rPr lang="en-CA" b="0"/>
            <a:t>Adjust Promotions / Monitor Stock</a:t>
          </a:r>
        </a:p>
      </dgm:t>
    </dgm:pt>
    <dgm:pt modelId="{BEE5CC2A-AC73-4ABC-98DF-85A766B8DB50}" type="parTrans" cxnId="{647F1375-E081-4E20-A749-38BC1925CFE9}">
      <dgm:prSet/>
      <dgm:spPr/>
      <dgm:t>
        <a:bodyPr/>
        <a:lstStyle/>
        <a:p>
          <a:endParaRPr lang="en-CA"/>
        </a:p>
      </dgm:t>
    </dgm:pt>
    <dgm:pt modelId="{4C67EC7D-424E-455D-A870-F421EC101742}" type="sibTrans" cxnId="{647F1375-E081-4E20-A749-38BC1925CFE9}">
      <dgm:prSet/>
      <dgm:spPr/>
      <dgm:t>
        <a:bodyPr/>
        <a:lstStyle/>
        <a:p>
          <a:endParaRPr lang="en-CA"/>
        </a:p>
      </dgm:t>
    </dgm:pt>
    <dgm:pt modelId="{63B61979-DF38-4201-923E-8A4BD2030243}" type="pres">
      <dgm:prSet presAssocID="{92DAC305-5A40-4144-9F09-1B0766103228}" presName="Name0" presStyleCnt="0">
        <dgm:presLayoutVars>
          <dgm:dir/>
          <dgm:resizeHandles val="exact"/>
        </dgm:presLayoutVars>
      </dgm:prSet>
      <dgm:spPr/>
    </dgm:pt>
    <dgm:pt modelId="{E6B7ACC9-35BC-4CE1-990D-B3490C6219EF}" type="pres">
      <dgm:prSet presAssocID="{CA25F816-C1F3-4325-9B13-31B9E087326A}" presName="node" presStyleLbl="node1" presStyleIdx="0" presStyleCnt="4">
        <dgm:presLayoutVars>
          <dgm:bulletEnabled val="1"/>
        </dgm:presLayoutVars>
      </dgm:prSet>
      <dgm:spPr/>
    </dgm:pt>
    <dgm:pt modelId="{B64C599C-BFA4-4D86-BBE6-15A884D42422}" type="pres">
      <dgm:prSet presAssocID="{BAED27A1-543B-4F65-97BB-983BB3CF82F2}" presName="sibTrans" presStyleLbl="sibTrans2D1" presStyleIdx="0" presStyleCnt="3"/>
      <dgm:spPr/>
    </dgm:pt>
    <dgm:pt modelId="{E377B0BF-B4F1-4E0D-8DE8-988D5E6F56E1}" type="pres">
      <dgm:prSet presAssocID="{BAED27A1-543B-4F65-97BB-983BB3CF82F2}" presName="connectorText" presStyleLbl="sibTrans2D1" presStyleIdx="0" presStyleCnt="3"/>
      <dgm:spPr/>
    </dgm:pt>
    <dgm:pt modelId="{4ED1AF48-9963-48E9-91D6-25F052E92B2D}" type="pres">
      <dgm:prSet presAssocID="{D78F6D57-6AD0-4E21-BA6F-8BBBE1704B01}" presName="node" presStyleLbl="node1" presStyleIdx="1" presStyleCnt="4">
        <dgm:presLayoutVars>
          <dgm:bulletEnabled val="1"/>
        </dgm:presLayoutVars>
      </dgm:prSet>
      <dgm:spPr/>
    </dgm:pt>
    <dgm:pt modelId="{4EBCA1E8-47E3-4B04-8A69-DFB717A1DF66}" type="pres">
      <dgm:prSet presAssocID="{59DE7C7A-0CD0-4689-9130-0E9782E20826}" presName="sibTrans" presStyleLbl="sibTrans2D1" presStyleIdx="1" presStyleCnt="3"/>
      <dgm:spPr/>
    </dgm:pt>
    <dgm:pt modelId="{63FD5381-1A90-4790-AC1E-704073A07F0A}" type="pres">
      <dgm:prSet presAssocID="{59DE7C7A-0CD0-4689-9130-0E9782E20826}" presName="connectorText" presStyleLbl="sibTrans2D1" presStyleIdx="1" presStyleCnt="3"/>
      <dgm:spPr/>
    </dgm:pt>
    <dgm:pt modelId="{16F376A4-F184-4ABF-A8E1-968D959F6F90}" type="pres">
      <dgm:prSet presAssocID="{A49C6BBB-7136-483D-B2D2-32C6B440604D}" presName="node" presStyleLbl="node1" presStyleIdx="2" presStyleCnt="4">
        <dgm:presLayoutVars>
          <dgm:bulletEnabled val="1"/>
        </dgm:presLayoutVars>
      </dgm:prSet>
      <dgm:spPr/>
    </dgm:pt>
    <dgm:pt modelId="{BEEFA4A1-8047-4900-92D5-BFCBD39675CF}" type="pres">
      <dgm:prSet presAssocID="{436CA195-CCA9-47E9-B442-8C030BA7F96F}" presName="sibTrans" presStyleLbl="sibTrans2D1" presStyleIdx="2" presStyleCnt="3"/>
      <dgm:spPr/>
    </dgm:pt>
    <dgm:pt modelId="{020E559E-CFF6-4B8F-9397-096D6DF5E48A}" type="pres">
      <dgm:prSet presAssocID="{436CA195-CCA9-47E9-B442-8C030BA7F96F}" presName="connectorText" presStyleLbl="sibTrans2D1" presStyleIdx="2" presStyleCnt="3"/>
      <dgm:spPr/>
    </dgm:pt>
    <dgm:pt modelId="{3283C745-6FF0-4F2D-9C0B-D150D906D7B4}" type="pres">
      <dgm:prSet presAssocID="{09412F7D-6064-4DD0-A164-CF4AA95027DE}" presName="node" presStyleLbl="node1" presStyleIdx="3" presStyleCnt="4">
        <dgm:presLayoutVars>
          <dgm:bulletEnabled val="1"/>
        </dgm:presLayoutVars>
      </dgm:prSet>
      <dgm:spPr/>
    </dgm:pt>
  </dgm:ptLst>
  <dgm:cxnLst>
    <dgm:cxn modelId="{51A80602-8A1E-4BFB-AC29-A90A264F11FD}" type="presOf" srcId="{CA25F816-C1F3-4325-9B13-31B9E087326A}" destId="{E6B7ACC9-35BC-4CE1-990D-B3490C6219EF}" srcOrd="0" destOrd="0" presId="urn:microsoft.com/office/officeart/2005/8/layout/process1"/>
    <dgm:cxn modelId="{02E58E1D-9930-4DAC-94D0-4B3B65B9B43B}" srcId="{92DAC305-5A40-4144-9F09-1B0766103228}" destId="{CA25F816-C1F3-4325-9B13-31B9E087326A}" srcOrd="0" destOrd="0" parTransId="{27A532DC-E759-40AB-8E8F-40AA3A2D19B4}" sibTransId="{BAED27A1-543B-4F65-97BB-983BB3CF82F2}"/>
    <dgm:cxn modelId="{5AC0EC22-98B1-41AE-ABCD-9ADCF4BE1399}" type="presOf" srcId="{436CA195-CCA9-47E9-B442-8C030BA7F96F}" destId="{BEEFA4A1-8047-4900-92D5-BFCBD39675CF}" srcOrd="0" destOrd="0" presId="urn:microsoft.com/office/officeart/2005/8/layout/process1"/>
    <dgm:cxn modelId="{497FF62A-9412-4F00-A209-3D0D8B477B45}" type="presOf" srcId="{BAED27A1-543B-4F65-97BB-983BB3CF82F2}" destId="{E377B0BF-B4F1-4E0D-8DE8-988D5E6F56E1}" srcOrd="1" destOrd="0" presId="urn:microsoft.com/office/officeart/2005/8/layout/process1"/>
    <dgm:cxn modelId="{647F1375-E081-4E20-A749-38BC1925CFE9}" srcId="{92DAC305-5A40-4144-9F09-1B0766103228}" destId="{09412F7D-6064-4DD0-A164-CF4AA95027DE}" srcOrd="3" destOrd="0" parTransId="{BEE5CC2A-AC73-4ABC-98DF-85A766B8DB50}" sibTransId="{4C67EC7D-424E-455D-A870-F421EC101742}"/>
    <dgm:cxn modelId="{26CB3F75-E99C-450F-9F93-50F4877CE528}" srcId="{92DAC305-5A40-4144-9F09-1B0766103228}" destId="{D78F6D57-6AD0-4E21-BA6F-8BBBE1704B01}" srcOrd="1" destOrd="0" parTransId="{62B44BF5-73F0-489A-B16E-6B85CA13A0B1}" sibTransId="{59DE7C7A-0CD0-4689-9130-0E9782E20826}"/>
    <dgm:cxn modelId="{4AE70784-F4D5-45F4-93DA-F0E759104289}" type="presOf" srcId="{92DAC305-5A40-4144-9F09-1B0766103228}" destId="{63B61979-DF38-4201-923E-8A4BD2030243}" srcOrd="0" destOrd="0" presId="urn:microsoft.com/office/officeart/2005/8/layout/process1"/>
    <dgm:cxn modelId="{A318C284-490B-4EB7-8E1C-9848ABE3CFEF}" type="presOf" srcId="{59DE7C7A-0CD0-4689-9130-0E9782E20826}" destId="{63FD5381-1A90-4790-AC1E-704073A07F0A}" srcOrd="1" destOrd="0" presId="urn:microsoft.com/office/officeart/2005/8/layout/process1"/>
    <dgm:cxn modelId="{04458C8F-F1EB-4EBB-BB7F-410023FEA46C}" srcId="{92DAC305-5A40-4144-9F09-1B0766103228}" destId="{A49C6BBB-7136-483D-B2D2-32C6B440604D}" srcOrd="2" destOrd="0" parTransId="{76660AE6-614C-48CF-BC94-16C9CCC2660E}" sibTransId="{436CA195-CCA9-47E9-B442-8C030BA7F96F}"/>
    <dgm:cxn modelId="{DEECB197-0846-41B3-B612-658BF2A4C341}" type="presOf" srcId="{09412F7D-6064-4DD0-A164-CF4AA95027DE}" destId="{3283C745-6FF0-4F2D-9C0B-D150D906D7B4}" srcOrd="0" destOrd="0" presId="urn:microsoft.com/office/officeart/2005/8/layout/process1"/>
    <dgm:cxn modelId="{08B6DCA6-1D16-4C05-BB7D-B235479E5B19}" type="presOf" srcId="{436CA195-CCA9-47E9-B442-8C030BA7F96F}" destId="{020E559E-CFF6-4B8F-9397-096D6DF5E48A}" srcOrd="1" destOrd="0" presId="urn:microsoft.com/office/officeart/2005/8/layout/process1"/>
    <dgm:cxn modelId="{533FA4B8-521A-40DE-8A61-65503197D2AE}" type="presOf" srcId="{59DE7C7A-0CD0-4689-9130-0E9782E20826}" destId="{4EBCA1E8-47E3-4B04-8A69-DFB717A1DF66}" srcOrd="0" destOrd="0" presId="urn:microsoft.com/office/officeart/2005/8/layout/process1"/>
    <dgm:cxn modelId="{78B128C8-F045-4B35-8183-982561D6ECFF}" type="presOf" srcId="{BAED27A1-543B-4F65-97BB-983BB3CF82F2}" destId="{B64C599C-BFA4-4D86-BBE6-15A884D42422}" srcOrd="0" destOrd="0" presId="urn:microsoft.com/office/officeart/2005/8/layout/process1"/>
    <dgm:cxn modelId="{BF9A16C9-BB3D-4B43-8B88-DEBC44F67350}" type="presOf" srcId="{D78F6D57-6AD0-4E21-BA6F-8BBBE1704B01}" destId="{4ED1AF48-9963-48E9-91D6-25F052E92B2D}" srcOrd="0" destOrd="0" presId="urn:microsoft.com/office/officeart/2005/8/layout/process1"/>
    <dgm:cxn modelId="{A05BE4D0-A634-4989-B9EC-C983EDC17B7E}" type="presOf" srcId="{A49C6BBB-7136-483D-B2D2-32C6B440604D}" destId="{16F376A4-F184-4ABF-A8E1-968D959F6F90}" srcOrd="0" destOrd="0" presId="urn:microsoft.com/office/officeart/2005/8/layout/process1"/>
    <dgm:cxn modelId="{4FEFF365-F397-490B-A434-BDBC83715D23}" type="presParOf" srcId="{63B61979-DF38-4201-923E-8A4BD2030243}" destId="{E6B7ACC9-35BC-4CE1-990D-B3490C6219EF}" srcOrd="0" destOrd="0" presId="urn:microsoft.com/office/officeart/2005/8/layout/process1"/>
    <dgm:cxn modelId="{FE0E86DC-A64E-4784-B1E9-FBD9DC61DD52}" type="presParOf" srcId="{63B61979-DF38-4201-923E-8A4BD2030243}" destId="{B64C599C-BFA4-4D86-BBE6-15A884D42422}" srcOrd="1" destOrd="0" presId="urn:microsoft.com/office/officeart/2005/8/layout/process1"/>
    <dgm:cxn modelId="{47F61C1E-368E-4CDD-9F9A-82DBF16C504F}" type="presParOf" srcId="{B64C599C-BFA4-4D86-BBE6-15A884D42422}" destId="{E377B0BF-B4F1-4E0D-8DE8-988D5E6F56E1}" srcOrd="0" destOrd="0" presId="urn:microsoft.com/office/officeart/2005/8/layout/process1"/>
    <dgm:cxn modelId="{E4D8C33B-4CDB-40F6-8C1A-6B12CCAC0811}" type="presParOf" srcId="{63B61979-DF38-4201-923E-8A4BD2030243}" destId="{4ED1AF48-9963-48E9-91D6-25F052E92B2D}" srcOrd="2" destOrd="0" presId="urn:microsoft.com/office/officeart/2005/8/layout/process1"/>
    <dgm:cxn modelId="{8F09ECC5-8F32-4859-A90B-130F7B902BD8}" type="presParOf" srcId="{63B61979-DF38-4201-923E-8A4BD2030243}" destId="{4EBCA1E8-47E3-4B04-8A69-DFB717A1DF66}" srcOrd="3" destOrd="0" presId="urn:microsoft.com/office/officeart/2005/8/layout/process1"/>
    <dgm:cxn modelId="{80D38E5A-B21D-4242-8543-4600BB3DE404}" type="presParOf" srcId="{4EBCA1E8-47E3-4B04-8A69-DFB717A1DF66}" destId="{63FD5381-1A90-4790-AC1E-704073A07F0A}" srcOrd="0" destOrd="0" presId="urn:microsoft.com/office/officeart/2005/8/layout/process1"/>
    <dgm:cxn modelId="{6E1EC785-BDE5-4E53-BA56-02EBE09CA098}" type="presParOf" srcId="{63B61979-DF38-4201-923E-8A4BD2030243}" destId="{16F376A4-F184-4ABF-A8E1-968D959F6F90}" srcOrd="4" destOrd="0" presId="urn:microsoft.com/office/officeart/2005/8/layout/process1"/>
    <dgm:cxn modelId="{DD75F027-0D19-42DC-B059-7BD0EAD4DFE7}" type="presParOf" srcId="{63B61979-DF38-4201-923E-8A4BD2030243}" destId="{BEEFA4A1-8047-4900-92D5-BFCBD39675CF}" srcOrd="5" destOrd="0" presId="urn:microsoft.com/office/officeart/2005/8/layout/process1"/>
    <dgm:cxn modelId="{EED316B8-8A4E-4798-8607-959627FCD1D8}" type="presParOf" srcId="{BEEFA4A1-8047-4900-92D5-BFCBD39675CF}" destId="{020E559E-CFF6-4B8F-9397-096D6DF5E48A}" srcOrd="0" destOrd="0" presId="urn:microsoft.com/office/officeart/2005/8/layout/process1"/>
    <dgm:cxn modelId="{66BD2A07-7264-43E0-8E51-8BCF10CB78A3}" type="presParOf" srcId="{63B61979-DF38-4201-923E-8A4BD2030243}" destId="{3283C745-6FF0-4F2D-9C0B-D150D906D7B4}" srcOrd="6" destOrd="0" presId="urn:microsoft.com/office/officeart/2005/8/layout/process1"/>
  </dgm:cxnLst>
  <dgm:bg>
    <a:noFill/>
  </dgm:bg>
  <dgm:whole>
    <a:ln>
      <a:noFill/>
    </a:ln>
  </dgm:whole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CB8CB57-8E71-48C8-820F-F40FA9A0DD57}" type="doc">
      <dgm:prSet loTypeId="urn:microsoft.com/office/officeart/2005/8/layout/radial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837448DE-7AEA-4E25-AC5D-362258F6507A}">
      <dgm:prSet phldrT="[Text]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r>
            <a:rPr lang="en-CA"/>
            <a:t>Better Sales Decisions</a:t>
          </a:r>
        </a:p>
      </dgm:t>
    </dgm:pt>
    <dgm:pt modelId="{A431F60D-FF86-46E8-BC27-E9F43E60F110}" type="parTrans" cxnId="{4109A881-0CDE-4D37-B33D-50905E3828E7}">
      <dgm:prSet/>
      <dgm:spPr/>
      <dgm:t>
        <a:bodyPr/>
        <a:lstStyle/>
        <a:p>
          <a:endParaRPr lang="en-CA"/>
        </a:p>
      </dgm:t>
    </dgm:pt>
    <dgm:pt modelId="{47283A33-1D65-4F0E-9C88-7E3D68B0E3EF}" type="sibTrans" cxnId="{4109A881-0CDE-4D37-B33D-50905E3828E7}">
      <dgm:prSet/>
      <dgm:spPr/>
      <dgm:t>
        <a:bodyPr/>
        <a:lstStyle/>
        <a:p>
          <a:endParaRPr lang="en-CA"/>
        </a:p>
      </dgm:t>
    </dgm:pt>
    <dgm:pt modelId="{0080BEBD-045C-4DE2-B22E-1905CEF842C7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r>
            <a:rPr lang="en-CA"/>
            <a:t>Weather &amp; Timing</a:t>
          </a:r>
        </a:p>
      </dgm:t>
    </dgm:pt>
    <dgm:pt modelId="{DBF595D7-37F4-435A-B245-A754875C94F1}" type="parTrans" cxnId="{BF1F5952-6679-4325-B040-9291C5EB86E1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/>
        </a:p>
      </dgm:t>
    </dgm:pt>
    <dgm:pt modelId="{91D93B00-E027-4A8E-BE7D-96A8639ED89B}" type="sibTrans" cxnId="{BF1F5952-6679-4325-B040-9291C5EB86E1}">
      <dgm:prSet/>
      <dgm:spPr/>
      <dgm:t>
        <a:bodyPr/>
        <a:lstStyle/>
        <a:p>
          <a:endParaRPr lang="en-CA"/>
        </a:p>
      </dgm:t>
    </dgm:pt>
    <dgm:pt modelId="{20547630-BF78-4146-B061-FB27FCE35F45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r>
            <a:rPr lang="en-CA"/>
            <a:t>Products</a:t>
          </a:r>
        </a:p>
      </dgm:t>
    </dgm:pt>
    <dgm:pt modelId="{D25B2ED3-2E42-4E02-9B13-F53661B96D26}" type="parTrans" cxnId="{66B7A5E1-3F31-4931-839E-B64F8322F98D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/>
        </a:p>
      </dgm:t>
    </dgm:pt>
    <dgm:pt modelId="{A9D11A47-768B-4739-BA6B-945319DFF8BA}" type="sibTrans" cxnId="{66B7A5E1-3F31-4931-839E-B64F8322F98D}">
      <dgm:prSet/>
      <dgm:spPr/>
      <dgm:t>
        <a:bodyPr/>
        <a:lstStyle/>
        <a:p>
          <a:endParaRPr lang="en-CA"/>
        </a:p>
      </dgm:t>
    </dgm:pt>
    <dgm:pt modelId="{CF9489C2-B1D4-4230-AE87-A4F464CE1221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r>
            <a:rPr lang="en-CA"/>
            <a:t>Prices</a:t>
          </a:r>
        </a:p>
      </dgm:t>
    </dgm:pt>
    <dgm:pt modelId="{7BD70465-08F6-4FB8-B3B1-A945AD66D3C9}" type="parTrans" cxnId="{F96B59BB-C2C1-42EF-910A-5545E4E9BE5F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/>
        </a:p>
      </dgm:t>
    </dgm:pt>
    <dgm:pt modelId="{B6ED81FF-D917-4B44-B685-CBFBCC82594A}" type="sibTrans" cxnId="{F96B59BB-C2C1-42EF-910A-5545E4E9BE5F}">
      <dgm:prSet/>
      <dgm:spPr/>
      <dgm:t>
        <a:bodyPr/>
        <a:lstStyle/>
        <a:p>
          <a:endParaRPr lang="en-CA"/>
        </a:p>
      </dgm:t>
    </dgm:pt>
    <dgm:pt modelId="{0EEEE918-BC16-41E1-86C6-C08EEC594B8D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r>
            <a:rPr lang="en-CA"/>
            <a:t>Promotions</a:t>
          </a:r>
        </a:p>
      </dgm:t>
    </dgm:pt>
    <dgm:pt modelId="{E19CCF9D-5FFB-4D7D-8B68-173BE61D54A6}" type="parTrans" cxnId="{B05344F3-CA17-43F7-90B0-AC3EF8B7B610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/>
        </a:p>
      </dgm:t>
    </dgm:pt>
    <dgm:pt modelId="{0E5BA5EF-F9CA-40F9-AB7A-17A44A9498FD}" type="sibTrans" cxnId="{B05344F3-CA17-43F7-90B0-AC3EF8B7B610}">
      <dgm:prSet/>
      <dgm:spPr/>
      <dgm:t>
        <a:bodyPr/>
        <a:lstStyle/>
        <a:p>
          <a:endParaRPr lang="en-CA"/>
        </a:p>
      </dgm:t>
    </dgm:pt>
    <dgm:pt modelId="{39E91CCB-CDDF-4A08-AA2D-9521D3A86987}">
      <dgm:prSet phldrT="[Text]" phldr="0"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r>
            <a:rPr lang="en-CA"/>
            <a:t>Seasons &amp; Holidays</a:t>
          </a:r>
        </a:p>
      </dgm:t>
    </dgm:pt>
    <dgm:pt modelId="{924BECE7-9075-4D94-BB51-6837323A844A}" type="parTrans" cxnId="{59710402-77EB-4A97-A6B3-EEC34FB2C60D}">
      <dgm:prSet/>
      <dgm:spPr>
        <a:solidFill>
          <a:srgbClr val="183E5E"/>
        </a:solidFill>
        <a:ln>
          <a:solidFill>
            <a:srgbClr val="183E5E"/>
          </a:solidFill>
        </a:ln>
      </dgm:spPr>
      <dgm:t>
        <a:bodyPr/>
        <a:lstStyle/>
        <a:p>
          <a:endParaRPr lang="en-CA"/>
        </a:p>
      </dgm:t>
    </dgm:pt>
    <dgm:pt modelId="{9965F375-8B10-4375-8228-92FB14CEB7DA}" type="sibTrans" cxnId="{59710402-77EB-4A97-A6B3-EEC34FB2C60D}">
      <dgm:prSet/>
      <dgm:spPr/>
      <dgm:t>
        <a:bodyPr/>
        <a:lstStyle/>
        <a:p>
          <a:endParaRPr lang="en-CA"/>
        </a:p>
      </dgm:t>
    </dgm:pt>
    <dgm:pt modelId="{DBBF50C5-595F-46A6-8B4F-1D4AF06A092F}" type="pres">
      <dgm:prSet presAssocID="{FCB8CB57-8E71-48C8-820F-F40FA9A0DD57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C7498D97-82D7-41B1-BC40-79B50B09E608}" type="pres">
      <dgm:prSet presAssocID="{837448DE-7AEA-4E25-AC5D-362258F6507A}" presName="centerShape" presStyleLbl="node0" presStyleIdx="0" presStyleCnt="1"/>
      <dgm:spPr/>
    </dgm:pt>
    <dgm:pt modelId="{683DF750-75AB-43AC-BCC4-CC058CC33E2D}" type="pres">
      <dgm:prSet presAssocID="{DBF595D7-37F4-435A-B245-A754875C94F1}" presName="parTrans" presStyleLbl="sibTrans2D1" presStyleIdx="0" presStyleCnt="5" custAng="10800000"/>
      <dgm:spPr/>
    </dgm:pt>
    <dgm:pt modelId="{BA1A499A-2C8E-402D-84E8-2E21CE30D002}" type="pres">
      <dgm:prSet presAssocID="{DBF595D7-37F4-435A-B245-A754875C94F1}" presName="connectorText" presStyleLbl="sibTrans2D1" presStyleIdx="0" presStyleCnt="5"/>
      <dgm:spPr/>
    </dgm:pt>
    <dgm:pt modelId="{A705F405-0102-48E3-8169-4C4440B1B0E2}" type="pres">
      <dgm:prSet presAssocID="{0080BEBD-045C-4DE2-B22E-1905CEF842C7}" presName="node" presStyleLbl="node1" presStyleIdx="0" presStyleCnt="5">
        <dgm:presLayoutVars>
          <dgm:bulletEnabled val="1"/>
        </dgm:presLayoutVars>
      </dgm:prSet>
      <dgm:spPr/>
    </dgm:pt>
    <dgm:pt modelId="{78CA0409-1617-40D8-9600-B8F8A15FDDA1}" type="pres">
      <dgm:prSet presAssocID="{D25B2ED3-2E42-4E02-9B13-F53661B96D26}" presName="parTrans" presStyleLbl="sibTrans2D1" presStyleIdx="1" presStyleCnt="5" custAng="10485120"/>
      <dgm:spPr/>
    </dgm:pt>
    <dgm:pt modelId="{B524BF70-B43D-49F1-8028-10C97C9983F8}" type="pres">
      <dgm:prSet presAssocID="{D25B2ED3-2E42-4E02-9B13-F53661B96D26}" presName="connectorText" presStyleLbl="sibTrans2D1" presStyleIdx="1" presStyleCnt="5"/>
      <dgm:spPr/>
    </dgm:pt>
    <dgm:pt modelId="{1680FE2E-3316-481E-A5F7-6E6A4F445A07}" type="pres">
      <dgm:prSet presAssocID="{20547630-BF78-4146-B061-FB27FCE35F45}" presName="node" presStyleLbl="node1" presStyleIdx="1" presStyleCnt="5">
        <dgm:presLayoutVars>
          <dgm:bulletEnabled val="1"/>
        </dgm:presLayoutVars>
      </dgm:prSet>
      <dgm:spPr/>
    </dgm:pt>
    <dgm:pt modelId="{EAC19A41-1A9F-459C-8C54-6BD53EB5E24C}" type="pres">
      <dgm:prSet presAssocID="{7BD70465-08F6-4FB8-B3B1-A945AD66D3C9}" presName="parTrans" presStyleLbl="sibTrans2D1" presStyleIdx="2" presStyleCnt="5" custAng="10705846"/>
      <dgm:spPr/>
    </dgm:pt>
    <dgm:pt modelId="{CE714882-CBDE-4DE9-8273-C8828E7591B0}" type="pres">
      <dgm:prSet presAssocID="{7BD70465-08F6-4FB8-B3B1-A945AD66D3C9}" presName="connectorText" presStyleLbl="sibTrans2D1" presStyleIdx="2" presStyleCnt="5"/>
      <dgm:spPr/>
    </dgm:pt>
    <dgm:pt modelId="{428BF12C-6F4F-4750-A1C6-8BEBBA5B66B2}" type="pres">
      <dgm:prSet presAssocID="{CF9489C2-B1D4-4230-AE87-A4F464CE1221}" presName="node" presStyleLbl="node1" presStyleIdx="2" presStyleCnt="5">
        <dgm:presLayoutVars>
          <dgm:bulletEnabled val="1"/>
        </dgm:presLayoutVars>
      </dgm:prSet>
      <dgm:spPr/>
    </dgm:pt>
    <dgm:pt modelId="{3AC85366-C66E-406B-83F0-455EF4B3A40A}" type="pres">
      <dgm:prSet presAssocID="{E19CCF9D-5FFB-4D7D-8B68-173BE61D54A6}" presName="parTrans" presStyleLbl="sibTrans2D1" presStyleIdx="3" presStyleCnt="5" custAng="10742104"/>
      <dgm:spPr/>
    </dgm:pt>
    <dgm:pt modelId="{4EEA2537-5A7F-4286-B20A-9A8DF04559FE}" type="pres">
      <dgm:prSet presAssocID="{E19CCF9D-5FFB-4D7D-8B68-173BE61D54A6}" presName="connectorText" presStyleLbl="sibTrans2D1" presStyleIdx="3" presStyleCnt="5"/>
      <dgm:spPr/>
    </dgm:pt>
    <dgm:pt modelId="{247B1509-7643-4AFB-B8B7-5864099B248D}" type="pres">
      <dgm:prSet presAssocID="{0EEEE918-BC16-41E1-86C6-C08EEC594B8D}" presName="node" presStyleLbl="node1" presStyleIdx="3" presStyleCnt="5">
        <dgm:presLayoutVars>
          <dgm:bulletEnabled val="1"/>
        </dgm:presLayoutVars>
      </dgm:prSet>
      <dgm:spPr/>
    </dgm:pt>
    <dgm:pt modelId="{0C284388-CECA-40E4-915F-83304F0C7603}" type="pres">
      <dgm:prSet presAssocID="{924BECE7-9075-4D94-BB51-6837323A844A}" presName="parTrans" presStyleLbl="sibTrans2D1" presStyleIdx="4" presStyleCnt="5" custAng="10813639"/>
      <dgm:spPr/>
    </dgm:pt>
    <dgm:pt modelId="{6FB57C92-1078-4279-AD23-013AF8B28573}" type="pres">
      <dgm:prSet presAssocID="{924BECE7-9075-4D94-BB51-6837323A844A}" presName="connectorText" presStyleLbl="sibTrans2D1" presStyleIdx="4" presStyleCnt="5"/>
      <dgm:spPr/>
    </dgm:pt>
    <dgm:pt modelId="{416426BB-0324-4AD9-A78F-E043CBA844C8}" type="pres">
      <dgm:prSet presAssocID="{39E91CCB-CDDF-4A08-AA2D-9521D3A86987}" presName="node" presStyleLbl="node1" presStyleIdx="4" presStyleCnt="5">
        <dgm:presLayoutVars>
          <dgm:bulletEnabled val="1"/>
        </dgm:presLayoutVars>
      </dgm:prSet>
      <dgm:spPr/>
    </dgm:pt>
  </dgm:ptLst>
  <dgm:cxnLst>
    <dgm:cxn modelId="{59710402-77EB-4A97-A6B3-EEC34FB2C60D}" srcId="{837448DE-7AEA-4E25-AC5D-362258F6507A}" destId="{39E91CCB-CDDF-4A08-AA2D-9521D3A86987}" srcOrd="4" destOrd="0" parTransId="{924BECE7-9075-4D94-BB51-6837323A844A}" sibTransId="{9965F375-8B10-4375-8228-92FB14CEB7DA}"/>
    <dgm:cxn modelId="{1A261713-A961-4E5C-84F2-69964EA6CDCE}" type="presOf" srcId="{20547630-BF78-4146-B061-FB27FCE35F45}" destId="{1680FE2E-3316-481E-A5F7-6E6A4F445A07}" srcOrd="0" destOrd="0" presId="urn:microsoft.com/office/officeart/2005/8/layout/radial5"/>
    <dgm:cxn modelId="{D1ED0625-C5F6-4F48-8CDB-0CD3014ACA12}" type="presOf" srcId="{7BD70465-08F6-4FB8-B3B1-A945AD66D3C9}" destId="{CE714882-CBDE-4DE9-8273-C8828E7591B0}" srcOrd="1" destOrd="0" presId="urn:microsoft.com/office/officeart/2005/8/layout/radial5"/>
    <dgm:cxn modelId="{18EA9929-1D4D-4935-A890-C7DB483B42BD}" type="presOf" srcId="{E19CCF9D-5FFB-4D7D-8B68-173BE61D54A6}" destId="{3AC85366-C66E-406B-83F0-455EF4B3A40A}" srcOrd="0" destOrd="0" presId="urn:microsoft.com/office/officeart/2005/8/layout/radial5"/>
    <dgm:cxn modelId="{99780F6A-2D82-425B-A2C3-20FA379F37FE}" type="presOf" srcId="{DBF595D7-37F4-435A-B245-A754875C94F1}" destId="{BA1A499A-2C8E-402D-84E8-2E21CE30D002}" srcOrd="1" destOrd="0" presId="urn:microsoft.com/office/officeart/2005/8/layout/radial5"/>
    <dgm:cxn modelId="{7238006B-B4C1-4F6F-99A0-4F6ED6B04A9C}" type="presOf" srcId="{CF9489C2-B1D4-4230-AE87-A4F464CE1221}" destId="{428BF12C-6F4F-4750-A1C6-8BEBBA5B66B2}" srcOrd="0" destOrd="0" presId="urn:microsoft.com/office/officeart/2005/8/layout/radial5"/>
    <dgm:cxn modelId="{84125C4F-30D2-4665-BC89-5293BE4D42F9}" type="presOf" srcId="{DBF595D7-37F4-435A-B245-A754875C94F1}" destId="{683DF750-75AB-43AC-BCC4-CC058CC33E2D}" srcOrd="0" destOrd="0" presId="urn:microsoft.com/office/officeart/2005/8/layout/radial5"/>
    <dgm:cxn modelId="{521A4C51-0019-4133-A15E-BE81A0A99FA1}" type="presOf" srcId="{0080BEBD-045C-4DE2-B22E-1905CEF842C7}" destId="{A705F405-0102-48E3-8169-4C4440B1B0E2}" srcOrd="0" destOrd="0" presId="urn:microsoft.com/office/officeart/2005/8/layout/radial5"/>
    <dgm:cxn modelId="{BF1F5952-6679-4325-B040-9291C5EB86E1}" srcId="{837448DE-7AEA-4E25-AC5D-362258F6507A}" destId="{0080BEBD-045C-4DE2-B22E-1905CEF842C7}" srcOrd="0" destOrd="0" parTransId="{DBF595D7-37F4-435A-B245-A754875C94F1}" sibTransId="{91D93B00-E027-4A8E-BE7D-96A8639ED89B}"/>
    <dgm:cxn modelId="{6A28F85A-2003-4DC1-8794-3892BB00F72B}" type="presOf" srcId="{FCB8CB57-8E71-48C8-820F-F40FA9A0DD57}" destId="{DBBF50C5-595F-46A6-8B4F-1D4AF06A092F}" srcOrd="0" destOrd="0" presId="urn:microsoft.com/office/officeart/2005/8/layout/radial5"/>
    <dgm:cxn modelId="{07A2EA7B-42BF-4C32-A32A-701AB410CB68}" type="presOf" srcId="{837448DE-7AEA-4E25-AC5D-362258F6507A}" destId="{C7498D97-82D7-41B1-BC40-79B50B09E608}" srcOrd="0" destOrd="0" presId="urn:microsoft.com/office/officeart/2005/8/layout/radial5"/>
    <dgm:cxn modelId="{E8309D81-4D8E-4814-AACD-235F4CD8D737}" type="presOf" srcId="{39E91CCB-CDDF-4A08-AA2D-9521D3A86987}" destId="{416426BB-0324-4AD9-A78F-E043CBA844C8}" srcOrd="0" destOrd="0" presId="urn:microsoft.com/office/officeart/2005/8/layout/radial5"/>
    <dgm:cxn modelId="{4109A881-0CDE-4D37-B33D-50905E3828E7}" srcId="{FCB8CB57-8E71-48C8-820F-F40FA9A0DD57}" destId="{837448DE-7AEA-4E25-AC5D-362258F6507A}" srcOrd="0" destOrd="0" parTransId="{A431F60D-FF86-46E8-BC27-E9F43E60F110}" sibTransId="{47283A33-1D65-4F0E-9C88-7E3D68B0E3EF}"/>
    <dgm:cxn modelId="{BA0B5F90-CC41-43B8-B90E-6A609BFFABCC}" type="presOf" srcId="{E19CCF9D-5FFB-4D7D-8B68-173BE61D54A6}" destId="{4EEA2537-5A7F-4286-B20A-9A8DF04559FE}" srcOrd="1" destOrd="0" presId="urn:microsoft.com/office/officeart/2005/8/layout/radial5"/>
    <dgm:cxn modelId="{354C0797-8C18-4087-9121-2436D592E46C}" type="presOf" srcId="{924BECE7-9075-4D94-BB51-6837323A844A}" destId="{6FB57C92-1078-4279-AD23-013AF8B28573}" srcOrd="1" destOrd="0" presId="urn:microsoft.com/office/officeart/2005/8/layout/radial5"/>
    <dgm:cxn modelId="{F96B59BB-C2C1-42EF-910A-5545E4E9BE5F}" srcId="{837448DE-7AEA-4E25-AC5D-362258F6507A}" destId="{CF9489C2-B1D4-4230-AE87-A4F464CE1221}" srcOrd="2" destOrd="0" parTransId="{7BD70465-08F6-4FB8-B3B1-A945AD66D3C9}" sibTransId="{B6ED81FF-D917-4B44-B685-CBFBCC82594A}"/>
    <dgm:cxn modelId="{AF48E1BD-76F9-46D0-A09C-DD5D347B797F}" type="presOf" srcId="{D25B2ED3-2E42-4E02-9B13-F53661B96D26}" destId="{78CA0409-1617-40D8-9600-B8F8A15FDDA1}" srcOrd="0" destOrd="0" presId="urn:microsoft.com/office/officeart/2005/8/layout/radial5"/>
    <dgm:cxn modelId="{5E2A48C0-8849-4BDC-B68A-120B3219B519}" type="presOf" srcId="{7BD70465-08F6-4FB8-B3B1-A945AD66D3C9}" destId="{EAC19A41-1A9F-459C-8C54-6BD53EB5E24C}" srcOrd="0" destOrd="0" presId="urn:microsoft.com/office/officeart/2005/8/layout/radial5"/>
    <dgm:cxn modelId="{8B7B36CC-AF0A-465D-928A-192305067BDF}" type="presOf" srcId="{924BECE7-9075-4D94-BB51-6837323A844A}" destId="{0C284388-CECA-40E4-915F-83304F0C7603}" srcOrd="0" destOrd="0" presId="urn:microsoft.com/office/officeart/2005/8/layout/radial5"/>
    <dgm:cxn modelId="{66B7A5E1-3F31-4931-839E-B64F8322F98D}" srcId="{837448DE-7AEA-4E25-AC5D-362258F6507A}" destId="{20547630-BF78-4146-B061-FB27FCE35F45}" srcOrd="1" destOrd="0" parTransId="{D25B2ED3-2E42-4E02-9B13-F53661B96D26}" sibTransId="{A9D11A47-768B-4739-BA6B-945319DFF8BA}"/>
    <dgm:cxn modelId="{022B31E4-75A4-494A-9464-75967E21A21F}" type="presOf" srcId="{D25B2ED3-2E42-4E02-9B13-F53661B96D26}" destId="{B524BF70-B43D-49F1-8028-10C97C9983F8}" srcOrd="1" destOrd="0" presId="urn:microsoft.com/office/officeart/2005/8/layout/radial5"/>
    <dgm:cxn modelId="{7AA9EBE6-00D7-4303-8268-1C233FF5451C}" type="presOf" srcId="{0EEEE918-BC16-41E1-86C6-C08EEC594B8D}" destId="{247B1509-7643-4AFB-B8B7-5864099B248D}" srcOrd="0" destOrd="0" presId="urn:microsoft.com/office/officeart/2005/8/layout/radial5"/>
    <dgm:cxn modelId="{B05344F3-CA17-43F7-90B0-AC3EF8B7B610}" srcId="{837448DE-7AEA-4E25-AC5D-362258F6507A}" destId="{0EEEE918-BC16-41E1-86C6-C08EEC594B8D}" srcOrd="3" destOrd="0" parTransId="{E19CCF9D-5FFB-4D7D-8B68-173BE61D54A6}" sibTransId="{0E5BA5EF-F9CA-40F9-AB7A-17A44A9498FD}"/>
    <dgm:cxn modelId="{4182BFB2-74D8-4340-BDAB-5773A2AC83DD}" type="presParOf" srcId="{DBBF50C5-595F-46A6-8B4F-1D4AF06A092F}" destId="{C7498D97-82D7-41B1-BC40-79B50B09E608}" srcOrd="0" destOrd="0" presId="urn:microsoft.com/office/officeart/2005/8/layout/radial5"/>
    <dgm:cxn modelId="{D8481CD7-3D84-4DFF-B858-51576E5CFAF7}" type="presParOf" srcId="{DBBF50C5-595F-46A6-8B4F-1D4AF06A092F}" destId="{683DF750-75AB-43AC-BCC4-CC058CC33E2D}" srcOrd="1" destOrd="0" presId="urn:microsoft.com/office/officeart/2005/8/layout/radial5"/>
    <dgm:cxn modelId="{C2B990CB-7EBE-42D7-AF86-0C2BE429F189}" type="presParOf" srcId="{683DF750-75AB-43AC-BCC4-CC058CC33E2D}" destId="{BA1A499A-2C8E-402D-84E8-2E21CE30D002}" srcOrd="0" destOrd="0" presId="urn:microsoft.com/office/officeart/2005/8/layout/radial5"/>
    <dgm:cxn modelId="{8267093F-30B3-425F-A2A4-007E47C371CB}" type="presParOf" srcId="{DBBF50C5-595F-46A6-8B4F-1D4AF06A092F}" destId="{A705F405-0102-48E3-8169-4C4440B1B0E2}" srcOrd="2" destOrd="0" presId="urn:microsoft.com/office/officeart/2005/8/layout/radial5"/>
    <dgm:cxn modelId="{4A104EBA-D21F-46E4-8DA1-6D6A9EA34D93}" type="presParOf" srcId="{DBBF50C5-595F-46A6-8B4F-1D4AF06A092F}" destId="{78CA0409-1617-40D8-9600-B8F8A15FDDA1}" srcOrd="3" destOrd="0" presId="urn:microsoft.com/office/officeart/2005/8/layout/radial5"/>
    <dgm:cxn modelId="{0BBB745A-4CFB-4D5A-AC41-91B8ACD18621}" type="presParOf" srcId="{78CA0409-1617-40D8-9600-B8F8A15FDDA1}" destId="{B524BF70-B43D-49F1-8028-10C97C9983F8}" srcOrd="0" destOrd="0" presId="urn:microsoft.com/office/officeart/2005/8/layout/radial5"/>
    <dgm:cxn modelId="{20F4030E-3084-4B57-980C-FFEF3F7A6914}" type="presParOf" srcId="{DBBF50C5-595F-46A6-8B4F-1D4AF06A092F}" destId="{1680FE2E-3316-481E-A5F7-6E6A4F445A07}" srcOrd="4" destOrd="0" presId="urn:microsoft.com/office/officeart/2005/8/layout/radial5"/>
    <dgm:cxn modelId="{992AAD40-16AE-4878-94CF-70D5AB91F4DF}" type="presParOf" srcId="{DBBF50C5-595F-46A6-8B4F-1D4AF06A092F}" destId="{EAC19A41-1A9F-459C-8C54-6BD53EB5E24C}" srcOrd="5" destOrd="0" presId="urn:microsoft.com/office/officeart/2005/8/layout/radial5"/>
    <dgm:cxn modelId="{6212852C-6C83-42A1-8027-56722A46AA77}" type="presParOf" srcId="{EAC19A41-1A9F-459C-8C54-6BD53EB5E24C}" destId="{CE714882-CBDE-4DE9-8273-C8828E7591B0}" srcOrd="0" destOrd="0" presId="urn:microsoft.com/office/officeart/2005/8/layout/radial5"/>
    <dgm:cxn modelId="{5424CFFE-46B4-4F08-B4C3-FAA6EAF75ABE}" type="presParOf" srcId="{DBBF50C5-595F-46A6-8B4F-1D4AF06A092F}" destId="{428BF12C-6F4F-4750-A1C6-8BEBBA5B66B2}" srcOrd="6" destOrd="0" presId="urn:microsoft.com/office/officeart/2005/8/layout/radial5"/>
    <dgm:cxn modelId="{04BC344C-84A0-4BCB-B78B-64AC8DDC7800}" type="presParOf" srcId="{DBBF50C5-595F-46A6-8B4F-1D4AF06A092F}" destId="{3AC85366-C66E-406B-83F0-455EF4B3A40A}" srcOrd="7" destOrd="0" presId="urn:microsoft.com/office/officeart/2005/8/layout/radial5"/>
    <dgm:cxn modelId="{0A244174-8B35-4E25-8100-EBAA96FA9DD7}" type="presParOf" srcId="{3AC85366-C66E-406B-83F0-455EF4B3A40A}" destId="{4EEA2537-5A7F-4286-B20A-9A8DF04559FE}" srcOrd="0" destOrd="0" presId="urn:microsoft.com/office/officeart/2005/8/layout/radial5"/>
    <dgm:cxn modelId="{0161A42C-99FF-4646-9465-CB3A28D39D9E}" type="presParOf" srcId="{DBBF50C5-595F-46A6-8B4F-1D4AF06A092F}" destId="{247B1509-7643-4AFB-B8B7-5864099B248D}" srcOrd="8" destOrd="0" presId="urn:microsoft.com/office/officeart/2005/8/layout/radial5"/>
    <dgm:cxn modelId="{BF47B79C-16F5-4B8B-941C-B987E4C37A81}" type="presParOf" srcId="{DBBF50C5-595F-46A6-8B4F-1D4AF06A092F}" destId="{0C284388-CECA-40E4-915F-83304F0C7603}" srcOrd="9" destOrd="0" presId="urn:microsoft.com/office/officeart/2005/8/layout/radial5"/>
    <dgm:cxn modelId="{BA82969E-7F39-4CEB-BE74-3F2E12E11CAE}" type="presParOf" srcId="{0C284388-CECA-40E4-915F-83304F0C7603}" destId="{6FB57C92-1078-4279-AD23-013AF8B28573}" srcOrd="0" destOrd="0" presId="urn:microsoft.com/office/officeart/2005/8/layout/radial5"/>
    <dgm:cxn modelId="{8D2E2175-CD03-49D5-B54B-F3A85A15FC32}" type="presParOf" srcId="{DBBF50C5-595F-46A6-8B4F-1D4AF06A092F}" destId="{416426BB-0324-4AD9-A78F-E043CBA844C8}" srcOrd="10" destOrd="0" presId="urn:microsoft.com/office/officeart/2005/8/layout/radial5"/>
  </dgm:cxnLst>
  <dgm:bg>
    <a:noFill/>
  </dgm:bg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7AFF39F-F590-4A5B-90FA-7B6A9C386764}">
      <dsp:nvSpPr>
        <dsp:cNvPr id="0" name=""/>
        <dsp:cNvSpPr/>
      </dsp:nvSpPr>
      <dsp:spPr>
        <a:xfrm>
          <a:off x="1295" y="771724"/>
          <a:ext cx="1717224" cy="1717224"/>
        </a:xfrm>
        <a:prstGeom prst="ellipse">
          <a:avLst/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UK Online Retail Data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000" kern="1200" dirty="0"/>
            <a:t>981K Transactions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000" kern="1200"/>
            <a:t>2009-2011</a:t>
          </a:r>
          <a:endParaRPr lang="en-CA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000" kern="1200" dirty="0"/>
            <a:t>Quantity - Price</a:t>
          </a:r>
        </a:p>
      </dsp:txBody>
      <dsp:txXfrm>
        <a:off x="252777" y="1023206"/>
        <a:ext cx="1214260" cy="1214260"/>
      </dsp:txXfrm>
    </dsp:sp>
    <dsp:sp modelId="{351D4AAE-85D6-498B-A41B-E0659FF7BB13}">
      <dsp:nvSpPr>
        <dsp:cNvPr id="0" name=""/>
        <dsp:cNvSpPr/>
      </dsp:nvSpPr>
      <dsp:spPr>
        <a:xfrm>
          <a:off x="1857958" y="1132339"/>
          <a:ext cx="995990" cy="995990"/>
        </a:xfrm>
        <a:prstGeom prst="mathPlus">
          <a:avLst/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100" kern="1200">
            <a:solidFill>
              <a:schemeClr val="bg1"/>
            </a:solidFill>
          </a:endParaRPr>
        </a:p>
      </dsp:txBody>
      <dsp:txXfrm>
        <a:off x="1989976" y="1513206"/>
        <a:ext cx="731954" cy="234256"/>
      </dsp:txXfrm>
    </dsp:sp>
    <dsp:sp modelId="{00BBAA9A-5E28-4DC8-9AA1-8CF8EB99889E}">
      <dsp:nvSpPr>
        <dsp:cNvPr id="0" name=""/>
        <dsp:cNvSpPr/>
      </dsp:nvSpPr>
      <dsp:spPr>
        <a:xfrm>
          <a:off x="2993387" y="771724"/>
          <a:ext cx="1717224" cy="1717224"/>
        </a:xfrm>
        <a:prstGeom prst="ellipse">
          <a:avLst/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UK Weather Data</a:t>
          </a:r>
          <a:endParaRPr lang="en-CA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000" kern="1200"/>
            <a:t>Daily Weather</a:t>
          </a:r>
          <a:endParaRPr lang="en-CA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000" kern="1200"/>
            <a:t>2009-2011</a:t>
          </a:r>
          <a:endParaRPr lang="en-CA" sz="10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000" kern="1200"/>
            <a:t>Temperature – Rain – Humidity –Cloud – Wind</a:t>
          </a:r>
          <a:endParaRPr lang="en-CA" sz="1000" kern="1200" dirty="0"/>
        </a:p>
      </dsp:txBody>
      <dsp:txXfrm>
        <a:off x="3244869" y="1023206"/>
        <a:ext cx="1214260" cy="1214260"/>
      </dsp:txXfrm>
    </dsp:sp>
    <dsp:sp modelId="{EC535D3C-C0C7-48B2-BCF1-150509825A2C}">
      <dsp:nvSpPr>
        <dsp:cNvPr id="0" name=""/>
        <dsp:cNvSpPr/>
      </dsp:nvSpPr>
      <dsp:spPr>
        <a:xfrm>
          <a:off x="4850050" y="1132339"/>
          <a:ext cx="995990" cy="995990"/>
        </a:xfrm>
        <a:prstGeom prst="mathEqual">
          <a:avLst/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100" kern="1200">
            <a:solidFill>
              <a:schemeClr val="bg1"/>
            </a:solidFill>
          </a:endParaRPr>
        </a:p>
      </dsp:txBody>
      <dsp:txXfrm>
        <a:off x="4982068" y="1337513"/>
        <a:ext cx="731954" cy="585642"/>
      </dsp:txXfrm>
    </dsp:sp>
    <dsp:sp modelId="{64806803-E639-444B-807E-686F73BE3673}">
      <dsp:nvSpPr>
        <dsp:cNvPr id="0" name=""/>
        <dsp:cNvSpPr/>
      </dsp:nvSpPr>
      <dsp:spPr>
        <a:xfrm>
          <a:off x="5985479" y="753985"/>
          <a:ext cx="1717224" cy="1717224"/>
        </a:xfrm>
        <a:prstGeom prst="ellipse">
          <a:avLst/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300" kern="1200"/>
            <a:t>Retail and Weather</a:t>
          </a:r>
          <a:endParaRPr lang="en-CA" sz="1300" kern="1200" dirty="0"/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000" kern="1200"/>
            <a:t>Matched by Date</a:t>
          </a:r>
          <a:endParaRPr lang="en-CA" sz="1000" kern="1200" dirty="0"/>
        </a:p>
      </dsp:txBody>
      <dsp:txXfrm>
        <a:off x="6236961" y="1005467"/>
        <a:ext cx="1214260" cy="12142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7ACC9-35BC-4CE1-990D-B3490C6219EF}">
      <dsp:nvSpPr>
        <dsp:cNvPr id="0" name=""/>
        <dsp:cNvSpPr/>
      </dsp:nvSpPr>
      <dsp:spPr>
        <a:xfrm>
          <a:off x="54078" y="602683"/>
          <a:ext cx="2025577" cy="1215346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b="1" kern="1200" dirty="0"/>
            <a:t>Forecast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kern="1200"/>
            <a:t>Wet, Cloudy &amp; Windy</a:t>
          </a:r>
        </a:p>
      </dsp:txBody>
      <dsp:txXfrm>
        <a:off x="89674" y="638279"/>
        <a:ext cx="1954385" cy="1144154"/>
      </dsp:txXfrm>
    </dsp:sp>
    <dsp:sp modelId="{B64C599C-BFA4-4D86-BBE6-15A884D42422}">
      <dsp:nvSpPr>
        <dsp:cNvPr id="0" name=""/>
        <dsp:cNvSpPr/>
      </dsp:nvSpPr>
      <dsp:spPr>
        <a:xfrm>
          <a:off x="2276301" y="959184"/>
          <a:ext cx="416887" cy="502343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600" kern="1200">
            <a:solidFill>
              <a:schemeClr val="bg1"/>
            </a:solidFill>
          </a:endParaRPr>
        </a:p>
      </dsp:txBody>
      <dsp:txXfrm>
        <a:off x="2276301" y="1059653"/>
        <a:ext cx="291821" cy="301405"/>
      </dsp:txXfrm>
    </dsp:sp>
    <dsp:sp modelId="{4ED1AF48-9963-48E9-91D6-25F052E92B2D}">
      <dsp:nvSpPr>
        <dsp:cNvPr id="0" name=""/>
        <dsp:cNvSpPr/>
      </dsp:nvSpPr>
      <dsp:spPr>
        <a:xfrm>
          <a:off x="2866236" y="602683"/>
          <a:ext cx="2025577" cy="1215346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b="1" kern="1200" dirty="0"/>
            <a:t>Demand Signal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kern="1200" dirty="0"/>
            <a:t>Historically Higher Quantity</a:t>
          </a:r>
        </a:p>
      </dsp:txBody>
      <dsp:txXfrm>
        <a:off x="2901832" y="638279"/>
        <a:ext cx="1954385" cy="1144154"/>
      </dsp:txXfrm>
    </dsp:sp>
    <dsp:sp modelId="{4EBCA1E8-47E3-4B04-8A69-DFB717A1DF66}">
      <dsp:nvSpPr>
        <dsp:cNvPr id="0" name=""/>
        <dsp:cNvSpPr/>
      </dsp:nvSpPr>
      <dsp:spPr>
        <a:xfrm>
          <a:off x="5088459" y="959184"/>
          <a:ext cx="416887" cy="502343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600" kern="1200">
            <a:solidFill>
              <a:schemeClr val="bg1"/>
            </a:solidFill>
          </a:endParaRPr>
        </a:p>
      </dsp:txBody>
      <dsp:txXfrm>
        <a:off x="5088459" y="1059653"/>
        <a:ext cx="291821" cy="301405"/>
      </dsp:txXfrm>
    </dsp:sp>
    <dsp:sp modelId="{16F376A4-F184-4ABF-A8E1-968D959F6F90}">
      <dsp:nvSpPr>
        <dsp:cNvPr id="0" name=""/>
        <dsp:cNvSpPr/>
      </dsp:nvSpPr>
      <dsp:spPr>
        <a:xfrm>
          <a:off x="5678395" y="602683"/>
          <a:ext cx="2025577" cy="1215346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900" b="1" kern="1200" dirty="0"/>
            <a:t>Review Stock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500" kern="1200" dirty="0"/>
            <a:t>Product Availability</a:t>
          </a:r>
        </a:p>
      </dsp:txBody>
      <dsp:txXfrm>
        <a:off x="5713991" y="638279"/>
        <a:ext cx="1954385" cy="11441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7ACC9-35BC-4CE1-990D-B3490C6219EF}">
      <dsp:nvSpPr>
        <dsp:cNvPr id="0" name=""/>
        <dsp:cNvSpPr/>
      </dsp:nvSpPr>
      <dsp:spPr>
        <a:xfrm>
          <a:off x="6777" y="532992"/>
          <a:ext cx="2025577" cy="1386254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 dirty="0"/>
            <a:t>Forecast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Warm &amp; Dry Conditions</a:t>
          </a:r>
        </a:p>
      </dsp:txBody>
      <dsp:txXfrm>
        <a:off x="47379" y="573594"/>
        <a:ext cx="1944373" cy="1305050"/>
      </dsp:txXfrm>
    </dsp:sp>
    <dsp:sp modelId="{B64C599C-BFA4-4D86-BBE6-15A884D42422}">
      <dsp:nvSpPr>
        <dsp:cNvPr id="0" name=""/>
        <dsp:cNvSpPr/>
      </dsp:nvSpPr>
      <dsp:spPr>
        <a:xfrm>
          <a:off x="2234912" y="974947"/>
          <a:ext cx="429422" cy="502343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400" kern="1200">
            <a:solidFill>
              <a:schemeClr val="bg1"/>
            </a:solidFill>
          </a:endParaRPr>
        </a:p>
      </dsp:txBody>
      <dsp:txXfrm>
        <a:off x="2234912" y="1075416"/>
        <a:ext cx="300595" cy="301405"/>
      </dsp:txXfrm>
    </dsp:sp>
    <dsp:sp modelId="{4ED1AF48-9963-48E9-91D6-25F052E92B2D}">
      <dsp:nvSpPr>
        <dsp:cNvPr id="0" name=""/>
        <dsp:cNvSpPr/>
      </dsp:nvSpPr>
      <dsp:spPr>
        <a:xfrm>
          <a:off x="2842586" y="532992"/>
          <a:ext cx="2025577" cy="1386254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 dirty="0"/>
            <a:t>Purchasing Pattern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b="0" kern="1200" dirty="0"/>
            <a:t>Higher-Priced Items</a:t>
          </a:r>
          <a:br>
            <a:rPr lang="en-CA" sz="1400" b="0" kern="1200" dirty="0"/>
          </a:br>
          <a:r>
            <a:rPr lang="en-CA" sz="1400" kern="1200" dirty="0"/>
            <a:t>Purchased Historically</a:t>
          </a:r>
        </a:p>
      </dsp:txBody>
      <dsp:txXfrm>
        <a:off x="2883188" y="573594"/>
        <a:ext cx="1944373" cy="1305050"/>
      </dsp:txXfrm>
    </dsp:sp>
    <dsp:sp modelId="{4EBCA1E8-47E3-4B04-8A69-DFB717A1DF66}">
      <dsp:nvSpPr>
        <dsp:cNvPr id="0" name=""/>
        <dsp:cNvSpPr/>
      </dsp:nvSpPr>
      <dsp:spPr>
        <a:xfrm>
          <a:off x="5070721" y="974947"/>
          <a:ext cx="429422" cy="502343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400" kern="1200">
            <a:solidFill>
              <a:schemeClr val="bg1"/>
            </a:solidFill>
          </a:endParaRPr>
        </a:p>
      </dsp:txBody>
      <dsp:txXfrm>
        <a:off x="5070721" y="1075416"/>
        <a:ext cx="300595" cy="301405"/>
      </dsp:txXfrm>
    </dsp:sp>
    <dsp:sp modelId="{16F376A4-F184-4ABF-A8E1-968D959F6F90}">
      <dsp:nvSpPr>
        <dsp:cNvPr id="0" name=""/>
        <dsp:cNvSpPr/>
      </dsp:nvSpPr>
      <dsp:spPr>
        <a:xfrm>
          <a:off x="5678395" y="532992"/>
          <a:ext cx="2025577" cy="1386254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 dirty="0"/>
            <a:t>Review Promotions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Promote Higher-Priced Products</a:t>
          </a:r>
        </a:p>
      </dsp:txBody>
      <dsp:txXfrm>
        <a:off x="5718997" y="573594"/>
        <a:ext cx="1944373" cy="13050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7ACC9-35BC-4CE1-990D-B3490C6219EF}">
      <dsp:nvSpPr>
        <dsp:cNvPr id="0" name=""/>
        <dsp:cNvSpPr/>
      </dsp:nvSpPr>
      <dsp:spPr>
        <a:xfrm>
          <a:off x="3388" y="521884"/>
          <a:ext cx="1481533" cy="1408469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Identify Strong</a:t>
          </a:r>
          <a:br>
            <a:rPr lang="en-CA" sz="1800" kern="1200" dirty="0"/>
          </a:br>
          <a:r>
            <a:rPr lang="en-CA" sz="1800" kern="1200" dirty="0"/>
            <a:t>Product Pairs</a:t>
          </a:r>
          <a:endParaRPr lang="en-CA" sz="1800" b="0" kern="1200" dirty="0"/>
        </a:p>
      </dsp:txBody>
      <dsp:txXfrm>
        <a:off x="44641" y="563137"/>
        <a:ext cx="1399027" cy="1325963"/>
      </dsp:txXfrm>
    </dsp:sp>
    <dsp:sp modelId="{B64C599C-BFA4-4D86-BBE6-15A884D42422}">
      <dsp:nvSpPr>
        <dsp:cNvPr id="0" name=""/>
        <dsp:cNvSpPr/>
      </dsp:nvSpPr>
      <dsp:spPr>
        <a:xfrm>
          <a:off x="1633075" y="1042409"/>
          <a:ext cx="314085" cy="367420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400" kern="1200">
            <a:solidFill>
              <a:schemeClr val="bg1"/>
            </a:solidFill>
          </a:endParaRPr>
        </a:p>
      </dsp:txBody>
      <dsp:txXfrm>
        <a:off x="1633075" y="1115893"/>
        <a:ext cx="219860" cy="220452"/>
      </dsp:txXfrm>
    </dsp:sp>
    <dsp:sp modelId="{4ED1AF48-9963-48E9-91D6-25F052E92B2D}">
      <dsp:nvSpPr>
        <dsp:cNvPr id="0" name=""/>
        <dsp:cNvSpPr/>
      </dsp:nvSpPr>
      <dsp:spPr>
        <a:xfrm>
          <a:off x="2077535" y="521884"/>
          <a:ext cx="1481533" cy="1408469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Review How Often</a:t>
          </a:r>
          <a:br>
            <a:rPr lang="en-CA" sz="1800" kern="1200" dirty="0"/>
          </a:br>
          <a:r>
            <a:rPr lang="en-CA" sz="1800" kern="1200" dirty="0"/>
            <a:t>They Are Purchased</a:t>
          </a:r>
          <a:br>
            <a:rPr lang="en-CA" sz="1800" kern="1200" dirty="0"/>
          </a:br>
          <a:r>
            <a:rPr lang="en-CA" sz="1800" kern="1200" dirty="0"/>
            <a:t>Together</a:t>
          </a:r>
          <a:endParaRPr lang="en-CA" sz="1800" b="0" kern="1200" dirty="0"/>
        </a:p>
      </dsp:txBody>
      <dsp:txXfrm>
        <a:off x="2118788" y="563137"/>
        <a:ext cx="1399027" cy="1325963"/>
      </dsp:txXfrm>
    </dsp:sp>
    <dsp:sp modelId="{4EBCA1E8-47E3-4B04-8A69-DFB717A1DF66}">
      <dsp:nvSpPr>
        <dsp:cNvPr id="0" name=""/>
        <dsp:cNvSpPr/>
      </dsp:nvSpPr>
      <dsp:spPr>
        <a:xfrm>
          <a:off x="3707221" y="1042409"/>
          <a:ext cx="314085" cy="367420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400" kern="1200">
            <a:solidFill>
              <a:schemeClr val="bg1"/>
            </a:solidFill>
          </a:endParaRPr>
        </a:p>
      </dsp:txBody>
      <dsp:txXfrm>
        <a:off x="3707221" y="1115893"/>
        <a:ext cx="219860" cy="220452"/>
      </dsp:txXfrm>
    </dsp:sp>
    <dsp:sp modelId="{16F376A4-F184-4ABF-A8E1-968D959F6F90}">
      <dsp:nvSpPr>
        <dsp:cNvPr id="0" name=""/>
        <dsp:cNvSpPr/>
      </dsp:nvSpPr>
      <dsp:spPr>
        <a:xfrm>
          <a:off x="4151681" y="521884"/>
          <a:ext cx="1481533" cy="1408469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Bundle or</a:t>
          </a:r>
          <a:br>
            <a:rPr lang="en-CA" sz="1800" kern="1200" dirty="0"/>
          </a:br>
          <a:r>
            <a:rPr lang="en-CA" sz="1800" kern="1200" dirty="0"/>
            <a:t>Cross-Promote</a:t>
          </a:r>
          <a:br>
            <a:rPr lang="en-CA" sz="1800" kern="1200" dirty="0"/>
          </a:br>
          <a:r>
            <a:rPr lang="en-CA" sz="1800" kern="1200" dirty="0"/>
            <a:t>Related Products</a:t>
          </a:r>
          <a:endParaRPr lang="en-CA" sz="1800" b="0" kern="1200" dirty="0"/>
        </a:p>
      </dsp:txBody>
      <dsp:txXfrm>
        <a:off x="4192934" y="563137"/>
        <a:ext cx="1399027" cy="1325963"/>
      </dsp:txXfrm>
    </dsp:sp>
    <dsp:sp modelId="{BEEFA4A1-8047-4900-92D5-BFCBD39675CF}">
      <dsp:nvSpPr>
        <dsp:cNvPr id="0" name=""/>
        <dsp:cNvSpPr/>
      </dsp:nvSpPr>
      <dsp:spPr>
        <a:xfrm>
          <a:off x="5781368" y="1042409"/>
          <a:ext cx="314085" cy="367420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400" kern="1200"/>
        </a:p>
      </dsp:txBody>
      <dsp:txXfrm>
        <a:off x="5781368" y="1115893"/>
        <a:ext cx="219860" cy="220452"/>
      </dsp:txXfrm>
    </dsp:sp>
    <dsp:sp modelId="{3283C745-6FF0-4F2D-9C0B-D150D906D7B4}">
      <dsp:nvSpPr>
        <dsp:cNvPr id="0" name=""/>
        <dsp:cNvSpPr/>
      </dsp:nvSpPr>
      <dsp:spPr>
        <a:xfrm>
          <a:off x="6225828" y="521884"/>
          <a:ext cx="1481533" cy="1408469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kern="1200" dirty="0"/>
            <a:t>Place Related</a:t>
          </a:r>
          <a:br>
            <a:rPr lang="en-CA" sz="1800" kern="1200" dirty="0"/>
          </a:br>
          <a:r>
            <a:rPr lang="en-CA" sz="1800" kern="1200" dirty="0"/>
            <a:t>Products Together</a:t>
          </a:r>
          <a:endParaRPr lang="en-CA" sz="1800" b="0" kern="1200" dirty="0"/>
        </a:p>
      </dsp:txBody>
      <dsp:txXfrm>
        <a:off x="6267081" y="563137"/>
        <a:ext cx="1399027" cy="132596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B7ACC9-35BC-4CE1-990D-B3490C6219EF}">
      <dsp:nvSpPr>
        <dsp:cNvPr id="0" name=""/>
        <dsp:cNvSpPr/>
      </dsp:nvSpPr>
      <dsp:spPr>
        <a:xfrm>
          <a:off x="3388" y="391671"/>
          <a:ext cx="1481533" cy="1668895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0" kern="1200"/>
            <a:t>Weather Forecast</a:t>
          </a:r>
        </a:p>
      </dsp:txBody>
      <dsp:txXfrm>
        <a:off x="46781" y="435064"/>
        <a:ext cx="1394747" cy="1582109"/>
      </dsp:txXfrm>
    </dsp:sp>
    <dsp:sp modelId="{B64C599C-BFA4-4D86-BBE6-15A884D42422}">
      <dsp:nvSpPr>
        <dsp:cNvPr id="0" name=""/>
        <dsp:cNvSpPr/>
      </dsp:nvSpPr>
      <dsp:spPr>
        <a:xfrm>
          <a:off x="1633075" y="1042409"/>
          <a:ext cx="314085" cy="367420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400" kern="1200">
            <a:solidFill>
              <a:schemeClr val="bg1"/>
            </a:solidFill>
          </a:endParaRPr>
        </a:p>
      </dsp:txBody>
      <dsp:txXfrm>
        <a:off x="1633075" y="1115893"/>
        <a:ext cx="219860" cy="220452"/>
      </dsp:txXfrm>
    </dsp:sp>
    <dsp:sp modelId="{4ED1AF48-9963-48E9-91D6-25F052E92B2D}">
      <dsp:nvSpPr>
        <dsp:cNvPr id="0" name=""/>
        <dsp:cNvSpPr/>
      </dsp:nvSpPr>
      <dsp:spPr>
        <a:xfrm>
          <a:off x="2077535" y="391671"/>
          <a:ext cx="1481533" cy="1668895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0" kern="1200"/>
            <a:t>Check Historical Product Patterns</a:t>
          </a:r>
        </a:p>
      </dsp:txBody>
      <dsp:txXfrm>
        <a:off x="2120928" y="435064"/>
        <a:ext cx="1394747" cy="1582109"/>
      </dsp:txXfrm>
    </dsp:sp>
    <dsp:sp modelId="{4EBCA1E8-47E3-4B04-8A69-DFB717A1DF66}">
      <dsp:nvSpPr>
        <dsp:cNvPr id="0" name=""/>
        <dsp:cNvSpPr/>
      </dsp:nvSpPr>
      <dsp:spPr>
        <a:xfrm>
          <a:off x="3707221" y="1042409"/>
          <a:ext cx="314085" cy="367420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400" kern="1200">
            <a:solidFill>
              <a:schemeClr val="bg1"/>
            </a:solidFill>
          </a:endParaRPr>
        </a:p>
      </dsp:txBody>
      <dsp:txXfrm>
        <a:off x="3707221" y="1115893"/>
        <a:ext cx="219860" cy="220452"/>
      </dsp:txXfrm>
    </dsp:sp>
    <dsp:sp modelId="{16F376A4-F184-4ABF-A8E1-968D959F6F90}">
      <dsp:nvSpPr>
        <dsp:cNvPr id="0" name=""/>
        <dsp:cNvSpPr/>
      </dsp:nvSpPr>
      <dsp:spPr>
        <a:xfrm>
          <a:off x="4151681" y="391671"/>
          <a:ext cx="1481533" cy="1668895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0" kern="1200"/>
            <a:t>Identify Products That May See Demand Changes</a:t>
          </a:r>
        </a:p>
      </dsp:txBody>
      <dsp:txXfrm>
        <a:off x="4195074" y="435064"/>
        <a:ext cx="1394747" cy="1582109"/>
      </dsp:txXfrm>
    </dsp:sp>
    <dsp:sp modelId="{BEEFA4A1-8047-4900-92D5-BFCBD39675CF}">
      <dsp:nvSpPr>
        <dsp:cNvPr id="0" name=""/>
        <dsp:cNvSpPr/>
      </dsp:nvSpPr>
      <dsp:spPr>
        <a:xfrm>
          <a:off x="5781368" y="1042409"/>
          <a:ext cx="314085" cy="367420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1400" kern="1200"/>
        </a:p>
      </dsp:txBody>
      <dsp:txXfrm>
        <a:off x="5781368" y="1115893"/>
        <a:ext cx="219860" cy="220452"/>
      </dsp:txXfrm>
    </dsp:sp>
    <dsp:sp modelId="{3283C745-6FF0-4F2D-9C0B-D150D906D7B4}">
      <dsp:nvSpPr>
        <dsp:cNvPr id="0" name=""/>
        <dsp:cNvSpPr/>
      </dsp:nvSpPr>
      <dsp:spPr>
        <a:xfrm>
          <a:off x="6225828" y="391671"/>
          <a:ext cx="1481533" cy="1668895"/>
        </a:xfrm>
        <a:prstGeom prst="roundRect">
          <a:avLst>
            <a:gd name="adj" fmla="val 10000"/>
          </a:avLst>
        </a:prstGeom>
        <a:solidFill>
          <a:srgbClr val="183E5E"/>
        </a:solidFill>
        <a:ln w="38100" cap="flat" cmpd="sng" algn="ctr">
          <a:solidFill>
            <a:srgbClr val="183E5E"/>
          </a:solidFill>
          <a:prstDash val="solid"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0" kern="1200"/>
            <a:t>Adjust Promotions / Monitor Stock</a:t>
          </a:r>
        </a:p>
      </dsp:txBody>
      <dsp:txXfrm>
        <a:off x="6269221" y="435064"/>
        <a:ext cx="1394747" cy="158210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498D97-82D7-41B1-BC40-79B50B09E608}">
      <dsp:nvSpPr>
        <dsp:cNvPr id="0" name=""/>
        <dsp:cNvSpPr/>
      </dsp:nvSpPr>
      <dsp:spPr>
        <a:xfrm>
          <a:off x="1782284" y="1315609"/>
          <a:ext cx="795603" cy="795603"/>
        </a:xfrm>
        <a:prstGeom prst="ellipse">
          <a:avLst/>
        </a:prstGeom>
        <a:solidFill>
          <a:srgbClr val="183E5E"/>
        </a:solidFill>
        <a:ln w="25400" cap="flat" cmpd="sng" algn="ctr">
          <a:solidFill>
            <a:srgbClr val="183E5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/>
            <a:t>Better Sales Decisions</a:t>
          </a:r>
        </a:p>
      </dsp:txBody>
      <dsp:txXfrm>
        <a:off x="1898797" y="1432122"/>
        <a:ext cx="562577" cy="562577"/>
      </dsp:txXfrm>
    </dsp:sp>
    <dsp:sp modelId="{683DF750-75AB-43AC-BCC4-CC058CC33E2D}">
      <dsp:nvSpPr>
        <dsp:cNvPr id="0" name=""/>
        <dsp:cNvSpPr/>
      </dsp:nvSpPr>
      <dsp:spPr>
        <a:xfrm rot="5400000">
          <a:off x="2095455" y="1025466"/>
          <a:ext cx="169261" cy="270505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>
        <a:off x="2120844" y="1054178"/>
        <a:ext cx="118483" cy="162303"/>
      </dsp:txXfrm>
    </dsp:sp>
    <dsp:sp modelId="{A705F405-0102-48E3-8169-4C4440B1B0E2}">
      <dsp:nvSpPr>
        <dsp:cNvPr id="0" name=""/>
        <dsp:cNvSpPr/>
      </dsp:nvSpPr>
      <dsp:spPr>
        <a:xfrm>
          <a:off x="1682833" y="1742"/>
          <a:ext cx="994504" cy="994504"/>
        </a:xfrm>
        <a:prstGeom prst="ellipse">
          <a:avLst/>
        </a:prstGeom>
        <a:solidFill>
          <a:srgbClr val="183E5E"/>
        </a:solidFill>
        <a:ln w="25400" cap="flat" cmpd="sng" algn="ctr">
          <a:solidFill>
            <a:srgbClr val="183E5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/>
            <a:t>Weather &amp; Timing</a:t>
          </a:r>
        </a:p>
      </dsp:txBody>
      <dsp:txXfrm>
        <a:off x="1828475" y="147384"/>
        <a:ext cx="703220" cy="703220"/>
      </dsp:txXfrm>
    </dsp:sp>
    <dsp:sp modelId="{78CA0409-1617-40D8-9600-B8F8A15FDDA1}">
      <dsp:nvSpPr>
        <dsp:cNvPr id="0" name=""/>
        <dsp:cNvSpPr/>
      </dsp:nvSpPr>
      <dsp:spPr>
        <a:xfrm rot="9405120">
          <a:off x="2621096" y="1407367"/>
          <a:ext cx="169261" cy="270505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>
        <a:off x="2669813" y="1451447"/>
        <a:ext cx="118483" cy="162303"/>
      </dsp:txXfrm>
    </dsp:sp>
    <dsp:sp modelId="{1680FE2E-3316-481E-A5F7-6E6A4F445A07}">
      <dsp:nvSpPr>
        <dsp:cNvPr id="0" name=""/>
        <dsp:cNvSpPr/>
      </dsp:nvSpPr>
      <dsp:spPr>
        <a:xfrm>
          <a:off x="2837812" y="840883"/>
          <a:ext cx="994504" cy="994504"/>
        </a:xfrm>
        <a:prstGeom prst="ellipse">
          <a:avLst/>
        </a:prstGeom>
        <a:solidFill>
          <a:srgbClr val="183E5E"/>
        </a:solidFill>
        <a:ln w="25400" cap="flat" cmpd="sng" algn="ctr">
          <a:solidFill>
            <a:srgbClr val="183E5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/>
            <a:t>Products</a:t>
          </a:r>
        </a:p>
      </dsp:txBody>
      <dsp:txXfrm>
        <a:off x="2983454" y="986525"/>
        <a:ext cx="703220" cy="703220"/>
      </dsp:txXfrm>
    </dsp:sp>
    <dsp:sp modelId="{EAC19A41-1A9F-459C-8C54-6BD53EB5E24C}">
      <dsp:nvSpPr>
        <dsp:cNvPr id="0" name=""/>
        <dsp:cNvSpPr/>
      </dsp:nvSpPr>
      <dsp:spPr>
        <a:xfrm rot="13945846">
          <a:off x="2420319" y="2025296"/>
          <a:ext cx="169261" cy="270505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>
        <a:off x="2461188" y="2099521"/>
        <a:ext cx="118483" cy="162303"/>
      </dsp:txXfrm>
    </dsp:sp>
    <dsp:sp modelId="{428BF12C-6F4F-4750-A1C6-8BEBBA5B66B2}">
      <dsp:nvSpPr>
        <dsp:cNvPr id="0" name=""/>
        <dsp:cNvSpPr/>
      </dsp:nvSpPr>
      <dsp:spPr>
        <a:xfrm>
          <a:off x="2396649" y="2198642"/>
          <a:ext cx="994504" cy="994504"/>
        </a:xfrm>
        <a:prstGeom prst="ellipse">
          <a:avLst/>
        </a:prstGeom>
        <a:solidFill>
          <a:srgbClr val="183E5E"/>
        </a:solidFill>
        <a:ln w="25400" cap="flat" cmpd="sng" algn="ctr">
          <a:solidFill>
            <a:srgbClr val="183E5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/>
            <a:t>Prices</a:t>
          </a:r>
        </a:p>
      </dsp:txBody>
      <dsp:txXfrm>
        <a:off x="2542291" y="2344284"/>
        <a:ext cx="703220" cy="703220"/>
      </dsp:txXfrm>
    </dsp:sp>
    <dsp:sp modelId="{3AC85366-C66E-406B-83F0-455EF4B3A40A}">
      <dsp:nvSpPr>
        <dsp:cNvPr id="0" name=""/>
        <dsp:cNvSpPr/>
      </dsp:nvSpPr>
      <dsp:spPr>
        <a:xfrm rot="18302104">
          <a:off x="1770590" y="2025296"/>
          <a:ext cx="169261" cy="270505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 rot="10800000">
        <a:off x="1781404" y="2100186"/>
        <a:ext cx="118483" cy="162303"/>
      </dsp:txXfrm>
    </dsp:sp>
    <dsp:sp modelId="{247B1509-7643-4AFB-B8B7-5864099B248D}">
      <dsp:nvSpPr>
        <dsp:cNvPr id="0" name=""/>
        <dsp:cNvSpPr/>
      </dsp:nvSpPr>
      <dsp:spPr>
        <a:xfrm>
          <a:off x="969017" y="2198642"/>
          <a:ext cx="994504" cy="994504"/>
        </a:xfrm>
        <a:prstGeom prst="ellipse">
          <a:avLst/>
        </a:prstGeom>
        <a:solidFill>
          <a:srgbClr val="183E5E"/>
        </a:solidFill>
        <a:ln w="25400" cap="flat" cmpd="sng" algn="ctr">
          <a:solidFill>
            <a:srgbClr val="183E5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/>
            <a:t>Promotions</a:t>
          </a:r>
        </a:p>
      </dsp:txBody>
      <dsp:txXfrm>
        <a:off x="1114659" y="2344284"/>
        <a:ext cx="703220" cy="703220"/>
      </dsp:txXfrm>
    </dsp:sp>
    <dsp:sp modelId="{0C284388-CECA-40E4-915F-83304F0C7603}">
      <dsp:nvSpPr>
        <dsp:cNvPr id="0" name=""/>
        <dsp:cNvSpPr/>
      </dsp:nvSpPr>
      <dsp:spPr>
        <a:xfrm rot="1093639">
          <a:off x="1569813" y="1407367"/>
          <a:ext cx="169261" cy="270505"/>
        </a:xfrm>
        <a:prstGeom prst="rightArrow">
          <a:avLst>
            <a:gd name="adj1" fmla="val 60000"/>
            <a:gd name="adj2" fmla="val 50000"/>
          </a:avLst>
        </a:prstGeom>
        <a:solidFill>
          <a:srgbClr val="183E5E"/>
        </a:solidFill>
        <a:ln>
          <a:solidFill>
            <a:srgbClr val="183E5E"/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CA" sz="700" kern="1200"/>
        </a:p>
      </dsp:txBody>
      <dsp:txXfrm rot="10800000">
        <a:off x="1571087" y="1453527"/>
        <a:ext cx="118483" cy="162303"/>
      </dsp:txXfrm>
    </dsp:sp>
    <dsp:sp modelId="{416426BB-0324-4AD9-A78F-E043CBA844C8}">
      <dsp:nvSpPr>
        <dsp:cNvPr id="0" name=""/>
        <dsp:cNvSpPr/>
      </dsp:nvSpPr>
      <dsp:spPr>
        <a:xfrm>
          <a:off x="527855" y="840883"/>
          <a:ext cx="994504" cy="994504"/>
        </a:xfrm>
        <a:prstGeom prst="ellipse">
          <a:avLst/>
        </a:prstGeom>
        <a:solidFill>
          <a:srgbClr val="183E5E"/>
        </a:solidFill>
        <a:ln w="25400" cap="flat" cmpd="sng" algn="ctr">
          <a:solidFill>
            <a:srgbClr val="183E5E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900" kern="1200"/>
            <a:t>Seasons &amp; Holidays</a:t>
          </a:r>
        </a:p>
      </dsp:txBody>
      <dsp:txXfrm>
        <a:off x="673497" y="986525"/>
        <a:ext cx="703220" cy="7032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equation1">
  <dgm:title val=""/>
  <dgm:desc val=""/>
  <dgm:catLst>
    <dgm:cat type="relationship" pri="17000"/>
    <dgm:cat type="process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dir/>
      <dgm:resizeHandles val="exact"/>
    </dgm:varLst>
    <dgm:choose name="Name0">
      <dgm:if name="Name1" func="var" arg="dir" op="equ" val="norm">
        <dgm:alg type="lin">
          <dgm:param type="fallback" val="2D"/>
        </dgm:alg>
      </dgm:if>
      <dgm:else name="Name2">
        <dgm:alg type="lin">
          <dgm:param type="linDir" val="fromR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fact="0.58"/>
      <dgm:constr type="primFontSz" for="ch" ptType="node" op="equ" val="65"/>
      <dgm:constr type="primFontSz" for="ch" ptType="sibTrans" op="equ" val="55"/>
      <dgm:constr type="primFontSz" for="ch" ptType="sibTrans" refType="primFontSz" refFor="ch" refPtType="node" op="lte" fact="0.8"/>
      <dgm:constr type="w" for="ch" forName="spacerL" refType="w" refFor="ch" refPtType="sibTrans" fact="0.14"/>
      <dgm:constr type="w" for="ch" forName="spacerR" refType="w" refFor="ch" refPtType="sibTrans" fact="0.14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pacerL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ibTrans">
          <dgm:alg type="tx"/>
          <dgm:choose name="Name3">
            <dgm:if name="Name4" axis="followSib" ptType="sibTrans" func="cnt" op="equ" val="0">
              <dgm:shape xmlns:r="http://schemas.openxmlformats.org/officeDocument/2006/relationships" type="mathEqual" r:blip="">
                <dgm:adjLst/>
              </dgm:shape>
            </dgm:if>
            <dgm:else name="Name5">
              <dgm:shape xmlns:r="http://schemas.openxmlformats.org/officeDocument/2006/relationships" type="mathPlus" r:blip="">
                <dgm:adjLst/>
              </dgm:shape>
            </dgm:else>
          </dgm:choose>
          <dgm:presOf axis="self"/>
          <dgm:constrLst>
            <dgm:constr type="h" refType="w"/>
            <dgm:constr type="lMarg"/>
            <dgm:constr type="rMarg"/>
            <dgm:constr type="tMarg"/>
            <dgm:constr type="bMarg"/>
          </dgm:constrLst>
          <dgm:ruleLst>
            <dgm:rule type="primFontSz" val="5" fact="NaN" max="NaN"/>
          </dgm:ruleLst>
        </dgm:layoutNode>
        <dgm:layoutNode name="spacerR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#1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#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#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2#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1b6604686bf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1b6604686bf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184d99d1a7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184d99d1a7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/>
              <a:t>Handling missing and invalid values, handling duplicate rows, finding and handling outliers, and discretization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54dda1946d_4_27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54dda1946d_4_27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910c9cffe2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910c9cffe2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1F27BF06-FC24-75F8-5A02-83C579E642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84d99d1a72_0_242:notes">
            <a:extLst>
              <a:ext uri="{FF2B5EF4-FFF2-40B4-BE49-F238E27FC236}">
                <a16:creationId xmlns:a16="http://schemas.microsoft.com/office/drawing/2014/main" id="{41C43D7E-F558-7F50-A19D-6EA0D2151F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84d99d1a72_0_242:notes">
            <a:extLst>
              <a:ext uri="{FF2B5EF4-FFF2-40B4-BE49-F238E27FC236}">
                <a16:creationId xmlns:a16="http://schemas.microsoft.com/office/drawing/2014/main" id="{85093210-DB88-ABB2-E024-3E3A4F3283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90630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CE9B273D-DAC3-B0A4-E62C-6F28A5920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910c9cffe2_0_69:notes">
            <a:extLst>
              <a:ext uri="{FF2B5EF4-FFF2-40B4-BE49-F238E27FC236}">
                <a16:creationId xmlns:a16="http://schemas.microsoft.com/office/drawing/2014/main" id="{1FC1AA73-D486-DEA1-3DEE-22308CF4130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910c9cffe2_0_69:notes">
            <a:extLst>
              <a:ext uri="{FF2B5EF4-FFF2-40B4-BE49-F238E27FC236}">
                <a16:creationId xmlns:a16="http://schemas.microsoft.com/office/drawing/2014/main" id="{C5C8F414-77CA-0A41-C215-C80517640D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666365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>
          <a:extLst>
            <a:ext uri="{FF2B5EF4-FFF2-40B4-BE49-F238E27FC236}">
              <a16:creationId xmlns:a16="http://schemas.microsoft.com/office/drawing/2014/main" id="{4DBF39F6-A2D8-B824-165F-54DA5808D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54dda1946d_4_2701:notes">
            <a:extLst>
              <a:ext uri="{FF2B5EF4-FFF2-40B4-BE49-F238E27FC236}">
                <a16:creationId xmlns:a16="http://schemas.microsoft.com/office/drawing/2014/main" id="{BCEF4CB0-E7C2-52D4-442A-0A5C547581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9" name="Google Shape;429;g54dda1946d_4_2701:notes">
            <a:extLst>
              <a:ext uri="{FF2B5EF4-FFF2-40B4-BE49-F238E27FC236}">
                <a16:creationId xmlns:a16="http://schemas.microsoft.com/office/drawing/2014/main" id="{F14F6763-2660-66F0-A2A2-6AFE5568FA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6380534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2EE4EC94-A54A-928C-F42B-78CE074FF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84d99d1a72_0_242:notes">
            <a:extLst>
              <a:ext uri="{FF2B5EF4-FFF2-40B4-BE49-F238E27FC236}">
                <a16:creationId xmlns:a16="http://schemas.microsoft.com/office/drawing/2014/main" id="{15A99EB2-9FF0-1121-6249-C69FDB38EC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84d99d1a72_0_242:notes">
            <a:extLst>
              <a:ext uri="{FF2B5EF4-FFF2-40B4-BE49-F238E27FC236}">
                <a16:creationId xmlns:a16="http://schemas.microsoft.com/office/drawing/2014/main" id="{C665C15A-03A7-B33F-AFA2-49A4BFE6C56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400000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501E4736-0654-6AE0-FC42-9EF1EC545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910c9cffe2_0_69:notes">
            <a:extLst>
              <a:ext uri="{FF2B5EF4-FFF2-40B4-BE49-F238E27FC236}">
                <a16:creationId xmlns:a16="http://schemas.microsoft.com/office/drawing/2014/main" id="{D828CDE0-EA04-7D60-2C53-0AD189ACE1E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910c9cffe2_0_69:notes">
            <a:extLst>
              <a:ext uri="{FF2B5EF4-FFF2-40B4-BE49-F238E27FC236}">
                <a16:creationId xmlns:a16="http://schemas.microsoft.com/office/drawing/2014/main" id="{64ABE3E7-B152-6276-078C-0C2DAE77FD7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7389145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995CC1B9-CF04-7BAC-207C-5FAB6E7A6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84d99d1a72_0_242:notes">
            <a:extLst>
              <a:ext uri="{FF2B5EF4-FFF2-40B4-BE49-F238E27FC236}">
                <a16:creationId xmlns:a16="http://schemas.microsoft.com/office/drawing/2014/main" id="{10F705EC-7E10-2D13-A47E-D1383D4117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84d99d1a72_0_242:notes">
            <a:extLst>
              <a:ext uri="{FF2B5EF4-FFF2-40B4-BE49-F238E27FC236}">
                <a16:creationId xmlns:a16="http://schemas.microsoft.com/office/drawing/2014/main" id="{27866EB5-672D-567A-3886-99A09CAE09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518782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411AFFCB-1828-0E2D-15A9-2F14F2C38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910c9cffe2_0_69:notes">
            <a:extLst>
              <a:ext uri="{FF2B5EF4-FFF2-40B4-BE49-F238E27FC236}">
                <a16:creationId xmlns:a16="http://schemas.microsoft.com/office/drawing/2014/main" id="{A7850EF4-9232-F3AB-A63E-7F8942FACD1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910c9cffe2_0_69:notes">
            <a:extLst>
              <a:ext uri="{FF2B5EF4-FFF2-40B4-BE49-F238E27FC236}">
                <a16:creationId xmlns:a16="http://schemas.microsoft.com/office/drawing/2014/main" id="{7313E5EE-EC1E-5948-7898-84619DBF59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7307570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>
          <a:extLst>
            <a:ext uri="{FF2B5EF4-FFF2-40B4-BE49-F238E27FC236}">
              <a16:creationId xmlns:a16="http://schemas.microsoft.com/office/drawing/2014/main" id="{4A4A9E26-17F5-33BC-A970-714CFC2756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184d99d1a72_0_242:notes">
            <a:extLst>
              <a:ext uri="{FF2B5EF4-FFF2-40B4-BE49-F238E27FC236}">
                <a16:creationId xmlns:a16="http://schemas.microsoft.com/office/drawing/2014/main" id="{E16F282C-43C4-791F-85BC-EE0908BF4C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184d99d1a72_0_242:notes">
            <a:extLst>
              <a:ext uri="{FF2B5EF4-FFF2-40B4-BE49-F238E27FC236}">
                <a16:creationId xmlns:a16="http://schemas.microsoft.com/office/drawing/2014/main" id="{491563E2-83B8-26FA-A5CF-4EAC602B21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14744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8">
          <a:extLst>
            <a:ext uri="{FF2B5EF4-FFF2-40B4-BE49-F238E27FC236}">
              <a16:creationId xmlns:a16="http://schemas.microsoft.com/office/drawing/2014/main" id="{59B7D86F-0A1E-3E86-AA0D-D4B61158D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910c9cffe2_0_69:notes">
            <a:extLst>
              <a:ext uri="{FF2B5EF4-FFF2-40B4-BE49-F238E27FC236}">
                <a16:creationId xmlns:a16="http://schemas.microsoft.com/office/drawing/2014/main" id="{4D2972EB-3BA9-8DFA-7AAE-F7260AD7F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910c9cffe2_0_69:notes">
            <a:extLst>
              <a:ext uri="{FF2B5EF4-FFF2-40B4-BE49-F238E27FC236}">
                <a16:creationId xmlns:a16="http://schemas.microsoft.com/office/drawing/2014/main" id="{FDEBE8EF-32D8-ADDA-DE16-9C066CAD9A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673053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028425" y="898763"/>
            <a:ext cx="7402200" cy="205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028425" y="3536138"/>
            <a:ext cx="2499000" cy="708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Barlow"/>
              <a:buNone/>
              <a:defRPr sz="17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Barlow"/>
              <a:buNone/>
              <a:defRPr sz="18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1"/>
          </p:nvPr>
        </p:nvSpPr>
        <p:spPr>
          <a:xfrm>
            <a:off x="3927874" y="2347899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2"/>
          </p:nvPr>
        </p:nvSpPr>
        <p:spPr>
          <a:xfrm>
            <a:off x="720000" y="2347899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3"/>
          </p:nvPr>
        </p:nvSpPr>
        <p:spPr>
          <a:xfrm>
            <a:off x="720000" y="188669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4"/>
          </p:nvPr>
        </p:nvSpPr>
        <p:spPr>
          <a:xfrm>
            <a:off x="3927875" y="188669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762600" y="1110044"/>
            <a:ext cx="4460700" cy="87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ubTitle" idx="1"/>
          </p:nvPr>
        </p:nvSpPr>
        <p:spPr>
          <a:xfrm>
            <a:off x="762600" y="2098156"/>
            <a:ext cx="3792600" cy="193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2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>
            <a:spLocks noGrp="1"/>
          </p:cNvSpPr>
          <p:nvPr>
            <p:ph type="pic" idx="2"/>
          </p:nvPr>
        </p:nvSpPr>
        <p:spPr>
          <a:xfrm rot="-365">
            <a:off x="5554800" y="1035600"/>
            <a:ext cx="2826600" cy="30723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/>
          <a:lstStyle/>
          <a:p>
            <a:endParaRPr lang="en-C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2317950" y="1307100"/>
            <a:ext cx="45081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135550" y="1189100"/>
            <a:ext cx="48729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title" hasCustomPrompt="1"/>
          </p:nvPr>
        </p:nvSpPr>
        <p:spPr>
          <a:xfrm>
            <a:off x="894575" y="1610038"/>
            <a:ext cx="5164800" cy="13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83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>
            <a:spLocks noGrp="1"/>
          </p:cNvSpPr>
          <p:nvPr>
            <p:ph type="subTitle" idx="1"/>
          </p:nvPr>
        </p:nvSpPr>
        <p:spPr>
          <a:xfrm>
            <a:off x="894475" y="3036363"/>
            <a:ext cx="5164800" cy="4971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2"/>
        </a:solid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title" hasCustomPrompt="1"/>
          </p:nvPr>
        </p:nvSpPr>
        <p:spPr>
          <a:xfrm>
            <a:off x="720000" y="17094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 idx="3" hasCustomPrompt="1"/>
          </p:nvPr>
        </p:nvSpPr>
        <p:spPr>
          <a:xfrm>
            <a:off x="3419277" y="17094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7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>
            <a:spLocks noGrp="1"/>
          </p:cNvSpPr>
          <p:nvPr>
            <p:ph type="title" idx="5" hasCustomPrompt="1"/>
          </p:nvPr>
        </p:nvSpPr>
        <p:spPr>
          <a:xfrm>
            <a:off x="6118552" y="170948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2" y="306669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720000" y="22688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7"/>
          </p:nvPr>
        </p:nvSpPr>
        <p:spPr>
          <a:xfrm>
            <a:off x="3419275" y="22688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8"/>
          </p:nvPr>
        </p:nvSpPr>
        <p:spPr>
          <a:xfrm>
            <a:off x="6118550" y="22688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subTitle" idx="9"/>
          </p:nvPr>
        </p:nvSpPr>
        <p:spPr>
          <a:xfrm>
            <a:off x="720000" y="36261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subTitle" idx="13"/>
          </p:nvPr>
        </p:nvSpPr>
        <p:spPr>
          <a:xfrm>
            <a:off x="3419275" y="36261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4"/>
          </p:nvPr>
        </p:nvSpPr>
        <p:spPr>
          <a:xfrm>
            <a:off x="6118550" y="36261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15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0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713250" y="1216375"/>
            <a:ext cx="4111800" cy="33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marL="914400" lvl="1" indent="-304800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marL="1371600" lvl="2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marL="1828800" lvl="3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marL="2286000" lvl="4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marL="2743200" lvl="5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marL="3200400" lvl="6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marL="3657600" lvl="7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marL="4114800" lvl="8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subTitle" idx="1"/>
          </p:nvPr>
        </p:nvSpPr>
        <p:spPr>
          <a:xfrm>
            <a:off x="720000" y="2347910"/>
            <a:ext cx="2277600" cy="12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subTitle" idx="2"/>
          </p:nvPr>
        </p:nvSpPr>
        <p:spPr>
          <a:xfrm>
            <a:off x="3433208" y="2347910"/>
            <a:ext cx="2277600" cy="12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subTitle" idx="3"/>
          </p:nvPr>
        </p:nvSpPr>
        <p:spPr>
          <a:xfrm>
            <a:off x="6146398" y="2347910"/>
            <a:ext cx="2277600" cy="12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ubTitle" idx="4"/>
          </p:nvPr>
        </p:nvSpPr>
        <p:spPr>
          <a:xfrm>
            <a:off x="720000" y="1886694"/>
            <a:ext cx="2277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18"/>
          <p:cNvSpPr txBox="1">
            <a:spLocks noGrp="1"/>
          </p:cNvSpPr>
          <p:nvPr>
            <p:ph type="subTitle" idx="5"/>
          </p:nvPr>
        </p:nvSpPr>
        <p:spPr>
          <a:xfrm>
            <a:off x="3433210" y="1886694"/>
            <a:ext cx="2277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1" name="Google Shape;91;p18"/>
          <p:cNvSpPr txBox="1">
            <a:spLocks noGrp="1"/>
          </p:cNvSpPr>
          <p:nvPr>
            <p:ph type="subTitle" idx="6"/>
          </p:nvPr>
        </p:nvSpPr>
        <p:spPr>
          <a:xfrm>
            <a:off x="6146395" y="1886694"/>
            <a:ext cx="22776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9"/>
          <p:cNvSpPr txBox="1">
            <a:spLocks noGrp="1"/>
          </p:cNvSpPr>
          <p:nvPr>
            <p:ph type="subTitle" idx="1"/>
          </p:nvPr>
        </p:nvSpPr>
        <p:spPr>
          <a:xfrm>
            <a:off x="720000" y="1831737"/>
            <a:ext cx="26238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9"/>
          <p:cNvSpPr txBox="1">
            <a:spLocks noGrp="1"/>
          </p:cNvSpPr>
          <p:nvPr>
            <p:ph type="subTitle" idx="2"/>
          </p:nvPr>
        </p:nvSpPr>
        <p:spPr>
          <a:xfrm>
            <a:off x="4291664" y="1831737"/>
            <a:ext cx="26238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9"/>
          <p:cNvSpPr txBox="1">
            <a:spLocks noGrp="1"/>
          </p:cNvSpPr>
          <p:nvPr>
            <p:ph type="subTitle" idx="3"/>
          </p:nvPr>
        </p:nvSpPr>
        <p:spPr>
          <a:xfrm>
            <a:off x="720000" y="3419430"/>
            <a:ext cx="26238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subTitle" idx="4"/>
          </p:nvPr>
        </p:nvSpPr>
        <p:spPr>
          <a:xfrm>
            <a:off x="4291664" y="3419430"/>
            <a:ext cx="2623800" cy="95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subTitle" idx="5"/>
          </p:nvPr>
        </p:nvSpPr>
        <p:spPr>
          <a:xfrm>
            <a:off x="720000" y="1430100"/>
            <a:ext cx="26238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0" name="Google Shape;100;p19"/>
          <p:cNvSpPr txBox="1">
            <a:spLocks noGrp="1"/>
          </p:cNvSpPr>
          <p:nvPr>
            <p:ph type="subTitle" idx="6"/>
          </p:nvPr>
        </p:nvSpPr>
        <p:spPr>
          <a:xfrm>
            <a:off x="720000" y="3017818"/>
            <a:ext cx="26238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1" name="Google Shape;101;p19"/>
          <p:cNvSpPr txBox="1">
            <a:spLocks noGrp="1"/>
          </p:cNvSpPr>
          <p:nvPr>
            <p:ph type="subTitle" idx="7"/>
          </p:nvPr>
        </p:nvSpPr>
        <p:spPr>
          <a:xfrm>
            <a:off x="4291642" y="1430100"/>
            <a:ext cx="26238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2" name="Google Shape;102;p19"/>
          <p:cNvSpPr txBox="1">
            <a:spLocks noGrp="1"/>
          </p:cNvSpPr>
          <p:nvPr>
            <p:ph type="subTitle" idx="8"/>
          </p:nvPr>
        </p:nvSpPr>
        <p:spPr>
          <a:xfrm>
            <a:off x="4291642" y="3017818"/>
            <a:ext cx="2623800" cy="478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/>
          <p:nvPr/>
        </p:nvSpPr>
        <p:spPr>
          <a:xfrm>
            <a:off x="414000" y="414000"/>
            <a:ext cx="8316000" cy="4315500"/>
          </a:xfrm>
          <a:prstGeom prst="roundRect">
            <a:avLst>
              <a:gd name="adj" fmla="val 3919"/>
            </a:avLst>
          </a:prstGeom>
          <a:solidFill>
            <a:srgbClr val="FFFFFF">
              <a:alpha val="4591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3500"/>
              <a:buFont typeface="Oswald"/>
              <a:buNone/>
              <a:defRPr sz="3500" b="1">
                <a:solidFill>
                  <a:srgbClr val="21212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●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○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■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●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○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■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●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3048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Barlow"/>
              <a:buChar char="○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3048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212121"/>
              </a:buClr>
              <a:buSzPts val="1200"/>
              <a:buFont typeface="Barlow"/>
              <a:buChar char="■"/>
              <a:defRPr sz="1200">
                <a:solidFill>
                  <a:srgbClr val="21212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7" r:id="rId7"/>
    <p:sldLayoutId id="2147483658" r:id="rId8"/>
    <p:sldLayoutId id="2147483659" r:id="rId9"/>
    <p:sldLayoutId id="2147483662" r:id="rId10"/>
    <p:sldLayoutId id="2147483664" r:id="rId11"/>
    <p:sldLayoutId id="2147483665" r:id="rId12"/>
    <p:sldLayoutId id="214748366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4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4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4.xml"/><Relationship Id="rId5" Type="http://schemas.openxmlformats.org/officeDocument/2006/relationships/diagramLayout" Target="../diagrams/layout4.xml"/><Relationship Id="rId4" Type="http://schemas.openxmlformats.org/officeDocument/2006/relationships/diagramData" Target="../diagrams/data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2.jpg"/><Relationship Id="rId7" Type="http://schemas.openxmlformats.org/officeDocument/2006/relationships/diagramColors" Target="../diagrams/colors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" name="Google Shape;140;p27"/>
          <p:cNvGrpSpPr/>
          <p:nvPr/>
        </p:nvGrpSpPr>
        <p:grpSpPr>
          <a:xfrm>
            <a:off x="6398575" y="3475872"/>
            <a:ext cx="1250400" cy="1250400"/>
            <a:chOff x="6398575" y="3131102"/>
            <a:chExt cx="1250400" cy="1250400"/>
          </a:xfrm>
        </p:grpSpPr>
        <p:sp>
          <p:nvSpPr>
            <p:cNvPr id="141" name="Google Shape;141;p27"/>
            <p:cNvSpPr/>
            <p:nvPr/>
          </p:nvSpPr>
          <p:spPr>
            <a:xfrm>
              <a:off x="6398575" y="3131102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27"/>
            <p:cNvSpPr/>
            <p:nvPr/>
          </p:nvSpPr>
          <p:spPr>
            <a:xfrm>
              <a:off x="6669486" y="3502125"/>
              <a:ext cx="708593" cy="508345"/>
            </a:xfrm>
            <a:custGeom>
              <a:avLst/>
              <a:gdLst/>
              <a:ahLst/>
              <a:cxnLst/>
              <a:rect l="l" t="t" r="r" b="b"/>
              <a:pathLst>
                <a:path w="15223" h="10921" extrusionOk="0">
                  <a:moveTo>
                    <a:pt x="11323" y="1944"/>
                  </a:moveTo>
                  <a:cubicBezTo>
                    <a:pt x="12402" y="1944"/>
                    <a:pt x="13279" y="2821"/>
                    <a:pt x="13279" y="3900"/>
                  </a:cubicBezTo>
                  <a:cubicBezTo>
                    <a:pt x="13279" y="4241"/>
                    <a:pt x="13189" y="4575"/>
                    <a:pt x="13023" y="4867"/>
                  </a:cubicBezTo>
                  <a:cubicBezTo>
                    <a:pt x="12707" y="4708"/>
                    <a:pt x="12363" y="4600"/>
                    <a:pt x="12000" y="4553"/>
                  </a:cubicBezTo>
                  <a:cubicBezTo>
                    <a:pt x="11800" y="3581"/>
                    <a:pt x="11304" y="2725"/>
                    <a:pt x="10615" y="2078"/>
                  </a:cubicBezTo>
                  <a:cubicBezTo>
                    <a:pt x="10840" y="1991"/>
                    <a:pt x="11081" y="1944"/>
                    <a:pt x="11323" y="1944"/>
                  </a:cubicBezTo>
                  <a:close/>
                  <a:moveTo>
                    <a:pt x="7393" y="1755"/>
                  </a:moveTo>
                  <a:cubicBezTo>
                    <a:pt x="9294" y="1755"/>
                    <a:pt x="10896" y="3174"/>
                    <a:pt x="11117" y="5059"/>
                  </a:cubicBezTo>
                  <a:lnTo>
                    <a:pt x="11167" y="5479"/>
                  </a:lnTo>
                  <a:lnTo>
                    <a:pt x="11590" y="5479"/>
                  </a:lnTo>
                  <a:cubicBezTo>
                    <a:pt x="12828" y="5479"/>
                    <a:pt x="13836" y="6486"/>
                    <a:pt x="13836" y="7724"/>
                  </a:cubicBezTo>
                  <a:cubicBezTo>
                    <a:pt x="13836" y="8962"/>
                    <a:pt x="12828" y="9969"/>
                    <a:pt x="11590" y="9969"/>
                  </a:cubicBezTo>
                  <a:lnTo>
                    <a:pt x="3197" y="9969"/>
                  </a:lnTo>
                  <a:cubicBezTo>
                    <a:pt x="1959" y="9969"/>
                    <a:pt x="952" y="8962"/>
                    <a:pt x="952" y="7724"/>
                  </a:cubicBezTo>
                  <a:cubicBezTo>
                    <a:pt x="952" y="6486"/>
                    <a:pt x="1959" y="5479"/>
                    <a:pt x="3197" y="5479"/>
                  </a:cubicBezTo>
                  <a:lnTo>
                    <a:pt x="3620" y="5479"/>
                  </a:lnTo>
                  <a:lnTo>
                    <a:pt x="3670" y="5059"/>
                  </a:lnTo>
                  <a:cubicBezTo>
                    <a:pt x="3892" y="3174"/>
                    <a:pt x="5494" y="1755"/>
                    <a:pt x="7393" y="1755"/>
                  </a:cubicBezTo>
                  <a:close/>
                  <a:moveTo>
                    <a:pt x="10849" y="1"/>
                  </a:moveTo>
                  <a:lnTo>
                    <a:pt x="10849" y="1032"/>
                  </a:lnTo>
                  <a:cubicBezTo>
                    <a:pt x="10465" y="1096"/>
                    <a:pt x="10096" y="1237"/>
                    <a:pt x="9767" y="1445"/>
                  </a:cubicBezTo>
                  <a:cubicBezTo>
                    <a:pt x="9068" y="1036"/>
                    <a:pt x="8256" y="802"/>
                    <a:pt x="7394" y="802"/>
                  </a:cubicBezTo>
                  <a:cubicBezTo>
                    <a:pt x="5145" y="802"/>
                    <a:pt x="3232" y="2389"/>
                    <a:pt x="2787" y="4553"/>
                  </a:cubicBezTo>
                  <a:cubicBezTo>
                    <a:pt x="1217" y="4755"/>
                    <a:pt x="1" y="6099"/>
                    <a:pt x="1" y="7724"/>
                  </a:cubicBezTo>
                  <a:cubicBezTo>
                    <a:pt x="1" y="9487"/>
                    <a:pt x="1434" y="10920"/>
                    <a:pt x="3197" y="10920"/>
                  </a:cubicBezTo>
                  <a:lnTo>
                    <a:pt x="11590" y="10920"/>
                  </a:lnTo>
                  <a:cubicBezTo>
                    <a:pt x="13353" y="10920"/>
                    <a:pt x="14787" y="9487"/>
                    <a:pt x="14787" y="7724"/>
                  </a:cubicBezTo>
                  <a:cubicBezTo>
                    <a:pt x="14787" y="6818"/>
                    <a:pt x="14408" y="6001"/>
                    <a:pt x="13801" y="5418"/>
                  </a:cubicBezTo>
                  <a:cubicBezTo>
                    <a:pt x="13996" y="5098"/>
                    <a:pt x="14128" y="4745"/>
                    <a:pt x="14191" y="4374"/>
                  </a:cubicBezTo>
                  <a:lnTo>
                    <a:pt x="15222" y="4374"/>
                  </a:lnTo>
                  <a:lnTo>
                    <a:pt x="15222" y="3423"/>
                  </a:lnTo>
                  <a:lnTo>
                    <a:pt x="14191" y="3423"/>
                  </a:lnTo>
                  <a:cubicBezTo>
                    <a:pt x="14118" y="2976"/>
                    <a:pt x="13940" y="2563"/>
                    <a:pt x="13687" y="2208"/>
                  </a:cubicBezTo>
                  <a:lnTo>
                    <a:pt x="14417" y="1480"/>
                  </a:lnTo>
                  <a:lnTo>
                    <a:pt x="13743" y="806"/>
                  </a:lnTo>
                  <a:lnTo>
                    <a:pt x="13013" y="1536"/>
                  </a:lnTo>
                  <a:cubicBezTo>
                    <a:pt x="12660" y="1283"/>
                    <a:pt x="12247" y="1107"/>
                    <a:pt x="11800" y="1032"/>
                  </a:cubicBezTo>
                  <a:lnTo>
                    <a:pt x="118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3" name="Google Shape;143;p27"/>
          <p:cNvSpPr txBox="1">
            <a:spLocks noGrp="1"/>
          </p:cNvSpPr>
          <p:nvPr>
            <p:ph type="ctrTitle"/>
          </p:nvPr>
        </p:nvSpPr>
        <p:spPr>
          <a:xfrm>
            <a:off x="762010" y="898763"/>
            <a:ext cx="7668615" cy="2058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WEATHER AND RETAIL </a:t>
            </a:r>
            <a:r>
              <a:rPr lang="en" b="0" dirty="0">
                <a:solidFill>
                  <a:schemeClr val="dk1"/>
                </a:solidFill>
              </a:rPr>
              <a:t>Purchasing Behaviour</a:t>
            </a:r>
            <a:endParaRPr b="0" dirty="0">
              <a:solidFill>
                <a:schemeClr val="dk1"/>
              </a:solidFill>
            </a:endParaRPr>
          </a:p>
        </p:txBody>
      </p:sp>
      <p:sp>
        <p:nvSpPr>
          <p:cNvPr id="144" name="Google Shape;144;p27"/>
          <p:cNvSpPr txBox="1">
            <a:spLocks noGrp="1"/>
          </p:cNvSpPr>
          <p:nvPr>
            <p:ph type="subTitle" idx="1"/>
          </p:nvPr>
        </p:nvSpPr>
        <p:spPr>
          <a:xfrm>
            <a:off x="762010" y="2956763"/>
            <a:ext cx="5365669" cy="128797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CA" dirty="0"/>
              <a:t>Can weather patterns help retailers make better sales decisions?</a:t>
            </a:r>
          </a:p>
          <a:p>
            <a:pPr marL="0" lvl="0" indent="0"/>
            <a:endParaRPr lang="en-CA" dirty="0"/>
          </a:p>
          <a:p>
            <a:pPr marL="0" lvl="0" indent="0"/>
            <a:endParaRPr lang="en-CA" dirty="0"/>
          </a:p>
          <a:p>
            <a:pPr marL="0" lvl="0" indent="0"/>
            <a:r>
              <a:rPr lang="en-CA" sz="1100" dirty="0"/>
              <a:t>Group 3: Saba Berenji &amp; Sierra Erb   |   August 18, 2026   |   PROG74030</a:t>
            </a:r>
            <a:endParaRPr dirty="0"/>
          </a:p>
        </p:txBody>
      </p:sp>
      <p:grpSp>
        <p:nvGrpSpPr>
          <p:cNvPr id="145" name="Google Shape;145;p27"/>
          <p:cNvGrpSpPr/>
          <p:nvPr/>
        </p:nvGrpSpPr>
        <p:grpSpPr>
          <a:xfrm>
            <a:off x="7131590" y="2722196"/>
            <a:ext cx="1250400" cy="1250400"/>
            <a:chOff x="7131590" y="2377426"/>
            <a:chExt cx="1250400" cy="1250400"/>
          </a:xfrm>
        </p:grpSpPr>
        <p:sp>
          <p:nvSpPr>
            <p:cNvPr id="146" name="Google Shape;146;p27"/>
            <p:cNvSpPr/>
            <p:nvPr/>
          </p:nvSpPr>
          <p:spPr>
            <a:xfrm>
              <a:off x="7131590" y="2377426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27"/>
            <p:cNvSpPr/>
            <p:nvPr/>
          </p:nvSpPr>
          <p:spPr>
            <a:xfrm>
              <a:off x="7402498" y="2648325"/>
              <a:ext cx="708602" cy="708602"/>
            </a:xfrm>
            <a:custGeom>
              <a:avLst/>
              <a:gdLst/>
              <a:ahLst/>
              <a:cxnLst/>
              <a:rect l="l" t="t" r="r" b="b"/>
              <a:pathLst>
                <a:path w="15386" h="15386" extrusionOk="0">
                  <a:moveTo>
                    <a:pt x="7693" y="3274"/>
                  </a:moveTo>
                  <a:cubicBezTo>
                    <a:pt x="10129" y="3274"/>
                    <a:pt x="12112" y="5257"/>
                    <a:pt x="12112" y="7693"/>
                  </a:cubicBezTo>
                  <a:cubicBezTo>
                    <a:pt x="12112" y="10131"/>
                    <a:pt x="10129" y="12114"/>
                    <a:pt x="7693" y="12114"/>
                  </a:cubicBezTo>
                  <a:cubicBezTo>
                    <a:pt x="5255" y="12114"/>
                    <a:pt x="3272" y="10131"/>
                    <a:pt x="3272" y="7693"/>
                  </a:cubicBezTo>
                  <a:cubicBezTo>
                    <a:pt x="3272" y="5257"/>
                    <a:pt x="5255" y="3274"/>
                    <a:pt x="7693" y="3274"/>
                  </a:cubicBezTo>
                  <a:close/>
                  <a:moveTo>
                    <a:pt x="7216" y="1"/>
                  </a:moveTo>
                  <a:lnTo>
                    <a:pt x="7216" y="2343"/>
                  </a:lnTo>
                  <a:cubicBezTo>
                    <a:pt x="6092" y="2443"/>
                    <a:pt x="5067" y="2889"/>
                    <a:pt x="4248" y="3576"/>
                  </a:cubicBezTo>
                  <a:lnTo>
                    <a:pt x="2590" y="1918"/>
                  </a:lnTo>
                  <a:lnTo>
                    <a:pt x="1916" y="2590"/>
                  </a:lnTo>
                  <a:lnTo>
                    <a:pt x="3574" y="4248"/>
                  </a:lnTo>
                  <a:cubicBezTo>
                    <a:pt x="2888" y="5067"/>
                    <a:pt x="2441" y="6093"/>
                    <a:pt x="2342" y="7217"/>
                  </a:cubicBezTo>
                  <a:lnTo>
                    <a:pt x="0" y="7217"/>
                  </a:lnTo>
                  <a:lnTo>
                    <a:pt x="0" y="8170"/>
                  </a:lnTo>
                  <a:lnTo>
                    <a:pt x="2342" y="8170"/>
                  </a:lnTo>
                  <a:cubicBezTo>
                    <a:pt x="2442" y="9294"/>
                    <a:pt x="2888" y="10319"/>
                    <a:pt x="3576" y="11138"/>
                  </a:cubicBezTo>
                  <a:lnTo>
                    <a:pt x="1916" y="12796"/>
                  </a:lnTo>
                  <a:lnTo>
                    <a:pt x="2590" y="13470"/>
                  </a:lnTo>
                  <a:lnTo>
                    <a:pt x="4248" y="11812"/>
                  </a:lnTo>
                  <a:cubicBezTo>
                    <a:pt x="5067" y="12498"/>
                    <a:pt x="6092" y="12945"/>
                    <a:pt x="7216" y="13044"/>
                  </a:cubicBezTo>
                  <a:lnTo>
                    <a:pt x="7216" y="15386"/>
                  </a:lnTo>
                  <a:lnTo>
                    <a:pt x="8169" y="15386"/>
                  </a:lnTo>
                  <a:lnTo>
                    <a:pt x="8169" y="13044"/>
                  </a:lnTo>
                  <a:cubicBezTo>
                    <a:pt x="9293" y="12945"/>
                    <a:pt x="10319" y="12498"/>
                    <a:pt x="11138" y="11812"/>
                  </a:cubicBezTo>
                  <a:lnTo>
                    <a:pt x="12796" y="13470"/>
                  </a:lnTo>
                  <a:lnTo>
                    <a:pt x="13468" y="12796"/>
                  </a:lnTo>
                  <a:lnTo>
                    <a:pt x="11810" y="11138"/>
                  </a:lnTo>
                  <a:cubicBezTo>
                    <a:pt x="12497" y="10319"/>
                    <a:pt x="12943" y="9294"/>
                    <a:pt x="13043" y="8170"/>
                  </a:cubicBezTo>
                  <a:lnTo>
                    <a:pt x="15385" y="8170"/>
                  </a:lnTo>
                  <a:lnTo>
                    <a:pt x="15385" y="7217"/>
                  </a:lnTo>
                  <a:lnTo>
                    <a:pt x="13043" y="7217"/>
                  </a:lnTo>
                  <a:cubicBezTo>
                    <a:pt x="12943" y="6093"/>
                    <a:pt x="12497" y="5067"/>
                    <a:pt x="11810" y="4248"/>
                  </a:cubicBezTo>
                  <a:lnTo>
                    <a:pt x="13468" y="2590"/>
                  </a:lnTo>
                  <a:lnTo>
                    <a:pt x="12796" y="1918"/>
                  </a:lnTo>
                  <a:lnTo>
                    <a:pt x="11138" y="3576"/>
                  </a:lnTo>
                  <a:cubicBezTo>
                    <a:pt x="10319" y="2889"/>
                    <a:pt x="9293" y="2443"/>
                    <a:pt x="8167" y="2343"/>
                  </a:cubicBezTo>
                  <a:lnTo>
                    <a:pt x="8167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" name="Google Shape;161;p29"/>
          <p:cNvGrpSpPr/>
          <p:nvPr/>
        </p:nvGrpSpPr>
        <p:grpSpPr>
          <a:xfrm>
            <a:off x="2157988" y="4020662"/>
            <a:ext cx="979938" cy="979938"/>
            <a:chOff x="6423665" y="1479376"/>
            <a:chExt cx="1250400" cy="1250400"/>
          </a:xfrm>
        </p:grpSpPr>
        <p:sp>
          <p:nvSpPr>
            <p:cNvPr id="162" name="Google Shape;162;p29"/>
            <p:cNvSpPr/>
            <p:nvPr/>
          </p:nvSpPr>
          <p:spPr>
            <a:xfrm>
              <a:off x="6423665" y="1479376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29"/>
            <p:cNvSpPr/>
            <p:nvPr/>
          </p:nvSpPr>
          <p:spPr>
            <a:xfrm>
              <a:off x="6690463" y="1750275"/>
              <a:ext cx="716837" cy="708596"/>
            </a:xfrm>
            <a:custGeom>
              <a:avLst/>
              <a:gdLst/>
              <a:ahLst/>
              <a:cxnLst/>
              <a:rect l="l" t="t" r="r" b="b"/>
              <a:pathLst>
                <a:path w="14787" h="14617" extrusionOk="0">
                  <a:moveTo>
                    <a:pt x="7393" y="951"/>
                  </a:moveTo>
                  <a:cubicBezTo>
                    <a:pt x="9294" y="951"/>
                    <a:pt x="10894" y="2373"/>
                    <a:pt x="11117" y="4257"/>
                  </a:cubicBezTo>
                  <a:lnTo>
                    <a:pt x="11167" y="4677"/>
                  </a:lnTo>
                  <a:lnTo>
                    <a:pt x="11589" y="4677"/>
                  </a:lnTo>
                  <a:cubicBezTo>
                    <a:pt x="12827" y="4677"/>
                    <a:pt x="13834" y="5684"/>
                    <a:pt x="13834" y="6921"/>
                  </a:cubicBezTo>
                  <a:cubicBezTo>
                    <a:pt x="13834" y="8158"/>
                    <a:pt x="12827" y="9166"/>
                    <a:pt x="11591" y="9166"/>
                  </a:cubicBezTo>
                  <a:lnTo>
                    <a:pt x="3197" y="9166"/>
                  </a:lnTo>
                  <a:cubicBezTo>
                    <a:pt x="1959" y="9166"/>
                    <a:pt x="952" y="8158"/>
                    <a:pt x="952" y="6921"/>
                  </a:cubicBezTo>
                  <a:cubicBezTo>
                    <a:pt x="952" y="5684"/>
                    <a:pt x="1959" y="4677"/>
                    <a:pt x="3197" y="4677"/>
                  </a:cubicBezTo>
                  <a:lnTo>
                    <a:pt x="3620" y="4677"/>
                  </a:lnTo>
                  <a:lnTo>
                    <a:pt x="3669" y="4257"/>
                  </a:lnTo>
                  <a:cubicBezTo>
                    <a:pt x="3892" y="2373"/>
                    <a:pt x="5492" y="951"/>
                    <a:pt x="7393" y="951"/>
                  </a:cubicBezTo>
                  <a:close/>
                  <a:moveTo>
                    <a:pt x="7393" y="0"/>
                  </a:moveTo>
                  <a:cubicBezTo>
                    <a:pt x="5145" y="0"/>
                    <a:pt x="3232" y="1587"/>
                    <a:pt x="2788" y="3752"/>
                  </a:cubicBezTo>
                  <a:cubicBezTo>
                    <a:pt x="1217" y="3953"/>
                    <a:pt x="1" y="5297"/>
                    <a:pt x="1" y="6922"/>
                  </a:cubicBezTo>
                  <a:cubicBezTo>
                    <a:pt x="1" y="8683"/>
                    <a:pt x="1434" y="10118"/>
                    <a:pt x="3197" y="10118"/>
                  </a:cubicBezTo>
                  <a:lnTo>
                    <a:pt x="4922" y="10118"/>
                  </a:lnTo>
                  <a:lnTo>
                    <a:pt x="4922" y="11608"/>
                  </a:lnTo>
                  <a:lnTo>
                    <a:pt x="3663" y="11608"/>
                  </a:lnTo>
                  <a:lnTo>
                    <a:pt x="3663" y="14616"/>
                  </a:lnTo>
                  <a:lnTo>
                    <a:pt x="4614" y="14616"/>
                  </a:lnTo>
                  <a:lnTo>
                    <a:pt x="4614" y="12561"/>
                  </a:lnTo>
                  <a:lnTo>
                    <a:pt x="5873" y="12561"/>
                  </a:lnTo>
                  <a:lnTo>
                    <a:pt x="5873" y="10118"/>
                  </a:lnTo>
                  <a:lnTo>
                    <a:pt x="8651" y="10118"/>
                  </a:lnTo>
                  <a:lnTo>
                    <a:pt x="8651" y="11608"/>
                  </a:lnTo>
                  <a:lnTo>
                    <a:pt x="7393" y="11608"/>
                  </a:lnTo>
                  <a:lnTo>
                    <a:pt x="7393" y="14616"/>
                  </a:lnTo>
                  <a:lnTo>
                    <a:pt x="8344" y="14616"/>
                  </a:lnTo>
                  <a:lnTo>
                    <a:pt x="8344" y="12561"/>
                  </a:lnTo>
                  <a:lnTo>
                    <a:pt x="9603" y="12561"/>
                  </a:lnTo>
                  <a:lnTo>
                    <a:pt x="9603" y="10118"/>
                  </a:lnTo>
                  <a:lnTo>
                    <a:pt x="11591" y="10118"/>
                  </a:lnTo>
                  <a:cubicBezTo>
                    <a:pt x="13353" y="10118"/>
                    <a:pt x="14787" y="8683"/>
                    <a:pt x="14787" y="6922"/>
                  </a:cubicBezTo>
                  <a:cubicBezTo>
                    <a:pt x="14787" y="5297"/>
                    <a:pt x="13569" y="3953"/>
                    <a:pt x="11999" y="3752"/>
                  </a:cubicBezTo>
                  <a:cubicBezTo>
                    <a:pt x="11556" y="1587"/>
                    <a:pt x="9641" y="0"/>
                    <a:pt x="739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4" name="Google Shape;164;p29"/>
          <p:cNvSpPr txBox="1">
            <a:spLocks noGrp="1"/>
          </p:cNvSpPr>
          <p:nvPr>
            <p:ph type="title" idx="15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165" name="Google Shape;165;p29"/>
          <p:cNvSpPr txBox="1">
            <a:spLocks noGrp="1"/>
          </p:cNvSpPr>
          <p:nvPr>
            <p:ph type="title"/>
          </p:nvPr>
        </p:nvSpPr>
        <p:spPr>
          <a:xfrm>
            <a:off x="720000" y="17094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title" idx="2"/>
          </p:nvPr>
        </p:nvSpPr>
        <p:spPr>
          <a:xfrm>
            <a:off x="720000" y="30666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167" name="Google Shape;167;p29"/>
          <p:cNvSpPr txBox="1">
            <a:spLocks noGrp="1"/>
          </p:cNvSpPr>
          <p:nvPr>
            <p:ph type="title" idx="3"/>
          </p:nvPr>
        </p:nvSpPr>
        <p:spPr>
          <a:xfrm>
            <a:off x="3419277" y="17094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68" name="Google Shape;168;p29"/>
          <p:cNvSpPr txBox="1">
            <a:spLocks noGrp="1"/>
          </p:cNvSpPr>
          <p:nvPr>
            <p:ph type="title" idx="4"/>
          </p:nvPr>
        </p:nvSpPr>
        <p:spPr>
          <a:xfrm>
            <a:off x="3419277" y="30666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169" name="Google Shape;169;p29"/>
          <p:cNvSpPr txBox="1">
            <a:spLocks noGrp="1"/>
          </p:cNvSpPr>
          <p:nvPr>
            <p:ph type="title" idx="5"/>
          </p:nvPr>
        </p:nvSpPr>
        <p:spPr>
          <a:xfrm>
            <a:off x="6118552" y="1709483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70" name="Google Shape;170;p29"/>
          <p:cNvSpPr txBox="1">
            <a:spLocks noGrp="1"/>
          </p:cNvSpPr>
          <p:nvPr>
            <p:ph type="title" idx="6"/>
          </p:nvPr>
        </p:nvSpPr>
        <p:spPr>
          <a:xfrm>
            <a:off x="6118552" y="3066691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171" name="Google Shape;171;p29"/>
          <p:cNvSpPr txBox="1">
            <a:spLocks noGrp="1"/>
          </p:cNvSpPr>
          <p:nvPr>
            <p:ph type="subTitle" idx="1"/>
          </p:nvPr>
        </p:nvSpPr>
        <p:spPr>
          <a:xfrm>
            <a:off x="663762" y="2268875"/>
            <a:ext cx="2417976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Problem Statement</a:t>
            </a:r>
            <a:endParaRPr dirty="0"/>
          </a:p>
        </p:txBody>
      </p:sp>
      <p:sp>
        <p:nvSpPr>
          <p:cNvPr id="172" name="Google Shape;172;p29"/>
          <p:cNvSpPr txBox="1">
            <a:spLocks noGrp="1"/>
          </p:cNvSpPr>
          <p:nvPr>
            <p:ph type="subTitle" idx="7"/>
          </p:nvPr>
        </p:nvSpPr>
        <p:spPr>
          <a:xfrm>
            <a:off x="3419275" y="22688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Dataset</a:t>
            </a:r>
            <a:endParaRPr dirty="0"/>
          </a:p>
        </p:txBody>
      </p:sp>
      <p:sp>
        <p:nvSpPr>
          <p:cNvPr id="173" name="Google Shape;173;p29"/>
          <p:cNvSpPr txBox="1">
            <a:spLocks noGrp="1"/>
          </p:cNvSpPr>
          <p:nvPr>
            <p:ph type="subTitle" idx="8"/>
          </p:nvPr>
        </p:nvSpPr>
        <p:spPr>
          <a:xfrm>
            <a:off x="6118550" y="2268875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Analysis Steps</a:t>
            </a:r>
            <a:endParaRPr dirty="0"/>
          </a:p>
        </p:txBody>
      </p:sp>
      <p:sp>
        <p:nvSpPr>
          <p:cNvPr id="174" name="Google Shape;174;p29"/>
          <p:cNvSpPr txBox="1">
            <a:spLocks noGrp="1"/>
          </p:cNvSpPr>
          <p:nvPr>
            <p:ph type="subTitle" idx="9"/>
          </p:nvPr>
        </p:nvSpPr>
        <p:spPr>
          <a:xfrm>
            <a:off x="720000" y="36261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Findings</a:t>
            </a:r>
            <a:endParaRPr dirty="0"/>
          </a:p>
        </p:txBody>
      </p:sp>
      <p:sp>
        <p:nvSpPr>
          <p:cNvPr id="175" name="Google Shape;175;p29"/>
          <p:cNvSpPr txBox="1">
            <a:spLocks noGrp="1"/>
          </p:cNvSpPr>
          <p:nvPr>
            <p:ph type="subTitle" idx="13"/>
          </p:nvPr>
        </p:nvSpPr>
        <p:spPr>
          <a:xfrm>
            <a:off x="3419275" y="36261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Recommendations</a:t>
            </a:r>
            <a:endParaRPr dirty="0"/>
          </a:p>
        </p:txBody>
      </p:sp>
      <p:sp>
        <p:nvSpPr>
          <p:cNvPr id="176" name="Google Shape;176;p29"/>
          <p:cNvSpPr txBox="1">
            <a:spLocks noGrp="1"/>
          </p:cNvSpPr>
          <p:nvPr>
            <p:ph type="subTitle" idx="14"/>
          </p:nvPr>
        </p:nvSpPr>
        <p:spPr>
          <a:xfrm>
            <a:off x="6118550" y="3626150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 &amp; Next Steps</a:t>
            </a:r>
            <a:endParaRPr dirty="0"/>
          </a:p>
        </p:txBody>
      </p:sp>
      <p:grpSp>
        <p:nvGrpSpPr>
          <p:cNvPr id="2" name="Google Shape;311;p36">
            <a:extLst>
              <a:ext uri="{FF2B5EF4-FFF2-40B4-BE49-F238E27FC236}">
                <a16:creationId xmlns:a16="http://schemas.microsoft.com/office/drawing/2014/main" id="{7171CD9A-8AB3-3331-26E4-7F7EB348C00A}"/>
              </a:ext>
            </a:extLst>
          </p:cNvPr>
          <p:cNvGrpSpPr/>
          <p:nvPr/>
        </p:nvGrpSpPr>
        <p:grpSpPr>
          <a:xfrm>
            <a:off x="7320558" y="537088"/>
            <a:ext cx="1250400" cy="1250400"/>
            <a:chOff x="6673640" y="1506513"/>
            <a:chExt cx="1250400" cy="1250400"/>
          </a:xfrm>
        </p:grpSpPr>
        <p:sp>
          <p:nvSpPr>
            <p:cNvPr id="3" name="Google Shape;312;p36">
              <a:extLst>
                <a:ext uri="{FF2B5EF4-FFF2-40B4-BE49-F238E27FC236}">
                  <a16:creationId xmlns:a16="http://schemas.microsoft.com/office/drawing/2014/main" id="{A23D3BD0-5F4C-4285-387E-C45B193A3C3C}"/>
                </a:ext>
              </a:extLst>
            </p:cNvPr>
            <p:cNvSpPr/>
            <p:nvPr/>
          </p:nvSpPr>
          <p:spPr>
            <a:xfrm>
              <a:off x="6673640" y="1506513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313;p36">
              <a:extLst>
                <a:ext uri="{FF2B5EF4-FFF2-40B4-BE49-F238E27FC236}">
                  <a16:creationId xmlns:a16="http://schemas.microsoft.com/office/drawing/2014/main" id="{F028F521-CF99-73D4-4641-20BC93D6D227}"/>
                </a:ext>
              </a:extLst>
            </p:cNvPr>
            <p:cNvSpPr/>
            <p:nvPr/>
          </p:nvSpPr>
          <p:spPr>
            <a:xfrm>
              <a:off x="6978687" y="1902049"/>
              <a:ext cx="640317" cy="459365"/>
            </a:xfrm>
            <a:custGeom>
              <a:avLst/>
              <a:gdLst/>
              <a:ahLst/>
              <a:cxnLst/>
              <a:rect l="l" t="t" r="r" b="b"/>
              <a:pathLst>
                <a:path w="15223" h="10921" extrusionOk="0">
                  <a:moveTo>
                    <a:pt x="11323" y="1944"/>
                  </a:moveTo>
                  <a:cubicBezTo>
                    <a:pt x="12402" y="1944"/>
                    <a:pt x="13279" y="2821"/>
                    <a:pt x="13279" y="3900"/>
                  </a:cubicBezTo>
                  <a:cubicBezTo>
                    <a:pt x="13279" y="4241"/>
                    <a:pt x="13189" y="4575"/>
                    <a:pt x="13023" y="4867"/>
                  </a:cubicBezTo>
                  <a:cubicBezTo>
                    <a:pt x="12707" y="4708"/>
                    <a:pt x="12363" y="4600"/>
                    <a:pt x="12000" y="4553"/>
                  </a:cubicBezTo>
                  <a:cubicBezTo>
                    <a:pt x="11800" y="3581"/>
                    <a:pt x="11304" y="2725"/>
                    <a:pt x="10615" y="2078"/>
                  </a:cubicBezTo>
                  <a:cubicBezTo>
                    <a:pt x="10840" y="1991"/>
                    <a:pt x="11081" y="1944"/>
                    <a:pt x="11323" y="1944"/>
                  </a:cubicBezTo>
                  <a:close/>
                  <a:moveTo>
                    <a:pt x="7393" y="1755"/>
                  </a:moveTo>
                  <a:cubicBezTo>
                    <a:pt x="9294" y="1755"/>
                    <a:pt x="10896" y="3174"/>
                    <a:pt x="11117" y="5059"/>
                  </a:cubicBezTo>
                  <a:lnTo>
                    <a:pt x="11167" y="5479"/>
                  </a:lnTo>
                  <a:lnTo>
                    <a:pt x="11590" y="5479"/>
                  </a:lnTo>
                  <a:cubicBezTo>
                    <a:pt x="12828" y="5479"/>
                    <a:pt x="13836" y="6486"/>
                    <a:pt x="13836" y="7724"/>
                  </a:cubicBezTo>
                  <a:cubicBezTo>
                    <a:pt x="13836" y="8962"/>
                    <a:pt x="12828" y="9969"/>
                    <a:pt x="11590" y="9969"/>
                  </a:cubicBezTo>
                  <a:lnTo>
                    <a:pt x="3197" y="9969"/>
                  </a:lnTo>
                  <a:cubicBezTo>
                    <a:pt x="1959" y="9969"/>
                    <a:pt x="952" y="8962"/>
                    <a:pt x="952" y="7724"/>
                  </a:cubicBezTo>
                  <a:cubicBezTo>
                    <a:pt x="952" y="6486"/>
                    <a:pt x="1959" y="5479"/>
                    <a:pt x="3197" y="5479"/>
                  </a:cubicBezTo>
                  <a:lnTo>
                    <a:pt x="3620" y="5479"/>
                  </a:lnTo>
                  <a:lnTo>
                    <a:pt x="3670" y="5059"/>
                  </a:lnTo>
                  <a:cubicBezTo>
                    <a:pt x="3892" y="3174"/>
                    <a:pt x="5494" y="1755"/>
                    <a:pt x="7393" y="1755"/>
                  </a:cubicBezTo>
                  <a:close/>
                  <a:moveTo>
                    <a:pt x="10849" y="1"/>
                  </a:moveTo>
                  <a:lnTo>
                    <a:pt x="10849" y="1032"/>
                  </a:lnTo>
                  <a:cubicBezTo>
                    <a:pt x="10465" y="1096"/>
                    <a:pt x="10096" y="1237"/>
                    <a:pt x="9767" y="1445"/>
                  </a:cubicBezTo>
                  <a:cubicBezTo>
                    <a:pt x="9068" y="1036"/>
                    <a:pt x="8256" y="802"/>
                    <a:pt x="7394" y="802"/>
                  </a:cubicBezTo>
                  <a:cubicBezTo>
                    <a:pt x="5145" y="802"/>
                    <a:pt x="3232" y="2389"/>
                    <a:pt x="2787" y="4553"/>
                  </a:cubicBezTo>
                  <a:cubicBezTo>
                    <a:pt x="1217" y="4755"/>
                    <a:pt x="1" y="6099"/>
                    <a:pt x="1" y="7724"/>
                  </a:cubicBezTo>
                  <a:cubicBezTo>
                    <a:pt x="1" y="9487"/>
                    <a:pt x="1434" y="10920"/>
                    <a:pt x="3197" y="10920"/>
                  </a:cubicBezTo>
                  <a:lnTo>
                    <a:pt x="11590" y="10920"/>
                  </a:lnTo>
                  <a:cubicBezTo>
                    <a:pt x="13353" y="10920"/>
                    <a:pt x="14787" y="9487"/>
                    <a:pt x="14787" y="7724"/>
                  </a:cubicBezTo>
                  <a:cubicBezTo>
                    <a:pt x="14787" y="6818"/>
                    <a:pt x="14408" y="6001"/>
                    <a:pt x="13801" y="5418"/>
                  </a:cubicBezTo>
                  <a:cubicBezTo>
                    <a:pt x="13996" y="5098"/>
                    <a:pt x="14128" y="4745"/>
                    <a:pt x="14191" y="4374"/>
                  </a:cubicBezTo>
                  <a:lnTo>
                    <a:pt x="15222" y="4374"/>
                  </a:lnTo>
                  <a:lnTo>
                    <a:pt x="15222" y="3423"/>
                  </a:lnTo>
                  <a:lnTo>
                    <a:pt x="14191" y="3423"/>
                  </a:lnTo>
                  <a:cubicBezTo>
                    <a:pt x="14118" y="2976"/>
                    <a:pt x="13940" y="2563"/>
                    <a:pt x="13687" y="2208"/>
                  </a:cubicBezTo>
                  <a:lnTo>
                    <a:pt x="14417" y="1480"/>
                  </a:lnTo>
                  <a:lnTo>
                    <a:pt x="13743" y="806"/>
                  </a:lnTo>
                  <a:lnTo>
                    <a:pt x="13013" y="1536"/>
                  </a:lnTo>
                  <a:cubicBezTo>
                    <a:pt x="12660" y="1283"/>
                    <a:pt x="12247" y="1107"/>
                    <a:pt x="11800" y="1032"/>
                  </a:cubicBezTo>
                  <a:lnTo>
                    <a:pt x="11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>
            <a:spLocks noGrp="1"/>
          </p:cNvSpPr>
          <p:nvPr>
            <p:ph type="title"/>
          </p:nvPr>
        </p:nvSpPr>
        <p:spPr>
          <a:xfrm>
            <a:off x="762600" y="1110044"/>
            <a:ext cx="7549446" cy="87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CA" dirty="0"/>
              <a:t>Can Weather Help Retailers Make Better Decisions?</a:t>
            </a:r>
            <a:endParaRPr dirty="0"/>
          </a:p>
        </p:txBody>
      </p:sp>
      <p:sp>
        <p:nvSpPr>
          <p:cNvPr id="185" name="Google Shape;185;p30"/>
          <p:cNvSpPr txBox="1">
            <a:spLocks noGrp="1"/>
          </p:cNvSpPr>
          <p:nvPr>
            <p:ph type="subTitle" idx="1"/>
          </p:nvPr>
        </p:nvSpPr>
        <p:spPr>
          <a:xfrm>
            <a:off x="762600" y="1903751"/>
            <a:ext cx="3792600" cy="263077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en-CA" b="1" dirty="0"/>
              <a:t>CHALLENGE</a:t>
            </a:r>
            <a:br>
              <a:rPr lang="en-CA" dirty="0"/>
            </a:br>
            <a:r>
              <a:rPr lang="en-CA" dirty="0"/>
              <a:t>Demand can be difficult to anticipate</a:t>
            </a:r>
          </a:p>
          <a:p>
            <a:pPr>
              <a:lnSpc>
                <a:spcPct val="150000"/>
              </a:lnSpc>
              <a:buNone/>
            </a:pPr>
            <a:r>
              <a:rPr lang="en-CA" b="1" dirty="0"/>
              <a:t>OPPORTUNITY</a:t>
            </a:r>
            <a:br>
              <a:rPr lang="en-CA" dirty="0"/>
            </a:br>
            <a:r>
              <a:rPr lang="en-CA" dirty="0"/>
              <a:t>Weather forecasts are available in advance</a:t>
            </a:r>
          </a:p>
          <a:p>
            <a:pPr>
              <a:lnSpc>
                <a:spcPct val="150000"/>
              </a:lnSpc>
              <a:buNone/>
            </a:pPr>
            <a:r>
              <a:rPr lang="en-CA" b="1" dirty="0"/>
              <a:t>GOAL</a:t>
            </a:r>
            <a:br>
              <a:rPr lang="en-CA" dirty="0"/>
            </a:br>
            <a:r>
              <a:rPr lang="en-CA" dirty="0"/>
              <a:t>Identify actionable purchasing patterns</a:t>
            </a:r>
          </a:p>
          <a:p>
            <a:pPr>
              <a:lnSpc>
                <a:spcPct val="150000"/>
              </a:lnSpc>
              <a:buNone/>
            </a:pPr>
            <a:r>
              <a:rPr lang="en-CA" b="1" dirty="0"/>
              <a:t>AUDIENCE</a:t>
            </a:r>
            <a:br>
              <a:rPr lang="en-CA" dirty="0"/>
            </a:br>
            <a:r>
              <a:rPr lang="en-CA" dirty="0"/>
              <a:t>Retail managers &amp; decision-makers</a:t>
            </a:r>
          </a:p>
        </p:txBody>
      </p:sp>
      <p:pic>
        <p:nvPicPr>
          <p:cNvPr id="186" name="Google Shape;186;p30"/>
          <p:cNvPicPr preferRelativeResize="0">
            <a:picLocks noGrp="1"/>
          </p:cNvPicPr>
          <p:nvPr>
            <p:ph type="pic" idx="2"/>
          </p:nvPr>
        </p:nvPicPr>
        <p:blipFill rotWithShape="1">
          <a:blip r:embed="rId4">
            <a:alphaModFix/>
          </a:blip>
          <a:srcRect l="6627" t="18582" r="6635" b="18576"/>
          <a:stretch/>
        </p:blipFill>
        <p:spPr>
          <a:xfrm rot="-365">
            <a:off x="5554846" y="1903881"/>
            <a:ext cx="2451915" cy="2204038"/>
          </a:xfrm>
          <a:prstGeom prst="roundRect">
            <a:avLst>
              <a:gd name="adj" fmla="val 11119"/>
            </a:avLst>
          </a:prstGeom>
        </p:spPr>
      </p:pic>
      <p:grpSp>
        <p:nvGrpSpPr>
          <p:cNvPr id="187" name="Google Shape;187;p30"/>
          <p:cNvGrpSpPr/>
          <p:nvPr/>
        </p:nvGrpSpPr>
        <p:grpSpPr>
          <a:xfrm>
            <a:off x="4892441" y="3479905"/>
            <a:ext cx="979985" cy="979985"/>
            <a:chOff x="2117937" y="3950712"/>
            <a:chExt cx="714900" cy="714900"/>
          </a:xfrm>
        </p:grpSpPr>
        <p:sp>
          <p:nvSpPr>
            <p:cNvPr id="188" name="Google Shape;188;p30"/>
            <p:cNvSpPr/>
            <p:nvPr/>
          </p:nvSpPr>
          <p:spPr>
            <a:xfrm>
              <a:off x="2117937" y="3950712"/>
              <a:ext cx="714900" cy="714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89" name="Google Shape;189;p30"/>
            <p:cNvGrpSpPr/>
            <p:nvPr/>
          </p:nvGrpSpPr>
          <p:grpSpPr>
            <a:xfrm>
              <a:off x="2302102" y="4136858"/>
              <a:ext cx="346570" cy="342609"/>
              <a:chOff x="2131313" y="3941625"/>
              <a:chExt cx="369675" cy="365450"/>
            </a:xfrm>
          </p:grpSpPr>
          <p:sp>
            <p:nvSpPr>
              <p:cNvPr id="190" name="Google Shape;190;p30"/>
              <p:cNvSpPr/>
              <p:nvPr/>
            </p:nvSpPr>
            <p:spPr>
              <a:xfrm>
                <a:off x="2264588" y="4294325"/>
                <a:ext cx="800" cy="825"/>
              </a:xfrm>
              <a:custGeom>
                <a:avLst/>
                <a:gdLst/>
                <a:ahLst/>
                <a:cxnLst/>
                <a:rect l="l" t="t" r="r" b="b"/>
                <a:pathLst>
                  <a:path w="32" h="33" extrusionOk="0">
                    <a:moveTo>
                      <a:pt x="15" y="1"/>
                    </a:moveTo>
                    <a:cubicBezTo>
                      <a:pt x="8" y="1"/>
                      <a:pt x="0" y="8"/>
                      <a:pt x="0" y="16"/>
                    </a:cubicBezTo>
                    <a:cubicBezTo>
                      <a:pt x="0" y="25"/>
                      <a:pt x="6" y="33"/>
                      <a:pt x="15" y="33"/>
                    </a:cubicBezTo>
                    <a:cubicBezTo>
                      <a:pt x="24" y="33"/>
                      <a:pt x="32" y="25"/>
                      <a:pt x="32" y="16"/>
                    </a:cubicBezTo>
                    <a:cubicBezTo>
                      <a:pt x="32" y="8"/>
                      <a:pt x="24" y="1"/>
                      <a:pt x="1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30"/>
              <p:cNvSpPr/>
              <p:nvPr/>
            </p:nvSpPr>
            <p:spPr>
              <a:xfrm>
                <a:off x="2252663" y="4282425"/>
                <a:ext cx="24600" cy="24650"/>
              </a:xfrm>
              <a:custGeom>
                <a:avLst/>
                <a:gdLst/>
                <a:ahLst/>
                <a:cxnLst/>
                <a:rect l="l" t="t" r="r" b="b"/>
                <a:pathLst>
                  <a:path w="984" h="986" extrusionOk="0">
                    <a:moveTo>
                      <a:pt x="492" y="1"/>
                    </a:moveTo>
                    <a:cubicBezTo>
                      <a:pt x="222" y="1"/>
                      <a:pt x="1" y="222"/>
                      <a:pt x="1" y="492"/>
                    </a:cubicBezTo>
                    <a:cubicBezTo>
                      <a:pt x="1" y="764"/>
                      <a:pt x="221" y="985"/>
                      <a:pt x="492" y="985"/>
                    </a:cubicBezTo>
                    <a:cubicBezTo>
                      <a:pt x="764" y="985"/>
                      <a:pt x="984" y="764"/>
                      <a:pt x="984" y="492"/>
                    </a:cubicBezTo>
                    <a:cubicBezTo>
                      <a:pt x="984" y="222"/>
                      <a:pt x="764" y="1"/>
                      <a:pt x="4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30"/>
              <p:cNvSpPr/>
              <p:nvPr/>
            </p:nvSpPr>
            <p:spPr>
              <a:xfrm>
                <a:off x="2373638" y="4294325"/>
                <a:ext cx="800" cy="825"/>
              </a:xfrm>
              <a:custGeom>
                <a:avLst/>
                <a:gdLst/>
                <a:ahLst/>
                <a:cxnLst/>
                <a:rect l="l" t="t" r="r" b="b"/>
                <a:pathLst>
                  <a:path w="32" h="33" extrusionOk="0">
                    <a:moveTo>
                      <a:pt x="16" y="1"/>
                    </a:moveTo>
                    <a:cubicBezTo>
                      <a:pt x="7" y="1"/>
                      <a:pt x="1" y="8"/>
                      <a:pt x="1" y="16"/>
                    </a:cubicBezTo>
                    <a:cubicBezTo>
                      <a:pt x="1" y="25"/>
                      <a:pt x="7" y="33"/>
                      <a:pt x="16" y="33"/>
                    </a:cubicBezTo>
                    <a:cubicBezTo>
                      <a:pt x="25" y="33"/>
                      <a:pt x="31" y="25"/>
                      <a:pt x="31" y="16"/>
                    </a:cubicBezTo>
                    <a:cubicBezTo>
                      <a:pt x="31" y="8"/>
                      <a:pt x="24" y="1"/>
                      <a:pt x="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Google Shape;193;p30"/>
              <p:cNvSpPr/>
              <p:nvPr/>
            </p:nvSpPr>
            <p:spPr>
              <a:xfrm>
                <a:off x="2361738" y="4282425"/>
                <a:ext cx="24600" cy="24650"/>
              </a:xfrm>
              <a:custGeom>
                <a:avLst/>
                <a:gdLst/>
                <a:ahLst/>
                <a:cxnLst/>
                <a:rect l="l" t="t" r="r" b="b"/>
                <a:pathLst>
                  <a:path w="984" h="986" extrusionOk="0">
                    <a:moveTo>
                      <a:pt x="492" y="1"/>
                    </a:moveTo>
                    <a:cubicBezTo>
                      <a:pt x="221" y="1"/>
                      <a:pt x="1" y="222"/>
                      <a:pt x="1" y="492"/>
                    </a:cubicBezTo>
                    <a:cubicBezTo>
                      <a:pt x="1" y="764"/>
                      <a:pt x="221" y="985"/>
                      <a:pt x="492" y="985"/>
                    </a:cubicBezTo>
                    <a:cubicBezTo>
                      <a:pt x="764" y="985"/>
                      <a:pt x="984" y="764"/>
                      <a:pt x="984" y="492"/>
                    </a:cubicBezTo>
                    <a:cubicBezTo>
                      <a:pt x="984" y="222"/>
                      <a:pt x="764" y="1"/>
                      <a:pt x="49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Google Shape;194;p30"/>
              <p:cNvSpPr/>
              <p:nvPr/>
            </p:nvSpPr>
            <p:spPr>
              <a:xfrm>
                <a:off x="2210038" y="4238100"/>
                <a:ext cx="825" cy="825"/>
              </a:xfrm>
              <a:custGeom>
                <a:avLst/>
                <a:gdLst/>
                <a:ahLst/>
                <a:cxnLst/>
                <a:rect l="l" t="t" r="r" b="b"/>
                <a:pathLst>
                  <a:path w="33" h="33" extrusionOk="0">
                    <a:moveTo>
                      <a:pt x="16" y="0"/>
                    </a:moveTo>
                    <a:cubicBezTo>
                      <a:pt x="7" y="0"/>
                      <a:pt x="1" y="8"/>
                      <a:pt x="1" y="17"/>
                    </a:cubicBezTo>
                    <a:cubicBezTo>
                      <a:pt x="1" y="26"/>
                      <a:pt x="8" y="32"/>
                      <a:pt x="16" y="32"/>
                    </a:cubicBezTo>
                    <a:cubicBezTo>
                      <a:pt x="25" y="32"/>
                      <a:pt x="32" y="26"/>
                      <a:pt x="32" y="17"/>
                    </a:cubicBezTo>
                    <a:cubicBezTo>
                      <a:pt x="32" y="8"/>
                      <a:pt x="25" y="0"/>
                      <a:pt x="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Google Shape;195;p30"/>
              <p:cNvSpPr/>
              <p:nvPr/>
            </p:nvSpPr>
            <p:spPr>
              <a:xfrm>
                <a:off x="2198138" y="4226225"/>
                <a:ext cx="24600" cy="24600"/>
              </a:xfrm>
              <a:custGeom>
                <a:avLst/>
                <a:gdLst/>
                <a:ahLst/>
                <a:cxnLst/>
                <a:rect l="l" t="t" r="r" b="b"/>
                <a:pathLst>
                  <a:path w="984" h="984" extrusionOk="0">
                    <a:moveTo>
                      <a:pt x="492" y="0"/>
                    </a:moveTo>
                    <a:cubicBezTo>
                      <a:pt x="222" y="0"/>
                      <a:pt x="0" y="220"/>
                      <a:pt x="0" y="492"/>
                    </a:cubicBezTo>
                    <a:cubicBezTo>
                      <a:pt x="0" y="763"/>
                      <a:pt x="222" y="983"/>
                      <a:pt x="492" y="983"/>
                    </a:cubicBezTo>
                    <a:cubicBezTo>
                      <a:pt x="763" y="983"/>
                      <a:pt x="983" y="763"/>
                      <a:pt x="983" y="492"/>
                    </a:cubicBezTo>
                    <a:cubicBezTo>
                      <a:pt x="983" y="220"/>
                      <a:pt x="763" y="0"/>
                      <a:pt x="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Google Shape;196;p30"/>
              <p:cNvSpPr/>
              <p:nvPr/>
            </p:nvSpPr>
            <p:spPr>
              <a:xfrm>
                <a:off x="2428188" y="4238100"/>
                <a:ext cx="775" cy="8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33" extrusionOk="0">
                    <a:moveTo>
                      <a:pt x="16" y="0"/>
                    </a:moveTo>
                    <a:cubicBezTo>
                      <a:pt x="6" y="0"/>
                      <a:pt x="0" y="8"/>
                      <a:pt x="0" y="17"/>
                    </a:cubicBezTo>
                    <a:cubicBezTo>
                      <a:pt x="0" y="26"/>
                      <a:pt x="6" y="32"/>
                      <a:pt x="16" y="32"/>
                    </a:cubicBezTo>
                    <a:cubicBezTo>
                      <a:pt x="25" y="32"/>
                      <a:pt x="31" y="26"/>
                      <a:pt x="31" y="17"/>
                    </a:cubicBezTo>
                    <a:cubicBezTo>
                      <a:pt x="31" y="8"/>
                      <a:pt x="25" y="0"/>
                      <a:pt x="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Google Shape;197;p30"/>
              <p:cNvSpPr/>
              <p:nvPr/>
            </p:nvSpPr>
            <p:spPr>
              <a:xfrm>
                <a:off x="2416288" y="4226225"/>
                <a:ext cx="24600" cy="24600"/>
              </a:xfrm>
              <a:custGeom>
                <a:avLst/>
                <a:gdLst/>
                <a:ahLst/>
                <a:cxnLst/>
                <a:rect l="l" t="t" r="r" b="b"/>
                <a:pathLst>
                  <a:path w="984" h="984" extrusionOk="0">
                    <a:moveTo>
                      <a:pt x="492" y="0"/>
                    </a:moveTo>
                    <a:cubicBezTo>
                      <a:pt x="220" y="0"/>
                      <a:pt x="0" y="220"/>
                      <a:pt x="0" y="492"/>
                    </a:cubicBezTo>
                    <a:cubicBezTo>
                      <a:pt x="0" y="763"/>
                      <a:pt x="220" y="983"/>
                      <a:pt x="492" y="983"/>
                    </a:cubicBezTo>
                    <a:cubicBezTo>
                      <a:pt x="763" y="983"/>
                      <a:pt x="983" y="763"/>
                      <a:pt x="983" y="492"/>
                    </a:cubicBezTo>
                    <a:cubicBezTo>
                      <a:pt x="983" y="220"/>
                      <a:pt x="763" y="0"/>
                      <a:pt x="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Google Shape;198;p30"/>
              <p:cNvSpPr/>
              <p:nvPr/>
            </p:nvSpPr>
            <p:spPr>
              <a:xfrm>
                <a:off x="2319113" y="4238100"/>
                <a:ext cx="825" cy="825"/>
              </a:xfrm>
              <a:custGeom>
                <a:avLst/>
                <a:gdLst/>
                <a:ahLst/>
                <a:cxnLst/>
                <a:rect l="l" t="t" r="r" b="b"/>
                <a:pathLst>
                  <a:path w="33" h="33" extrusionOk="0">
                    <a:moveTo>
                      <a:pt x="16" y="0"/>
                    </a:moveTo>
                    <a:cubicBezTo>
                      <a:pt x="7" y="0"/>
                      <a:pt x="0" y="8"/>
                      <a:pt x="0" y="17"/>
                    </a:cubicBezTo>
                    <a:cubicBezTo>
                      <a:pt x="0" y="26"/>
                      <a:pt x="8" y="32"/>
                      <a:pt x="16" y="32"/>
                    </a:cubicBezTo>
                    <a:cubicBezTo>
                      <a:pt x="25" y="32"/>
                      <a:pt x="32" y="26"/>
                      <a:pt x="32" y="17"/>
                    </a:cubicBezTo>
                    <a:cubicBezTo>
                      <a:pt x="32" y="8"/>
                      <a:pt x="25" y="0"/>
                      <a:pt x="1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Google Shape;199;p30"/>
              <p:cNvSpPr/>
              <p:nvPr/>
            </p:nvSpPr>
            <p:spPr>
              <a:xfrm>
                <a:off x="2307213" y="4226225"/>
                <a:ext cx="24600" cy="24600"/>
              </a:xfrm>
              <a:custGeom>
                <a:avLst/>
                <a:gdLst/>
                <a:ahLst/>
                <a:cxnLst/>
                <a:rect l="l" t="t" r="r" b="b"/>
                <a:pathLst>
                  <a:path w="984" h="984" extrusionOk="0">
                    <a:moveTo>
                      <a:pt x="492" y="0"/>
                    </a:moveTo>
                    <a:cubicBezTo>
                      <a:pt x="220" y="0"/>
                      <a:pt x="0" y="220"/>
                      <a:pt x="0" y="492"/>
                    </a:cubicBezTo>
                    <a:cubicBezTo>
                      <a:pt x="0" y="763"/>
                      <a:pt x="220" y="983"/>
                      <a:pt x="492" y="983"/>
                    </a:cubicBezTo>
                    <a:cubicBezTo>
                      <a:pt x="763" y="983"/>
                      <a:pt x="983" y="763"/>
                      <a:pt x="983" y="492"/>
                    </a:cubicBezTo>
                    <a:cubicBezTo>
                      <a:pt x="983" y="220"/>
                      <a:pt x="763" y="0"/>
                      <a:pt x="49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Google Shape;200;p30"/>
              <p:cNvSpPr/>
              <p:nvPr/>
            </p:nvSpPr>
            <p:spPr>
              <a:xfrm>
                <a:off x="2131313" y="3941625"/>
                <a:ext cx="369675" cy="252950"/>
              </a:xfrm>
              <a:custGeom>
                <a:avLst/>
                <a:gdLst/>
                <a:ahLst/>
                <a:cxnLst/>
                <a:rect l="l" t="t" r="r" b="b"/>
                <a:pathLst>
                  <a:path w="14787" h="10118" extrusionOk="0">
                    <a:moveTo>
                      <a:pt x="7393" y="952"/>
                    </a:moveTo>
                    <a:cubicBezTo>
                      <a:pt x="9293" y="952"/>
                      <a:pt x="10894" y="2373"/>
                      <a:pt x="11117" y="4258"/>
                    </a:cubicBezTo>
                    <a:lnTo>
                      <a:pt x="11167" y="4678"/>
                    </a:lnTo>
                    <a:lnTo>
                      <a:pt x="11590" y="4678"/>
                    </a:lnTo>
                    <a:cubicBezTo>
                      <a:pt x="12828" y="4678"/>
                      <a:pt x="13834" y="5684"/>
                      <a:pt x="13834" y="6921"/>
                    </a:cubicBezTo>
                    <a:cubicBezTo>
                      <a:pt x="13834" y="8159"/>
                      <a:pt x="12828" y="9167"/>
                      <a:pt x="11590" y="9167"/>
                    </a:cubicBezTo>
                    <a:lnTo>
                      <a:pt x="3197" y="9167"/>
                    </a:lnTo>
                    <a:cubicBezTo>
                      <a:pt x="1959" y="9167"/>
                      <a:pt x="951" y="8159"/>
                      <a:pt x="951" y="6921"/>
                    </a:cubicBezTo>
                    <a:cubicBezTo>
                      <a:pt x="951" y="5684"/>
                      <a:pt x="1959" y="4678"/>
                      <a:pt x="3197" y="4678"/>
                    </a:cubicBezTo>
                    <a:lnTo>
                      <a:pt x="3620" y="4678"/>
                    </a:lnTo>
                    <a:lnTo>
                      <a:pt x="3668" y="4258"/>
                    </a:lnTo>
                    <a:cubicBezTo>
                      <a:pt x="3891" y="2373"/>
                      <a:pt x="5492" y="952"/>
                      <a:pt x="7393" y="952"/>
                    </a:cubicBezTo>
                    <a:close/>
                    <a:moveTo>
                      <a:pt x="7393" y="1"/>
                    </a:moveTo>
                    <a:cubicBezTo>
                      <a:pt x="5144" y="1"/>
                      <a:pt x="3230" y="1588"/>
                      <a:pt x="2787" y="3752"/>
                    </a:cubicBezTo>
                    <a:cubicBezTo>
                      <a:pt x="1217" y="3953"/>
                      <a:pt x="0" y="5298"/>
                      <a:pt x="0" y="6921"/>
                    </a:cubicBezTo>
                    <a:cubicBezTo>
                      <a:pt x="0" y="8684"/>
                      <a:pt x="1434" y="10118"/>
                      <a:pt x="3197" y="10118"/>
                    </a:cubicBezTo>
                    <a:lnTo>
                      <a:pt x="11590" y="10118"/>
                    </a:lnTo>
                    <a:cubicBezTo>
                      <a:pt x="13353" y="10118"/>
                      <a:pt x="14786" y="8684"/>
                      <a:pt x="14786" y="6921"/>
                    </a:cubicBezTo>
                    <a:cubicBezTo>
                      <a:pt x="14786" y="5298"/>
                      <a:pt x="13568" y="3953"/>
                      <a:pt x="11998" y="3752"/>
                    </a:cubicBezTo>
                    <a:cubicBezTo>
                      <a:pt x="11555" y="1588"/>
                      <a:pt x="9641" y="1"/>
                      <a:pt x="739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8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Did We Analyze?</a:t>
            </a:r>
            <a:endParaRPr dirty="0"/>
          </a:p>
        </p:txBody>
      </p:sp>
      <p:grpSp>
        <p:nvGrpSpPr>
          <p:cNvPr id="340" name="Google Shape;340;p38"/>
          <p:cNvGrpSpPr/>
          <p:nvPr/>
        </p:nvGrpSpPr>
        <p:grpSpPr>
          <a:xfrm>
            <a:off x="1368844" y="4026586"/>
            <a:ext cx="979899" cy="979899"/>
            <a:chOff x="3543304" y="1413970"/>
            <a:chExt cx="670200" cy="670200"/>
          </a:xfrm>
        </p:grpSpPr>
        <p:sp>
          <p:nvSpPr>
            <p:cNvPr id="341" name="Google Shape;341;p38"/>
            <p:cNvSpPr/>
            <p:nvPr/>
          </p:nvSpPr>
          <p:spPr>
            <a:xfrm>
              <a:off x="3543304" y="1413970"/>
              <a:ext cx="670200" cy="6702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38"/>
            <p:cNvSpPr/>
            <p:nvPr/>
          </p:nvSpPr>
          <p:spPr>
            <a:xfrm>
              <a:off x="3686075" y="1576200"/>
              <a:ext cx="384625" cy="309400"/>
            </a:xfrm>
            <a:custGeom>
              <a:avLst/>
              <a:gdLst/>
              <a:ahLst/>
              <a:cxnLst/>
              <a:rect l="l" t="t" r="r" b="b"/>
              <a:pathLst>
                <a:path w="15385" h="12376" extrusionOk="0">
                  <a:moveTo>
                    <a:pt x="9749" y="953"/>
                  </a:moveTo>
                  <a:cubicBezTo>
                    <a:pt x="11105" y="953"/>
                    <a:pt x="12249" y="1966"/>
                    <a:pt x="12407" y="3312"/>
                  </a:cubicBezTo>
                  <a:lnTo>
                    <a:pt x="12457" y="3732"/>
                  </a:lnTo>
                  <a:lnTo>
                    <a:pt x="12880" y="3732"/>
                  </a:lnTo>
                  <a:cubicBezTo>
                    <a:pt x="13737" y="3732"/>
                    <a:pt x="14434" y="4428"/>
                    <a:pt x="14434" y="5285"/>
                  </a:cubicBezTo>
                  <a:cubicBezTo>
                    <a:pt x="14434" y="5884"/>
                    <a:pt x="14097" y="6417"/>
                    <a:pt x="13575" y="6676"/>
                  </a:cubicBezTo>
                  <a:cubicBezTo>
                    <a:pt x="13131" y="6323"/>
                    <a:pt x="12591" y="6085"/>
                    <a:pt x="11999" y="6009"/>
                  </a:cubicBezTo>
                  <a:cubicBezTo>
                    <a:pt x="11560" y="3862"/>
                    <a:pt x="9673" y="2285"/>
                    <a:pt x="7451" y="2257"/>
                  </a:cubicBezTo>
                  <a:cubicBezTo>
                    <a:pt x="7926" y="1465"/>
                    <a:pt x="8793" y="953"/>
                    <a:pt x="9749" y="953"/>
                  </a:cubicBezTo>
                  <a:close/>
                  <a:moveTo>
                    <a:pt x="7393" y="3208"/>
                  </a:moveTo>
                  <a:cubicBezTo>
                    <a:pt x="9294" y="3208"/>
                    <a:pt x="10895" y="4630"/>
                    <a:pt x="11118" y="6514"/>
                  </a:cubicBezTo>
                  <a:lnTo>
                    <a:pt x="11168" y="6934"/>
                  </a:lnTo>
                  <a:lnTo>
                    <a:pt x="11591" y="6934"/>
                  </a:lnTo>
                  <a:cubicBezTo>
                    <a:pt x="12829" y="6934"/>
                    <a:pt x="13834" y="7941"/>
                    <a:pt x="13834" y="9179"/>
                  </a:cubicBezTo>
                  <a:cubicBezTo>
                    <a:pt x="13834" y="10417"/>
                    <a:pt x="12829" y="11423"/>
                    <a:pt x="11591" y="11423"/>
                  </a:cubicBezTo>
                  <a:lnTo>
                    <a:pt x="3197" y="11423"/>
                  </a:lnTo>
                  <a:cubicBezTo>
                    <a:pt x="1959" y="11423"/>
                    <a:pt x="952" y="10417"/>
                    <a:pt x="952" y="9179"/>
                  </a:cubicBezTo>
                  <a:cubicBezTo>
                    <a:pt x="952" y="7941"/>
                    <a:pt x="1959" y="6934"/>
                    <a:pt x="3197" y="6934"/>
                  </a:cubicBezTo>
                  <a:lnTo>
                    <a:pt x="3621" y="6934"/>
                  </a:lnTo>
                  <a:lnTo>
                    <a:pt x="3669" y="6514"/>
                  </a:lnTo>
                  <a:cubicBezTo>
                    <a:pt x="3892" y="4630"/>
                    <a:pt x="5493" y="3208"/>
                    <a:pt x="7393" y="3208"/>
                  </a:cubicBezTo>
                  <a:close/>
                  <a:moveTo>
                    <a:pt x="9749" y="0"/>
                  </a:moveTo>
                  <a:cubicBezTo>
                    <a:pt x="8223" y="0"/>
                    <a:pt x="6864" y="963"/>
                    <a:pt x="6344" y="2376"/>
                  </a:cubicBezTo>
                  <a:cubicBezTo>
                    <a:pt x="4570" y="2781"/>
                    <a:pt x="3161" y="4191"/>
                    <a:pt x="2788" y="6009"/>
                  </a:cubicBezTo>
                  <a:cubicBezTo>
                    <a:pt x="1218" y="6211"/>
                    <a:pt x="1" y="7555"/>
                    <a:pt x="1" y="9179"/>
                  </a:cubicBezTo>
                  <a:cubicBezTo>
                    <a:pt x="1" y="10941"/>
                    <a:pt x="1435" y="12376"/>
                    <a:pt x="3197" y="12376"/>
                  </a:cubicBezTo>
                  <a:lnTo>
                    <a:pt x="11591" y="12376"/>
                  </a:lnTo>
                  <a:cubicBezTo>
                    <a:pt x="13354" y="12376"/>
                    <a:pt x="14787" y="10941"/>
                    <a:pt x="14787" y="9179"/>
                  </a:cubicBezTo>
                  <a:cubicBezTo>
                    <a:pt x="14787" y="8518"/>
                    <a:pt x="14585" y="7902"/>
                    <a:pt x="14239" y="7392"/>
                  </a:cubicBezTo>
                  <a:cubicBezTo>
                    <a:pt x="14943" y="6940"/>
                    <a:pt x="15385" y="6157"/>
                    <a:pt x="15385" y="5285"/>
                  </a:cubicBezTo>
                  <a:cubicBezTo>
                    <a:pt x="15385" y="4041"/>
                    <a:pt x="14475" y="3007"/>
                    <a:pt x="13285" y="2813"/>
                  </a:cubicBezTo>
                  <a:cubicBezTo>
                    <a:pt x="12912" y="1185"/>
                    <a:pt x="11456" y="0"/>
                    <a:pt x="97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38"/>
          <p:cNvGrpSpPr/>
          <p:nvPr/>
        </p:nvGrpSpPr>
        <p:grpSpPr>
          <a:xfrm>
            <a:off x="7809562" y="897111"/>
            <a:ext cx="979899" cy="979899"/>
            <a:chOff x="800104" y="1413970"/>
            <a:chExt cx="670200" cy="670200"/>
          </a:xfrm>
        </p:grpSpPr>
        <p:sp>
          <p:nvSpPr>
            <p:cNvPr id="344" name="Google Shape;344;p38"/>
            <p:cNvSpPr/>
            <p:nvPr/>
          </p:nvSpPr>
          <p:spPr>
            <a:xfrm>
              <a:off x="800104" y="1413970"/>
              <a:ext cx="670200" cy="6702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38"/>
            <p:cNvSpPr/>
            <p:nvPr/>
          </p:nvSpPr>
          <p:spPr>
            <a:xfrm>
              <a:off x="944900" y="1594388"/>
              <a:ext cx="380575" cy="273025"/>
            </a:xfrm>
            <a:custGeom>
              <a:avLst/>
              <a:gdLst/>
              <a:ahLst/>
              <a:cxnLst/>
              <a:rect l="l" t="t" r="r" b="b"/>
              <a:pathLst>
                <a:path w="15223" h="10921" extrusionOk="0">
                  <a:moveTo>
                    <a:pt x="11323" y="1944"/>
                  </a:moveTo>
                  <a:cubicBezTo>
                    <a:pt x="12402" y="1944"/>
                    <a:pt x="13279" y="2821"/>
                    <a:pt x="13279" y="3900"/>
                  </a:cubicBezTo>
                  <a:cubicBezTo>
                    <a:pt x="13279" y="4241"/>
                    <a:pt x="13189" y="4575"/>
                    <a:pt x="13023" y="4867"/>
                  </a:cubicBezTo>
                  <a:cubicBezTo>
                    <a:pt x="12707" y="4708"/>
                    <a:pt x="12363" y="4600"/>
                    <a:pt x="12000" y="4553"/>
                  </a:cubicBezTo>
                  <a:cubicBezTo>
                    <a:pt x="11800" y="3581"/>
                    <a:pt x="11304" y="2725"/>
                    <a:pt x="10615" y="2078"/>
                  </a:cubicBezTo>
                  <a:cubicBezTo>
                    <a:pt x="10840" y="1991"/>
                    <a:pt x="11081" y="1944"/>
                    <a:pt x="11323" y="1944"/>
                  </a:cubicBezTo>
                  <a:close/>
                  <a:moveTo>
                    <a:pt x="7393" y="1755"/>
                  </a:moveTo>
                  <a:cubicBezTo>
                    <a:pt x="9294" y="1755"/>
                    <a:pt x="10896" y="3174"/>
                    <a:pt x="11117" y="5059"/>
                  </a:cubicBezTo>
                  <a:lnTo>
                    <a:pt x="11167" y="5479"/>
                  </a:lnTo>
                  <a:lnTo>
                    <a:pt x="11590" y="5479"/>
                  </a:lnTo>
                  <a:cubicBezTo>
                    <a:pt x="12828" y="5479"/>
                    <a:pt x="13836" y="6486"/>
                    <a:pt x="13836" y="7724"/>
                  </a:cubicBezTo>
                  <a:cubicBezTo>
                    <a:pt x="13836" y="8962"/>
                    <a:pt x="12828" y="9969"/>
                    <a:pt x="11590" y="9969"/>
                  </a:cubicBezTo>
                  <a:lnTo>
                    <a:pt x="3197" y="9969"/>
                  </a:lnTo>
                  <a:cubicBezTo>
                    <a:pt x="1959" y="9969"/>
                    <a:pt x="952" y="8962"/>
                    <a:pt x="952" y="7724"/>
                  </a:cubicBezTo>
                  <a:cubicBezTo>
                    <a:pt x="952" y="6486"/>
                    <a:pt x="1959" y="5479"/>
                    <a:pt x="3197" y="5479"/>
                  </a:cubicBezTo>
                  <a:lnTo>
                    <a:pt x="3620" y="5479"/>
                  </a:lnTo>
                  <a:lnTo>
                    <a:pt x="3670" y="5059"/>
                  </a:lnTo>
                  <a:cubicBezTo>
                    <a:pt x="3892" y="3174"/>
                    <a:pt x="5494" y="1755"/>
                    <a:pt x="7393" y="1755"/>
                  </a:cubicBezTo>
                  <a:close/>
                  <a:moveTo>
                    <a:pt x="10849" y="1"/>
                  </a:moveTo>
                  <a:lnTo>
                    <a:pt x="10849" y="1032"/>
                  </a:lnTo>
                  <a:cubicBezTo>
                    <a:pt x="10465" y="1096"/>
                    <a:pt x="10096" y="1237"/>
                    <a:pt x="9767" y="1445"/>
                  </a:cubicBezTo>
                  <a:cubicBezTo>
                    <a:pt x="9068" y="1036"/>
                    <a:pt x="8256" y="802"/>
                    <a:pt x="7394" y="802"/>
                  </a:cubicBezTo>
                  <a:cubicBezTo>
                    <a:pt x="5145" y="802"/>
                    <a:pt x="3232" y="2389"/>
                    <a:pt x="2787" y="4553"/>
                  </a:cubicBezTo>
                  <a:cubicBezTo>
                    <a:pt x="1217" y="4755"/>
                    <a:pt x="1" y="6099"/>
                    <a:pt x="1" y="7724"/>
                  </a:cubicBezTo>
                  <a:cubicBezTo>
                    <a:pt x="1" y="9487"/>
                    <a:pt x="1434" y="10920"/>
                    <a:pt x="3197" y="10920"/>
                  </a:cubicBezTo>
                  <a:lnTo>
                    <a:pt x="11590" y="10920"/>
                  </a:lnTo>
                  <a:cubicBezTo>
                    <a:pt x="13353" y="10920"/>
                    <a:pt x="14787" y="9487"/>
                    <a:pt x="14787" y="7724"/>
                  </a:cubicBezTo>
                  <a:cubicBezTo>
                    <a:pt x="14787" y="6818"/>
                    <a:pt x="14408" y="6001"/>
                    <a:pt x="13801" y="5418"/>
                  </a:cubicBezTo>
                  <a:cubicBezTo>
                    <a:pt x="13996" y="5098"/>
                    <a:pt x="14128" y="4745"/>
                    <a:pt x="14191" y="4374"/>
                  </a:cubicBezTo>
                  <a:lnTo>
                    <a:pt x="15222" y="4374"/>
                  </a:lnTo>
                  <a:lnTo>
                    <a:pt x="15222" y="3423"/>
                  </a:lnTo>
                  <a:lnTo>
                    <a:pt x="14191" y="3423"/>
                  </a:lnTo>
                  <a:cubicBezTo>
                    <a:pt x="14118" y="2976"/>
                    <a:pt x="13940" y="2563"/>
                    <a:pt x="13687" y="2208"/>
                  </a:cubicBezTo>
                  <a:lnTo>
                    <a:pt x="14417" y="1480"/>
                  </a:lnTo>
                  <a:lnTo>
                    <a:pt x="13743" y="806"/>
                  </a:lnTo>
                  <a:lnTo>
                    <a:pt x="13013" y="1536"/>
                  </a:lnTo>
                  <a:cubicBezTo>
                    <a:pt x="12660" y="1283"/>
                    <a:pt x="12247" y="1107"/>
                    <a:pt x="11800" y="1032"/>
                  </a:cubicBezTo>
                  <a:lnTo>
                    <a:pt x="11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4" name="Diagram 13">
            <a:extLst>
              <a:ext uri="{FF2B5EF4-FFF2-40B4-BE49-F238E27FC236}">
                <a16:creationId xmlns:a16="http://schemas.microsoft.com/office/drawing/2014/main" id="{8773ADCF-CBF6-9E7A-3FC1-3A25FC93F2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1163558"/>
              </p:ext>
            </p:extLst>
          </p:nvPr>
        </p:nvGraphicFramePr>
        <p:xfrm>
          <a:off x="720000" y="1112200"/>
          <a:ext cx="7703999" cy="325435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2F3BA43-7EBC-D478-C7DD-41FFED5A2F5E}"/>
              </a:ext>
            </a:extLst>
          </p:cNvPr>
          <p:cNvSpPr txBox="1"/>
          <p:nvPr/>
        </p:nvSpPr>
        <p:spPr>
          <a:xfrm>
            <a:off x="2439714" y="4336080"/>
            <a:ext cx="561252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>
                <a:latin typeface="+mn-lt"/>
              </a:rPr>
              <a:t>Note: Many customers of the retail company are wholesalers.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Did We Find the Patterns?</a:t>
            </a:r>
            <a:endParaRPr dirty="0"/>
          </a:p>
        </p:txBody>
      </p:sp>
      <p:grpSp>
        <p:nvGrpSpPr>
          <p:cNvPr id="359" name="Google Shape;359;p39"/>
          <p:cNvGrpSpPr/>
          <p:nvPr/>
        </p:nvGrpSpPr>
        <p:grpSpPr>
          <a:xfrm>
            <a:off x="7150664" y="3926137"/>
            <a:ext cx="979938" cy="979938"/>
            <a:chOff x="6347465" y="1403176"/>
            <a:chExt cx="1250400" cy="1250400"/>
          </a:xfrm>
        </p:grpSpPr>
        <p:sp>
          <p:nvSpPr>
            <p:cNvPr id="360" name="Google Shape;360;p39"/>
            <p:cNvSpPr/>
            <p:nvPr/>
          </p:nvSpPr>
          <p:spPr>
            <a:xfrm>
              <a:off x="6347465" y="1403176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9"/>
            <p:cNvSpPr/>
            <p:nvPr/>
          </p:nvSpPr>
          <p:spPr>
            <a:xfrm>
              <a:off x="6752174" y="1733874"/>
              <a:ext cx="441033" cy="589014"/>
            </a:xfrm>
            <a:custGeom>
              <a:avLst/>
              <a:gdLst/>
              <a:ahLst/>
              <a:cxnLst/>
              <a:rect l="l" t="t" r="r" b="b"/>
              <a:pathLst>
                <a:path w="11522" h="15388" extrusionOk="0">
                  <a:moveTo>
                    <a:pt x="5762" y="1590"/>
                  </a:moveTo>
                  <a:lnTo>
                    <a:pt x="9621" y="6757"/>
                  </a:lnTo>
                  <a:cubicBezTo>
                    <a:pt x="10243" y="7590"/>
                    <a:pt x="10571" y="8584"/>
                    <a:pt x="10571" y="9626"/>
                  </a:cubicBezTo>
                  <a:cubicBezTo>
                    <a:pt x="10571" y="12279"/>
                    <a:pt x="8414" y="14436"/>
                    <a:pt x="5762" y="14436"/>
                  </a:cubicBezTo>
                  <a:cubicBezTo>
                    <a:pt x="3109" y="14436"/>
                    <a:pt x="951" y="12279"/>
                    <a:pt x="951" y="9626"/>
                  </a:cubicBezTo>
                  <a:cubicBezTo>
                    <a:pt x="951" y="8584"/>
                    <a:pt x="1281" y="7590"/>
                    <a:pt x="1901" y="6757"/>
                  </a:cubicBezTo>
                  <a:lnTo>
                    <a:pt x="5762" y="1590"/>
                  </a:lnTo>
                  <a:close/>
                  <a:moveTo>
                    <a:pt x="5762" y="1"/>
                  </a:moveTo>
                  <a:lnTo>
                    <a:pt x="1138" y="6188"/>
                  </a:lnTo>
                  <a:cubicBezTo>
                    <a:pt x="393" y="7188"/>
                    <a:pt x="0" y="8377"/>
                    <a:pt x="0" y="9626"/>
                  </a:cubicBezTo>
                  <a:cubicBezTo>
                    <a:pt x="0" y="12804"/>
                    <a:pt x="2585" y="15387"/>
                    <a:pt x="5762" y="15387"/>
                  </a:cubicBezTo>
                  <a:cubicBezTo>
                    <a:pt x="8938" y="15387"/>
                    <a:pt x="11522" y="12802"/>
                    <a:pt x="11522" y="9626"/>
                  </a:cubicBezTo>
                  <a:cubicBezTo>
                    <a:pt x="11522" y="8377"/>
                    <a:pt x="11129" y="7188"/>
                    <a:pt x="10384" y="6188"/>
                  </a:cubicBezTo>
                  <a:lnTo>
                    <a:pt x="57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585;p47">
            <a:extLst>
              <a:ext uri="{FF2B5EF4-FFF2-40B4-BE49-F238E27FC236}">
                <a16:creationId xmlns:a16="http://schemas.microsoft.com/office/drawing/2014/main" id="{EC62DB0F-8F1F-DA1F-22FA-E52FA7C852CA}"/>
              </a:ext>
            </a:extLst>
          </p:cNvPr>
          <p:cNvSpPr/>
          <p:nvPr/>
        </p:nvSpPr>
        <p:spPr>
          <a:xfrm>
            <a:off x="7467834" y="831590"/>
            <a:ext cx="1020218" cy="1000148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dist="47625" dir="3480000" algn="bl" rotWithShape="0">
              <a:schemeClr val="dk1">
                <a:alpha val="1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586;p47">
            <a:extLst>
              <a:ext uri="{FF2B5EF4-FFF2-40B4-BE49-F238E27FC236}">
                <a16:creationId xmlns:a16="http://schemas.microsoft.com/office/drawing/2014/main" id="{B6B17AC9-35D8-EAE7-7563-062F031DA2C3}"/>
              </a:ext>
            </a:extLst>
          </p:cNvPr>
          <p:cNvSpPr/>
          <p:nvPr/>
        </p:nvSpPr>
        <p:spPr>
          <a:xfrm>
            <a:off x="7689631" y="1000878"/>
            <a:ext cx="605510" cy="630853"/>
          </a:xfrm>
          <a:custGeom>
            <a:avLst/>
            <a:gdLst/>
            <a:ahLst/>
            <a:cxnLst/>
            <a:rect l="l" t="t" r="r" b="b"/>
            <a:pathLst>
              <a:path w="15386" h="15386" extrusionOk="0">
                <a:moveTo>
                  <a:pt x="7693" y="3274"/>
                </a:moveTo>
                <a:cubicBezTo>
                  <a:pt x="10129" y="3274"/>
                  <a:pt x="12112" y="5257"/>
                  <a:pt x="12112" y="7693"/>
                </a:cubicBezTo>
                <a:cubicBezTo>
                  <a:pt x="12112" y="10131"/>
                  <a:pt x="10129" y="12114"/>
                  <a:pt x="7693" y="12114"/>
                </a:cubicBezTo>
                <a:cubicBezTo>
                  <a:pt x="5255" y="12114"/>
                  <a:pt x="3272" y="10131"/>
                  <a:pt x="3272" y="7693"/>
                </a:cubicBezTo>
                <a:cubicBezTo>
                  <a:pt x="3272" y="5257"/>
                  <a:pt x="5255" y="3274"/>
                  <a:pt x="7693" y="3274"/>
                </a:cubicBezTo>
                <a:close/>
                <a:moveTo>
                  <a:pt x="7216" y="1"/>
                </a:moveTo>
                <a:lnTo>
                  <a:pt x="7216" y="2343"/>
                </a:lnTo>
                <a:cubicBezTo>
                  <a:pt x="6092" y="2443"/>
                  <a:pt x="5067" y="2889"/>
                  <a:pt x="4248" y="3576"/>
                </a:cubicBezTo>
                <a:lnTo>
                  <a:pt x="2590" y="1918"/>
                </a:lnTo>
                <a:lnTo>
                  <a:pt x="1916" y="2590"/>
                </a:lnTo>
                <a:lnTo>
                  <a:pt x="3574" y="4248"/>
                </a:lnTo>
                <a:cubicBezTo>
                  <a:pt x="2888" y="5067"/>
                  <a:pt x="2441" y="6093"/>
                  <a:pt x="2342" y="7217"/>
                </a:cubicBezTo>
                <a:lnTo>
                  <a:pt x="0" y="7217"/>
                </a:lnTo>
                <a:lnTo>
                  <a:pt x="0" y="8170"/>
                </a:lnTo>
                <a:lnTo>
                  <a:pt x="2342" y="8170"/>
                </a:lnTo>
                <a:cubicBezTo>
                  <a:pt x="2442" y="9294"/>
                  <a:pt x="2888" y="10319"/>
                  <a:pt x="3576" y="11138"/>
                </a:cubicBezTo>
                <a:lnTo>
                  <a:pt x="1916" y="12796"/>
                </a:lnTo>
                <a:lnTo>
                  <a:pt x="2590" y="13470"/>
                </a:lnTo>
                <a:lnTo>
                  <a:pt x="4248" y="11812"/>
                </a:lnTo>
                <a:cubicBezTo>
                  <a:pt x="5067" y="12498"/>
                  <a:pt x="6092" y="12945"/>
                  <a:pt x="7216" y="13044"/>
                </a:cubicBezTo>
                <a:lnTo>
                  <a:pt x="7216" y="15386"/>
                </a:lnTo>
                <a:lnTo>
                  <a:pt x="8169" y="15386"/>
                </a:lnTo>
                <a:lnTo>
                  <a:pt x="8169" y="13044"/>
                </a:lnTo>
                <a:cubicBezTo>
                  <a:pt x="9293" y="12945"/>
                  <a:pt x="10319" y="12498"/>
                  <a:pt x="11138" y="11812"/>
                </a:cubicBezTo>
                <a:lnTo>
                  <a:pt x="12796" y="13470"/>
                </a:lnTo>
                <a:lnTo>
                  <a:pt x="13468" y="12796"/>
                </a:lnTo>
                <a:lnTo>
                  <a:pt x="11810" y="11138"/>
                </a:lnTo>
                <a:cubicBezTo>
                  <a:pt x="12497" y="10319"/>
                  <a:pt x="12943" y="9294"/>
                  <a:pt x="13043" y="8170"/>
                </a:cubicBezTo>
                <a:lnTo>
                  <a:pt x="15385" y="8170"/>
                </a:lnTo>
                <a:lnTo>
                  <a:pt x="15385" y="7217"/>
                </a:lnTo>
                <a:lnTo>
                  <a:pt x="13043" y="7217"/>
                </a:lnTo>
                <a:cubicBezTo>
                  <a:pt x="12943" y="6093"/>
                  <a:pt x="12497" y="5067"/>
                  <a:pt x="11810" y="4248"/>
                </a:cubicBezTo>
                <a:lnTo>
                  <a:pt x="13468" y="2590"/>
                </a:lnTo>
                <a:lnTo>
                  <a:pt x="12796" y="1918"/>
                </a:lnTo>
                <a:lnTo>
                  <a:pt x="11138" y="3576"/>
                </a:lnTo>
                <a:cubicBezTo>
                  <a:pt x="10319" y="2889"/>
                  <a:pt x="9293" y="2443"/>
                  <a:pt x="8167" y="2343"/>
                </a:cubicBezTo>
                <a:lnTo>
                  <a:pt x="8167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598001E-6DD9-8BF3-FACF-68A2E6AB5556}"/>
              </a:ext>
            </a:extLst>
          </p:cNvPr>
          <p:cNvSpPr txBox="1"/>
          <p:nvPr/>
        </p:nvSpPr>
        <p:spPr>
          <a:xfrm>
            <a:off x="720000" y="2585064"/>
            <a:ext cx="1573495" cy="578882"/>
          </a:xfrm>
          <a:prstGeom prst="roundRect">
            <a:avLst/>
          </a:prstGeom>
          <a:solidFill>
            <a:srgbClr val="183E5E"/>
          </a:solidFill>
          <a:ln w="28575">
            <a:solidFill>
              <a:srgbClr val="183E5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bg1"/>
                </a:solidFill>
              </a:rPr>
              <a:t>CLEAN</a:t>
            </a:r>
          </a:p>
          <a:p>
            <a:r>
              <a:rPr lang="en-CA" dirty="0">
                <a:solidFill>
                  <a:schemeClr val="bg1"/>
                </a:solidFill>
              </a:rPr>
              <a:t>Prepare data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DB35127-A92C-5B7F-C122-54103E95C308}"/>
              </a:ext>
            </a:extLst>
          </p:cNvPr>
          <p:cNvSpPr txBox="1"/>
          <p:nvPr/>
        </p:nvSpPr>
        <p:spPr>
          <a:xfrm>
            <a:off x="2635866" y="2465882"/>
            <a:ext cx="1573495" cy="817245"/>
          </a:xfrm>
          <a:prstGeom prst="roundRect">
            <a:avLst/>
          </a:prstGeom>
          <a:solidFill>
            <a:srgbClr val="183E5E"/>
          </a:solidFill>
          <a:ln w="28575">
            <a:solidFill>
              <a:srgbClr val="183E5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bg1"/>
                </a:solidFill>
              </a:rPr>
              <a:t>EXPLORE</a:t>
            </a:r>
          </a:p>
          <a:p>
            <a:r>
              <a:rPr lang="en-CA" dirty="0">
                <a:solidFill>
                  <a:schemeClr val="bg1"/>
                </a:solidFill>
              </a:rPr>
              <a:t>Find relationships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2B9047-F9AD-3A14-3B03-C65DBF8EA5B3}"/>
              </a:ext>
            </a:extLst>
          </p:cNvPr>
          <p:cNvSpPr txBox="1"/>
          <p:nvPr/>
        </p:nvSpPr>
        <p:spPr>
          <a:xfrm>
            <a:off x="4664883" y="1641487"/>
            <a:ext cx="1573495" cy="578882"/>
          </a:xfrm>
          <a:prstGeom prst="roundRect">
            <a:avLst/>
          </a:prstGeom>
          <a:solidFill>
            <a:srgbClr val="183E5E"/>
          </a:solidFill>
          <a:ln w="28575">
            <a:solidFill>
              <a:srgbClr val="183E5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bg1"/>
                </a:solidFill>
              </a:rPr>
              <a:t>CLUSTER</a:t>
            </a:r>
          </a:p>
          <a:p>
            <a:r>
              <a:rPr lang="en-CA" dirty="0">
                <a:solidFill>
                  <a:schemeClr val="bg1"/>
                </a:solidFill>
              </a:rPr>
              <a:t>Identify patterns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3AB97CE-01C6-D3B0-9C2B-B0447ED82BFC}"/>
              </a:ext>
            </a:extLst>
          </p:cNvPr>
          <p:cNvSpPr txBox="1"/>
          <p:nvPr/>
        </p:nvSpPr>
        <p:spPr>
          <a:xfrm>
            <a:off x="4664883" y="2465821"/>
            <a:ext cx="1514085" cy="817245"/>
          </a:xfrm>
          <a:prstGeom prst="roundRect">
            <a:avLst/>
          </a:prstGeom>
          <a:solidFill>
            <a:srgbClr val="183E5E"/>
          </a:solidFill>
          <a:ln w="28575">
            <a:solidFill>
              <a:srgbClr val="183E5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bg1"/>
                </a:solidFill>
              </a:rPr>
              <a:t>ASSOCIATE</a:t>
            </a:r>
          </a:p>
          <a:p>
            <a:r>
              <a:rPr lang="en-CA" dirty="0">
                <a:solidFill>
                  <a:schemeClr val="bg1"/>
                </a:solidFill>
              </a:rPr>
              <a:t>Find related purchases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888910E-AB0E-4804-A61E-0B8D8EB7DFB1}"/>
              </a:ext>
            </a:extLst>
          </p:cNvPr>
          <p:cNvSpPr txBox="1"/>
          <p:nvPr/>
        </p:nvSpPr>
        <p:spPr>
          <a:xfrm>
            <a:off x="6734464" y="2465882"/>
            <a:ext cx="1573495" cy="817245"/>
          </a:xfrm>
          <a:prstGeom prst="roundRect">
            <a:avLst/>
          </a:prstGeom>
          <a:solidFill>
            <a:srgbClr val="183E5E"/>
          </a:solidFill>
          <a:ln w="28575">
            <a:solidFill>
              <a:srgbClr val="183E5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bg1"/>
                </a:solidFill>
              </a:rPr>
              <a:t>ACT</a:t>
            </a:r>
          </a:p>
          <a:p>
            <a:r>
              <a:rPr lang="en-CA" dirty="0">
                <a:solidFill>
                  <a:schemeClr val="bg1"/>
                </a:solidFill>
              </a:rPr>
              <a:t>Business Insights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CFC24E5D-6B3E-EDCE-CA91-630B72DA5A26}"/>
              </a:ext>
            </a:extLst>
          </p:cNvPr>
          <p:cNvCxnSpPr/>
          <p:nvPr/>
        </p:nvCxnSpPr>
        <p:spPr>
          <a:xfrm flipV="1">
            <a:off x="4209361" y="1930928"/>
            <a:ext cx="455522" cy="943577"/>
          </a:xfrm>
          <a:prstGeom prst="bentConnector3">
            <a:avLst/>
          </a:prstGeom>
          <a:ln w="28575">
            <a:solidFill>
              <a:srgbClr val="183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or: Elbow 40">
            <a:extLst>
              <a:ext uri="{FF2B5EF4-FFF2-40B4-BE49-F238E27FC236}">
                <a16:creationId xmlns:a16="http://schemas.microsoft.com/office/drawing/2014/main" id="{F1972960-7DD7-DC94-55C1-050F77F79716}"/>
              </a:ext>
            </a:extLst>
          </p:cNvPr>
          <p:cNvCxnSpPr>
            <a:cxnSpLocks/>
            <a:stCxn id="28" idx="3"/>
            <a:endCxn id="3" idx="1"/>
          </p:cNvCxnSpPr>
          <p:nvPr/>
        </p:nvCxnSpPr>
        <p:spPr>
          <a:xfrm>
            <a:off x="4209361" y="2874505"/>
            <a:ext cx="455521" cy="1181817"/>
          </a:xfrm>
          <a:prstGeom prst="bentConnector3">
            <a:avLst>
              <a:gd name="adj1" fmla="val 50000"/>
            </a:avLst>
          </a:prstGeom>
          <a:ln w="28575">
            <a:solidFill>
              <a:srgbClr val="183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CA3268F1-F40D-DD0E-6024-26F6ED6DF759}"/>
              </a:ext>
            </a:extLst>
          </p:cNvPr>
          <p:cNvCxnSpPr/>
          <p:nvPr/>
        </p:nvCxnSpPr>
        <p:spPr>
          <a:xfrm>
            <a:off x="6238378" y="1930928"/>
            <a:ext cx="496086" cy="943577"/>
          </a:xfrm>
          <a:prstGeom prst="bentConnector3">
            <a:avLst>
              <a:gd name="adj1" fmla="val 43428"/>
            </a:avLst>
          </a:prstGeom>
          <a:ln w="28575">
            <a:solidFill>
              <a:srgbClr val="183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0CC22FC1-C5C3-751A-AECD-76E4978395DB}"/>
              </a:ext>
            </a:extLst>
          </p:cNvPr>
          <p:cNvCxnSpPr>
            <a:cxnSpLocks/>
            <a:stCxn id="3" idx="3"/>
            <a:endCxn id="34" idx="1"/>
          </p:cNvCxnSpPr>
          <p:nvPr/>
        </p:nvCxnSpPr>
        <p:spPr>
          <a:xfrm flipV="1">
            <a:off x="6178967" y="2874505"/>
            <a:ext cx="555497" cy="1181817"/>
          </a:xfrm>
          <a:prstGeom prst="bentConnector3">
            <a:avLst>
              <a:gd name="adj1" fmla="val 50000"/>
            </a:avLst>
          </a:prstGeom>
          <a:ln w="28575">
            <a:solidFill>
              <a:srgbClr val="183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F3B3D8BA-630F-59AC-29BD-6DAC3A4B9A51}"/>
              </a:ext>
            </a:extLst>
          </p:cNvPr>
          <p:cNvCxnSpPr>
            <a:cxnSpLocks/>
            <a:stCxn id="26" idx="3"/>
            <a:endCxn id="28" idx="1"/>
          </p:cNvCxnSpPr>
          <p:nvPr/>
        </p:nvCxnSpPr>
        <p:spPr>
          <a:xfrm>
            <a:off x="2293495" y="2874505"/>
            <a:ext cx="342371" cy="0"/>
          </a:xfrm>
          <a:prstGeom prst="straightConnector1">
            <a:avLst/>
          </a:prstGeom>
          <a:ln w="28575">
            <a:solidFill>
              <a:srgbClr val="183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38BDC56-D8F9-9CBE-2F52-49B13B98925F}"/>
              </a:ext>
            </a:extLst>
          </p:cNvPr>
          <p:cNvSpPr txBox="1"/>
          <p:nvPr/>
        </p:nvSpPr>
        <p:spPr>
          <a:xfrm>
            <a:off x="4664882" y="3528518"/>
            <a:ext cx="1514085" cy="1055608"/>
          </a:xfrm>
          <a:prstGeom prst="roundRect">
            <a:avLst/>
          </a:prstGeom>
          <a:solidFill>
            <a:srgbClr val="183E5E"/>
          </a:solidFill>
          <a:ln w="28575">
            <a:solidFill>
              <a:srgbClr val="183E5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CA" b="1" dirty="0">
                <a:solidFill>
                  <a:schemeClr val="bg1"/>
                </a:solidFill>
              </a:rPr>
              <a:t>CLASSIFY</a:t>
            </a:r>
          </a:p>
          <a:p>
            <a:r>
              <a:rPr lang="en-CA" dirty="0">
                <a:solidFill>
                  <a:schemeClr val="bg1"/>
                </a:solidFill>
              </a:rPr>
              <a:t>Predict Transactional Sales</a:t>
            </a:r>
          </a:p>
        </p:txBody>
      </p:sp>
      <p:cxnSp>
        <p:nvCxnSpPr>
          <p:cNvPr id="4" name="Connector: Elbow 3">
            <a:extLst>
              <a:ext uri="{FF2B5EF4-FFF2-40B4-BE49-F238E27FC236}">
                <a16:creationId xmlns:a16="http://schemas.microsoft.com/office/drawing/2014/main" id="{AC231ACD-5305-2D86-6D47-00AD18D16D0B}"/>
              </a:ext>
            </a:extLst>
          </p:cNvPr>
          <p:cNvCxnSpPr>
            <a:cxnSpLocks/>
            <a:stCxn id="28" idx="3"/>
            <a:endCxn id="32" idx="1"/>
          </p:cNvCxnSpPr>
          <p:nvPr/>
        </p:nvCxnSpPr>
        <p:spPr>
          <a:xfrm flipV="1">
            <a:off x="4209361" y="2874444"/>
            <a:ext cx="455522" cy="61"/>
          </a:xfrm>
          <a:prstGeom prst="bentConnector3">
            <a:avLst>
              <a:gd name="adj1" fmla="val 50000"/>
            </a:avLst>
          </a:prstGeom>
          <a:ln w="28575">
            <a:solidFill>
              <a:srgbClr val="183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5E298C15-1E5F-1F44-C329-F82E771B3F47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>
            <a:off x="6178968" y="2874444"/>
            <a:ext cx="555496" cy="61"/>
          </a:xfrm>
          <a:prstGeom prst="bentConnector3">
            <a:avLst>
              <a:gd name="adj1" fmla="val 50000"/>
            </a:avLst>
          </a:prstGeom>
          <a:ln w="28575">
            <a:solidFill>
              <a:srgbClr val="183E5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</a:rPr>
              <a:t>Three Different Purchasing Environments</a:t>
            </a:r>
            <a:endParaRPr dirty="0">
              <a:solidFill>
                <a:schemeClr val="dk1"/>
              </a:solidFill>
            </a:endParaRPr>
          </a:p>
        </p:txBody>
      </p:sp>
      <p:graphicFrame>
        <p:nvGraphicFramePr>
          <p:cNvPr id="432" name="Google Shape;432;p43"/>
          <p:cNvGraphicFramePr/>
          <p:nvPr>
            <p:extLst>
              <p:ext uri="{D42A27DB-BD31-4B8C-83A1-F6EECF244321}">
                <p14:modId xmlns:p14="http://schemas.microsoft.com/office/powerpoint/2010/main" val="1081422764"/>
              </p:ext>
            </p:extLst>
          </p:nvPr>
        </p:nvGraphicFramePr>
        <p:xfrm>
          <a:off x="719963" y="1380435"/>
          <a:ext cx="7577093" cy="3254240"/>
        </p:xfrm>
        <a:graphic>
          <a:graphicData uri="http://schemas.openxmlformats.org/drawingml/2006/table">
            <a:tbl>
              <a:tblPr>
                <a:noFill/>
                <a:tableStyleId>{989F6EFE-6EF4-450C-9C13-3FAD2116CB27}</a:tableStyleId>
              </a:tblPr>
              <a:tblGrid>
                <a:gridCol w="1894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78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2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26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6554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>
                        <a:solidFill>
                          <a:schemeClr val="dk1"/>
                        </a:solidFill>
                        <a:latin typeface="Oswald Medium"/>
                        <a:ea typeface="Oswald Medium"/>
                        <a:cs typeface="Oswald Medium"/>
                        <a:sym typeface="Oswald Medium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COLD</a:t>
                      </a:r>
                      <a:endParaRPr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"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WARM &amp; DRY</a:t>
                      </a:r>
                      <a:endParaRPr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"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endParaRPr lang="en"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Oswald"/>
                          <a:ea typeface="Oswald"/>
                          <a:cs typeface="Oswald"/>
                          <a:sym typeface="Oswald"/>
                        </a:rPr>
                        <a:t>WET, CLOUDY, &amp; WINDY</a:t>
                      </a:r>
                      <a:endParaRPr dirty="0">
                        <a:solidFill>
                          <a:schemeClr val="dk1"/>
                        </a:solidFill>
                        <a:latin typeface="Oswald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Oswald" panose="00000500000000000000" pitchFamily="2" charset="0"/>
                          <a:ea typeface="Segoe UI Historic" panose="020B0502040204020203" pitchFamily="34" charset="0"/>
                          <a:cs typeface="Segoe UI Historic" panose="020B0502040204020203" pitchFamily="34" charset="0"/>
                          <a:sym typeface="Oswald"/>
                        </a:rPr>
                        <a:t>TEMPERATURE (</a:t>
                      </a:r>
                      <a:r>
                        <a:rPr lang="en-CA" sz="1600" dirty="0">
                          <a:latin typeface="Oswald" panose="00000500000000000000" pitchFamily="2" charset="0"/>
                          <a:ea typeface="Segoe UI Historic" panose="020B0502040204020203" pitchFamily="34" charset="0"/>
                          <a:cs typeface="Segoe UI Historic" panose="020B0502040204020203" pitchFamily="34" charset="0"/>
                        </a:rPr>
                        <a:t>°C</a:t>
                      </a:r>
                      <a:r>
                        <a:rPr lang="en" sz="1600" dirty="0">
                          <a:solidFill>
                            <a:schemeClr val="dk1"/>
                          </a:solidFill>
                          <a:latin typeface="Oswald" panose="00000500000000000000" pitchFamily="2" charset="0"/>
                          <a:ea typeface="Segoe UI Historic" panose="020B0502040204020203" pitchFamily="34" charset="0"/>
                          <a:cs typeface="Segoe UI Historic" panose="020B0502040204020203" pitchFamily="34" charset="0"/>
                          <a:sym typeface="Oswald"/>
                        </a:rPr>
                        <a:t>)</a:t>
                      </a:r>
                      <a:endParaRPr sz="1600" dirty="0">
                        <a:solidFill>
                          <a:schemeClr val="dk1"/>
                        </a:solidFill>
                        <a:latin typeface="Oswald" panose="00000500000000000000" pitchFamily="2" charset="0"/>
                        <a:ea typeface="Segoe UI Historic" panose="020B0502040204020203" pitchFamily="34" charset="0"/>
                        <a:cs typeface="Segoe UI Historic" panose="020B0502040204020203" pitchFamily="34" charset="0"/>
                        <a:sym typeface="Oswa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Barlow" panose="00000500000000000000" pitchFamily="2" charset="0"/>
                          <a:ea typeface="Barlow"/>
                          <a:cs typeface="Barlow"/>
                          <a:sym typeface="Barlow"/>
                        </a:rPr>
                        <a:t>4.24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7D6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dirty="0">
                          <a:latin typeface="Barlow" panose="00000500000000000000" pitchFamily="2" charset="0"/>
                        </a:rPr>
                        <a:t>12.05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7D6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dirty="0">
                          <a:latin typeface="Barlow" panose="00000500000000000000" pitchFamily="2" charset="0"/>
                        </a:rPr>
                        <a:t>10.05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Oswald" panose="00000500000000000000" pitchFamily="2" charset="0"/>
                          <a:ea typeface="Oswald"/>
                          <a:cs typeface="Oswald"/>
                          <a:sym typeface="Oswald"/>
                        </a:rPr>
                        <a:t>RAIN (MM)</a:t>
                      </a:r>
                      <a:endParaRPr sz="1600" dirty="0">
                        <a:solidFill>
                          <a:schemeClr val="dk1"/>
                        </a:solidFill>
                        <a:latin typeface="Oswald" panose="00000500000000000000" pitchFamily="2" charset="0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dirty="0">
                          <a:latin typeface="Barlow" panose="00000500000000000000" pitchFamily="2" charset="0"/>
                        </a:rPr>
                        <a:t>1.15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dirty="0">
                          <a:latin typeface="Barlow" panose="00000500000000000000" pitchFamily="2" charset="0"/>
                        </a:rPr>
                        <a:t>0.92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7D6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dirty="0">
                          <a:latin typeface="Barlow" panose="00000500000000000000" pitchFamily="2" charset="0"/>
                        </a:rPr>
                        <a:t>3.95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7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Oswald" panose="00000500000000000000" pitchFamily="2" charset="0"/>
                          <a:ea typeface="Oswald"/>
                          <a:cs typeface="Oswald"/>
                          <a:sym typeface="Oswald"/>
                        </a:rPr>
                        <a:t>HUMIDITY (%)</a:t>
                      </a:r>
                      <a:endParaRPr sz="1600" dirty="0">
                        <a:solidFill>
                          <a:schemeClr val="dk1"/>
                        </a:solidFill>
                        <a:latin typeface="Oswald" panose="00000500000000000000" pitchFamily="2" charset="0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dirty="0">
                          <a:latin typeface="Barlow" panose="00000500000000000000" pitchFamily="2" charset="0"/>
                        </a:rPr>
                        <a:t>88.74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dirty="0">
                          <a:latin typeface="Barlow" panose="00000500000000000000" pitchFamily="2" charset="0"/>
                        </a:rPr>
                        <a:t>81.56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7D6F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dirty="0">
                          <a:latin typeface="Barlow" panose="00000500000000000000" pitchFamily="2" charset="0"/>
                        </a:rPr>
                        <a:t>89.11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7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dirty="0">
                          <a:solidFill>
                            <a:schemeClr val="dk1"/>
                          </a:solidFill>
                          <a:latin typeface="Oswald" panose="00000500000000000000" pitchFamily="2" charset="0"/>
                          <a:ea typeface="Oswald"/>
                          <a:cs typeface="Oswald"/>
                          <a:sym typeface="Oswald"/>
                        </a:rPr>
                        <a:t>WIND (KM/H)</a:t>
                      </a:r>
                      <a:endParaRPr sz="1600" dirty="0">
                        <a:solidFill>
                          <a:schemeClr val="dk1"/>
                        </a:solidFill>
                        <a:latin typeface="Oswald" panose="00000500000000000000" pitchFamily="2" charset="0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dirty="0">
                          <a:latin typeface="Barlow" panose="00000500000000000000" pitchFamily="2" charset="0"/>
                        </a:rPr>
                        <a:t>14.87</a:t>
                      </a:r>
                    </a:p>
                  </a:txBody>
                  <a:tcPr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dirty="0">
                          <a:latin typeface="Barlow" panose="00000500000000000000" pitchFamily="2" charset="0"/>
                        </a:rPr>
                        <a:t>12.17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dirty="0">
                          <a:latin typeface="Barlow" panose="00000500000000000000" pitchFamily="2" charset="0"/>
                        </a:rPr>
                        <a:t>19.05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7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5402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600" dirty="0">
                          <a:solidFill>
                            <a:schemeClr val="dk1"/>
                          </a:solidFill>
                          <a:latin typeface="Oswald" panose="00000500000000000000" pitchFamily="2" charset="0"/>
                          <a:ea typeface="Oswald"/>
                          <a:cs typeface="Oswald"/>
                          <a:sym typeface="Oswald"/>
                        </a:rPr>
                        <a:t>CLOUD COVER (%)</a:t>
                      </a:r>
                      <a:endParaRPr sz="1600" dirty="0">
                        <a:solidFill>
                          <a:schemeClr val="dk1"/>
                        </a:solidFill>
                        <a:latin typeface="Oswald" panose="00000500000000000000" pitchFamily="2" charset="0"/>
                        <a:ea typeface="Oswald"/>
                        <a:cs typeface="Oswald"/>
                        <a:sym typeface="Oswald"/>
                      </a:endParaRPr>
                    </a:p>
                  </a:txBody>
                  <a:tcPr marL="91425" marR="91425" marT="0" marB="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  <a:ea typeface="Arial"/>
                          <a:cs typeface="Arial"/>
                          <a:sym typeface="Arial"/>
                        </a:rPr>
                        <a:t>53.71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  <a:ea typeface="Arial"/>
                          <a:cs typeface="Arial"/>
                          <a:sym typeface="Arial"/>
                        </a:rPr>
                        <a:t>42.30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CA" sz="1400" b="0" i="0" u="none" strike="noStrike" cap="none" spc="0" dirty="0">
                          <a:solidFill>
                            <a:srgbClr val="000000"/>
                          </a:solidFill>
                          <a:effectLst/>
                          <a:latin typeface="Barlow" panose="00000500000000000000" pitchFamily="2" charset="0"/>
                          <a:ea typeface="Arial"/>
                          <a:cs typeface="Arial"/>
                          <a:sym typeface="Arial"/>
                        </a:rPr>
                        <a:t>69.09</a:t>
                      </a:r>
                      <a:endParaRPr dirty="0">
                        <a:solidFill>
                          <a:schemeClr val="dk1"/>
                        </a:solidFill>
                        <a:latin typeface="Barlow" panose="00000500000000000000" pitchFamily="2" charset="0"/>
                        <a:ea typeface="Barlow"/>
                        <a:cs typeface="Barlow"/>
                        <a:sym typeface="Barlow"/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A7D6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673977"/>
                  </a:ext>
                </a:extLst>
              </a:tr>
            </a:tbl>
          </a:graphicData>
        </a:graphic>
      </p:graphicFrame>
      <p:sp>
        <p:nvSpPr>
          <p:cNvPr id="5" name="Google Shape;564;p47">
            <a:extLst>
              <a:ext uri="{FF2B5EF4-FFF2-40B4-BE49-F238E27FC236}">
                <a16:creationId xmlns:a16="http://schemas.microsoft.com/office/drawing/2014/main" id="{6B1462D5-0CE7-63C4-54C1-6DF8C045CF35}"/>
              </a:ext>
            </a:extLst>
          </p:cNvPr>
          <p:cNvSpPr/>
          <p:nvPr/>
        </p:nvSpPr>
        <p:spPr>
          <a:xfrm>
            <a:off x="3364499" y="1510497"/>
            <a:ext cx="300046" cy="297656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dist="47625" dir="3480000" algn="bl" rotWithShape="0">
              <a:schemeClr val="dk1">
                <a:alpha val="1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" name="Google Shape;634;p47">
            <a:extLst>
              <a:ext uri="{FF2B5EF4-FFF2-40B4-BE49-F238E27FC236}">
                <a16:creationId xmlns:a16="http://schemas.microsoft.com/office/drawing/2014/main" id="{61CD7F1B-43EB-A459-DB68-E9B7B5D62DA7}"/>
              </a:ext>
            </a:extLst>
          </p:cNvPr>
          <p:cNvSpPr/>
          <p:nvPr/>
        </p:nvSpPr>
        <p:spPr>
          <a:xfrm>
            <a:off x="3421690" y="1549685"/>
            <a:ext cx="185663" cy="197847"/>
          </a:xfrm>
          <a:custGeom>
            <a:avLst/>
            <a:gdLst/>
            <a:ahLst/>
            <a:cxnLst/>
            <a:rect l="l" t="t" r="r" b="b"/>
            <a:pathLst>
              <a:path w="13799" h="15386" extrusionOk="0">
                <a:moveTo>
                  <a:pt x="6423" y="0"/>
                </a:moveTo>
                <a:lnTo>
                  <a:pt x="6423" y="1910"/>
                </a:lnTo>
                <a:lnTo>
                  <a:pt x="5402" y="887"/>
                </a:lnTo>
                <a:lnTo>
                  <a:pt x="4729" y="1561"/>
                </a:lnTo>
                <a:lnTo>
                  <a:pt x="6423" y="3255"/>
                </a:lnTo>
                <a:lnTo>
                  <a:pt x="6423" y="6869"/>
                </a:lnTo>
                <a:lnTo>
                  <a:pt x="3295" y="5062"/>
                </a:lnTo>
                <a:lnTo>
                  <a:pt x="2675" y="2747"/>
                </a:lnTo>
                <a:lnTo>
                  <a:pt x="1755" y="2993"/>
                </a:lnTo>
                <a:lnTo>
                  <a:pt x="2128" y="4389"/>
                </a:lnTo>
                <a:lnTo>
                  <a:pt x="475" y="3434"/>
                </a:lnTo>
                <a:lnTo>
                  <a:pt x="0" y="4258"/>
                </a:lnTo>
                <a:lnTo>
                  <a:pt x="1654" y="5212"/>
                </a:lnTo>
                <a:lnTo>
                  <a:pt x="258" y="5587"/>
                </a:lnTo>
                <a:lnTo>
                  <a:pt x="504" y="6506"/>
                </a:lnTo>
                <a:lnTo>
                  <a:pt x="2819" y="5886"/>
                </a:lnTo>
                <a:lnTo>
                  <a:pt x="5948" y="7693"/>
                </a:lnTo>
                <a:lnTo>
                  <a:pt x="2819" y="9499"/>
                </a:lnTo>
                <a:lnTo>
                  <a:pt x="504" y="8879"/>
                </a:lnTo>
                <a:lnTo>
                  <a:pt x="258" y="9798"/>
                </a:lnTo>
                <a:lnTo>
                  <a:pt x="1654" y="10171"/>
                </a:lnTo>
                <a:lnTo>
                  <a:pt x="0" y="11127"/>
                </a:lnTo>
                <a:lnTo>
                  <a:pt x="475" y="11951"/>
                </a:lnTo>
                <a:lnTo>
                  <a:pt x="2128" y="10997"/>
                </a:lnTo>
                <a:lnTo>
                  <a:pt x="1755" y="12392"/>
                </a:lnTo>
                <a:lnTo>
                  <a:pt x="2675" y="12638"/>
                </a:lnTo>
                <a:lnTo>
                  <a:pt x="3295" y="10323"/>
                </a:lnTo>
                <a:lnTo>
                  <a:pt x="6423" y="8516"/>
                </a:lnTo>
                <a:lnTo>
                  <a:pt x="6423" y="12130"/>
                </a:lnTo>
                <a:lnTo>
                  <a:pt x="4729" y="13824"/>
                </a:lnTo>
                <a:lnTo>
                  <a:pt x="5402" y="14496"/>
                </a:lnTo>
                <a:lnTo>
                  <a:pt x="6423" y="13475"/>
                </a:lnTo>
                <a:lnTo>
                  <a:pt x="6423" y="15385"/>
                </a:lnTo>
                <a:lnTo>
                  <a:pt x="7376" y="15385"/>
                </a:lnTo>
                <a:lnTo>
                  <a:pt x="7376" y="13475"/>
                </a:lnTo>
                <a:lnTo>
                  <a:pt x="8397" y="14496"/>
                </a:lnTo>
                <a:lnTo>
                  <a:pt x="9070" y="13824"/>
                </a:lnTo>
                <a:lnTo>
                  <a:pt x="7376" y="12130"/>
                </a:lnTo>
                <a:lnTo>
                  <a:pt x="7376" y="8516"/>
                </a:lnTo>
                <a:lnTo>
                  <a:pt x="10504" y="10323"/>
                </a:lnTo>
                <a:lnTo>
                  <a:pt x="11124" y="12638"/>
                </a:lnTo>
                <a:lnTo>
                  <a:pt x="12044" y="12392"/>
                </a:lnTo>
                <a:lnTo>
                  <a:pt x="11669" y="10997"/>
                </a:lnTo>
                <a:lnTo>
                  <a:pt x="13322" y="11951"/>
                </a:lnTo>
                <a:lnTo>
                  <a:pt x="13799" y="11127"/>
                </a:lnTo>
                <a:lnTo>
                  <a:pt x="12145" y="10171"/>
                </a:lnTo>
                <a:lnTo>
                  <a:pt x="13541" y="9798"/>
                </a:lnTo>
                <a:lnTo>
                  <a:pt x="13294" y="8879"/>
                </a:lnTo>
                <a:lnTo>
                  <a:pt x="10980" y="9499"/>
                </a:lnTo>
                <a:lnTo>
                  <a:pt x="7851" y="7693"/>
                </a:lnTo>
                <a:lnTo>
                  <a:pt x="10980" y="5886"/>
                </a:lnTo>
                <a:lnTo>
                  <a:pt x="13294" y="6506"/>
                </a:lnTo>
                <a:lnTo>
                  <a:pt x="13541" y="5587"/>
                </a:lnTo>
                <a:lnTo>
                  <a:pt x="12145" y="5212"/>
                </a:lnTo>
                <a:lnTo>
                  <a:pt x="13799" y="4258"/>
                </a:lnTo>
                <a:lnTo>
                  <a:pt x="13322" y="3434"/>
                </a:lnTo>
                <a:lnTo>
                  <a:pt x="11669" y="4389"/>
                </a:lnTo>
                <a:lnTo>
                  <a:pt x="12044" y="2993"/>
                </a:lnTo>
                <a:lnTo>
                  <a:pt x="11124" y="2747"/>
                </a:lnTo>
                <a:lnTo>
                  <a:pt x="10504" y="5062"/>
                </a:lnTo>
                <a:lnTo>
                  <a:pt x="7376" y="6867"/>
                </a:lnTo>
                <a:lnTo>
                  <a:pt x="7376" y="3255"/>
                </a:lnTo>
                <a:lnTo>
                  <a:pt x="9070" y="1561"/>
                </a:lnTo>
                <a:lnTo>
                  <a:pt x="8397" y="887"/>
                </a:lnTo>
                <a:lnTo>
                  <a:pt x="7376" y="1910"/>
                </a:lnTo>
                <a:lnTo>
                  <a:pt x="73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564;p47">
            <a:extLst>
              <a:ext uri="{FF2B5EF4-FFF2-40B4-BE49-F238E27FC236}">
                <a16:creationId xmlns:a16="http://schemas.microsoft.com/office/drawing/2014/main" id="{516AD5E4-FB76-2D58-C36C-99835749CEC2}"/>
              </a:ext>
            </a:extLst>
          </p:cNvPr>
          <p:cNvSpPr/>
          <p:nvPr/>
        </p:nvSpPr>
        <p:spPr>
          <a:xfrm>
            <a:off x="5270572" y="1510497"/>
            <a:ext cx="300046" cy="297656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dist="47625" dir="3480000" algn="bl" rotWithShape="0">
              <a:schemeClr val="dk1">
                <a:alpha val="1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9" name="Google Shape;636;p47">
            <a:extLst>
              <a:ext uri="{FF2B5EF4-FFF2-40B4-BE49-F238E27FC236}">
                <a16:creationId xmlns:a16="http://schemas.microsoft.com/office/drawing/2014/main" id="{9B7B605D-2759-8AAA-4000-20A8DD1D6711}"/>
              </a:ext>
            </a:extLst>
          </p:cNvPr>
          <p:cNvSpPr/>
          <p:nvPr/>
        </p:nvSpPr>
        <p:spPr>
          <a:xfrm>
            <a:off x="5308997" y="1544021"/>
            <a:ext cx="226276" cy="218442"/>
          </a:xfrm>
          <a:custGeom>
            <a:avLst/>
            <a:gdLst/>
            <a:ahLst/>
            <a:cxnLst/>
            <a:rect l="l" t="t" r="r" b="b"/>
            <a:pathLst>
              <a:path w="15386" h="15386" extrusionOk="0">
                <a:moveTo>
                  <a:pt x="7693" y="3272"/>
                </a:moveTo>
                <a:cubicBezTo>
                  <a:pt x="10130" y="3272"/>
                  <a:pt x="12112" y="5255"/>
                  <a:pt x="12112" y="7693"/>
                </a:cubicBezTo>
                <a:cubicBezTo>
                  <a:pt x="12112" y="10129"/>
                  <a:pt x="10130" y="12112"/>
                  <a:pt x="7693" y="12112"/>
                </a:cubicBezTo>
                <a:cubicBezTo>
                  <a:pt x="5256" y="12112"/>
                  <a:pt x="3273" y="10129"/>
                  <a:pt x="3273" y="7693"/>
                </a:cubicBezTo>
                <a:cubicBezTo>
                  <a:pt x="3273" y="5255"/>
                  <a:pt x="5256" y="3272"/>
                  <a:pt x="7693" y="3272"/>
                </a:cubicBezTo>
                <a:close/>
                <a:moveTo>
                  <a:pt x="7217" y="0"/>
                </a:moveTo>
                <a:lnTo>
                  <a:pt x="7217" y="2342"/>
                </a:lnTo>
                <a:cubicBezTo>
                  <a:pt x="6093" y="2442"/>
                  <a:pt x="5067" y="2888"/>
                  <a:pt x="4248" y="3576"/>
                </a:cubicBezTo>
                <a:lnTo>
                  <a:pt x="2590" y="1916"/>
                </a:lnTo>
                <a:lnTo>
                  <a:pt x="1917" y="2589"/>
                </a:lnTo>
                <a:lnTo>
                  <a:pt x="3575" y="4248"/>
                </a:lnTo>
                <a:cubicBezTo>
                  <a:pt x="2889" y="5067"/>
                  <a:pt x="2442" y="6092"/>
                  <a:pt x="2343" y="7216"/>
                </a:cubicBezTo>
                <a:lnTo>
                  <a:pt x="1" y="7216"/>
                </a:lnTo>
                <a:lnTo>
                  <a:pt x="1" y="8169"/>
                </a:lnTo>
                <a:lnTo>
                  <a:pt x="2343" y="8169"/>
                </a:lnTo>
                <a:cubicBezTo>
                  <a:pt x="2442" y="9293"/>
                  <a:pt x="2889" y="10319"/>
                  <a:pt x="3575" y="11138"/>
                </a:cubicBezTo>
                <a:lnTo>
                  <a:pt x="1917" y="12796"/>
                </a:lnTo>
                <a:lnTo>
                  <a:pt x="2590" y="13468"/>
                </a:lnTo>
                <a:lnTo>
                  <a:pt x="4248" y="11810"/>
                </a:lnTo>
                <a:cubicBezTo>
                  <a:pt x="5067" y="12497"/>
                  <a:pt x="6093" y="12943"/>
                  <a:pt x="7217" y="13043"/>
                </a:cubicBezTo>
                <a:lnTo>
                  <a:pt x="7217" y="15385"/>
                </a:lnTo>
                <a:lnTo>
                  <a:pt x="8168" y="15385"/>
                </a:lnTo>
                <a:lnTo>
                  <a:pt x="8168" y="13043"/>
                </a:lnTo>
                <a:cubicBezTo>
                  <a:pt x="9294" y="12943"/>
                  <a:pt x="10319" y="12497"/>
                  <a:pt x="11138" y="11810"/>
                </a:cubicBezTo>
                <a:lnTo>
                  <a:pt x="12796" y="13468"/>
                </a:lnTo>
                <a:lnTo>
                  <a:pt x="13469" y="12796"/>
                </a:lnTo>
                <a:lnTo>
                  <a:pt x="11810" y="11138"/>
                </a:lnTo>
                <a:cubicBezTo>
                  <a:pt x="12498" y="10319"/>
                  <a:pt x="12944" y="9293"/>
                  <a:pt x="13044" y="8169"/>
                </a:cubicBezTo>
                <a:lnTo>
                  <a:pt x="15386" y="8169"/>
                </a:lnTo>
                <a:lnTo>
                  <a:pt x="15386" y="7216"/>
                </a:lnTo>
                <a:lnTo>
                  <a:pt x="13044" y="7216"/>
                </a:lnTo>
                <a:cubicBezTo>
                  <a:pt x="12944" y="6092"/>
                  <a:pt x="12498" y="5067"/>
                  <a:pt x="11810" y="4248"/>
                </a:cubicBezTo>
                <a:lnTo>
                  <a:pt x="13469" y="2589"/>
                </a:lnTo>
                <a:lnTo>
                  <a:pt x="12796" y="1916"/>
                </a:lnTo>
                <a:lnTo>
                  <a:pt x="11138" y="3574"/>
                </a:lnTo>
                <a:cubicBezTo>
                  <a:pt x="10319" y="2888"/>
                  <a:pt x="9294" y="2441"/>
                  <a:pt x="8168" y="2342"/>
                </a:cubicBezTo>
                <a:lnTo>
                  <a:pt x="8168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564;p47">
            <a:extLst>
              <a:ext uri="{FF2B5EF4-FFF2-40B4-BE49-F238E27FC236}">
                <a16:creationId xmlns:a16="http://schemas.microsoft.com/office/drawing/2014/main" id="{6580D00B-E86F-738D-7DF8-0972140071CC}"/>
              </a:ext>
            </a:extLst>
          </p:cNvPr>
          <p:cNvSpPr/>
          <p:nvPr/>
        </p:nvSpPr>
        <p:spPr>
          <a:xfrm>
            <a:off x="7231427" y="1510497"/>
            <a:ext cx="300046" cy="297656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dist="47625" dir="3480000" algn="bl" rotWithShape="0">
              <a:schemeClr val="dk1">
                <a:alpha val="1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27" name="Google Shape;621;p47">
            <a:extLst>
              <a:ext uri="{FF2B5EF4-FFF2-40B4-BE49-F238E27FC236}">
                <a16:creationId xmlns:a16="http://schemas.microsoft.com/office/drawing/2014/main" id="{4EA8CBF9-672C-CC5C-BB60-761EFE207A3D}"/>
              </a:ext>
            </a:extLst>
          </p:cNvPr>
          <p:cNvGrpSpPr/>
          <p:nvPr/>
        </p:nvGrpSpPr>
        <p:grpSpPr>
          <a:xfrm>
            <a:off x="7298494" y="1581004"/>
            <a:ext cx="165911" cy="156641"/>
            <a:chOff x="3262388" y="3912625"/>
            <a:chExt cx="369700" cy="365425"/>
          </a:xfrm>
        </p:grpSpPr>
        <p:sp>
          <p:nvSpPr>
            <p:cNvPr id="28" name="Google Shape;622;p47">
              <a:extLst>
                <a:ext uri="{FF2B5EF4-FFF2-40B4-BE49-F238E27FC236}">
                  <a16:creationId xmlns:a16="http://schemas.microsoft.com/office/drawing/2014/main" id="{183FB417-6E4A-E21E-F41B-94BF5BF86FFF}"/>
                </a:ext>
              </a:extLst>
            </p:cNvPr>
            <p:cNvSpPr/>
            <p:nvPr/>
          </p:nvSpPr>
          <p:spPr>
            <a:xfrm>
              <a:off x="3330413" y="4230625"/>
              <a:ext cx="23800" cy="47425"/>
            </a:xfrm>
            <a:custGeom>
              <a:avLst/>
              <a:gdLst/>
              <a:ahLst/>
              <a:cxnLst/>
              <a:rect l="l" t="t" r="r" b="b"/>
              <a:pathLst>
                <a:path w="952" h="1897" extrusionOk="0">
                  <a:moveTo>
                    <a:pt x="1" y="0"/>
                  </a:moveTo>
                  <a:lnTo>
                    <a:pt x="1" y="1897"/>
                  </a:lnTo>
                  <a:lnTo>
                    <a:pt x="952" y="1897"/>
                  </a:lnTo>
                  <a:lnTo>
                    <a:pt x="952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623;p47">
              <a:extLst>
                <a:ext uri="{FF2B5EF4-FFF2-40B4-BE49-F238E27FC236}">
                  <a16:creationId xmlns:a16="http://schemas.microsoft.com/office/drawing/2014/main" id="{1569411E-B3A1-E74A-FDB7-C1B5D567A71E}"/>
                </a:ext>
              </a:extLst>
            </p:cNvPr>
            <p:cNvSpPr/>
            <p:nvPr/>
          </p:nvSpPr>
          <p:spPr>
            <a:xfrm>
              <a:off x="3470288" y="4246475"/>
              <a:ext cx="23825" cy="31575"/>
            </a:xfrm>
            <a:custGeom>
              <a:avLst/>
              <a:gdLst/>
              <a:ahLst/>
              <a:cxnLst/>
              <a:rect l="l" t="t" r="r" b="b"/>
              <a:pathLst>
                <a:path w="953" h="1263" extrusionOk="0">
                  <a:moveTo>
                    <a:pt x="0" y="0"/>
                  </a:moveTo>
                  <a:lnTo>
                    <a:pt x="0" y="1263"/>
                  </a:lnTo>
                  <a:lnTo>
                    <a:pt x="953" y="1263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624;p47">
              <a:extLst>
                <a:ext uri="{FF2B5EF4-FFF2-40B4-BE49-F238E27FC236}">
                  <a16:creationId xmlns:a16="http://schemas.microsoft.com/office/drawing/2014/main" id="{301006A4-37B5-F0A9-460B-CBB7A13B6961}"/>
                </a:ext>
              </a:extLst>
            </p:cNvPr>
            <p:cNvSpPr/>
            <p:nvPr/>
          </p:nvSpPr>
          <p:spPr>
            <a:xfrm>
              <a:off x="3262388" y="3912625"/>
              <a:ext cx="369700" cy="365425"/>
            </a:xfrm>
            <a:custGeom>
              <a:avLst/>
              <a:gdLst/>
              <a:ahLst/>
              <a:cxnLst/>
              <a:rect l="l" t="t" r="r" b="b"/>
              <a:pathLst>
                <a:path w="14788" h="14617" extrusionOk="0">
                  <a:moveTo>
                    <a:pt x="7394" y="952"/>
                  </a:moveTo>
                  <a:cubicBezTo>
                    <a:pt x="9295" y="952"/>
                    <a:pt x="10895" y="2373"/>
                    <a:pt x="11118" y="4257"/>
                  </a:cubicBezTo>
                  <a:lnTo>
                    <a:pt x="11167" y="4677"/>
                  </a:lnTo>
                  <a:lnTo>
                    <a:pt x="11590" y="4677"/>
                  </a:lnTo>
                  <a:cubicBezTo>
                    <a:pt x="12828" y="4677"/>
                    <a:pt x="13835" y="5685"/>
                    <a:pt x="13835" y="6922"/>
                  </a:cubicBezTo>
                  <a:cubicBezTo>
                    <a:pt x="13835" y="8160"/>
                    <a:pt x="12828" y="9166"/>
                    <a:pt x="11590" y="9166"/>
                  </a:cubicBezTo>
                  <a:lnTo>
                    <a:pt x="3196" y="9166"/>
                  </a:lnTo>
                  <a:cubicBezTo>
                    <a:pt x="1959" y="9166"/>
                    <a:pt x="953" y="8160"/>
                    <a:pt x="953" y="6922"/>
                  </a:cubicBezTo>
                  <a:cubicBezTo>
                    <a:pt x="953" y="5685"/>
                    <a:pt x="1960" y="4677"/>
                    <a:pt x="3196" y="4677"/>
                  </a:cubicBezTo>
                  <a:lnTo>
                    <a:pt x="3620" y="4677"/>
                  </a:lnTo>
                  <a:lnTo>
                    <a:pt x="3670" y="4257"/>
                  </a:lnTo>
                  <a:cubicBezTo>
                    <a:pt x="3893" y="2373"/>
                    <a:pt x="5493" y="952"/>
                    <a:pt x="7394" y="952"/>
                  </a:cubicBezTo>
                  <a:close/>
                  <a:moveTo>
                    <a:pt x="7394" y="0"/>
                  </a:moveTo>
                  <a:cubicBezTo>
                    <a:pt x="5146" y="0"/>
                    <a:pt x="3231" y="1587"/>
                    <a:pt x="2788" y="3752"/>
                  </a:cubicBezTo>
                  <a:cubicBezTo>
                    <a:pt x="1218" y="3954"/>
                    <a:pt x="0" y="5298"/>
                    <a:pt x="0" y="6922"/>
                  </a:cubicBezTo>
                  <a:cubicBezTo>
                    <a:pt x="0" y="8546"/>
                    <a:pt x="1183" y="9852"/>
                    <a:pt x="2722" y="10082"/>
                  </a:cubicBezTo>
                  <a:lnTo>
                    <a:pt x="2722" y="11549"/>
                  </a:lnTo>
                  <a:lnTo>
                    <a:pt x="3673" y="11549"/>
                  </a:lnTo>
                  <a:lnTo>
                    <a:pt x="3673" y="10119"/>
                  </a:lnTo>
                  <a:lnTo>
                    <a:pt x="5519" y="10119"/>
                  </a:lnTo>
                  <a:lnTo>
                    <a:pt x="5519" y="14617"/>
                  </a:lnTo>
                  <a:lnTo>
                    <a:pt x="6470" y="14617"/>
                  </a:lnTo>
                  <a:lnTo>
                    <a:pt x="6470" y="10119"/>
                  </a:lnTo>
                  <a:lnTo>
                    <a:pt x="8316" y="10119"/>
                  </a:lnTo>
                  <a:lnTo>
                    <a:pt x="8316" y="12183"/>
                  </a:lnTo>
                  <a:lnTo>
                    <a:pt x="9269" y="12183"/>
                  </a:lnTo>
                  <a:lnTo>
                    <a:pt x="9269" y="10119"/>
                  </a:lnTo>
                  <a:lnTo>
                    <a:pt x="11115" y="10119"/>
                  </a:lnTo>
                  <a:lnTo>
                    <a:pt x="11115" y="14617"/>
                  </a:lnTo>
                  <a:lnTo>
                    <a:pt x="12066" y="14617"/>
                  </a:lnTo>
                  <a:lnTo>
                    <a:pt x="12066" y="10082"/>
                  </a:lnTo>
                  <a:cubicBezTo>
                    <a:pt x="13605" y="9853"/>
                    <a:pt x="14788" y="8523"/>
                    <a:pt x="14788" y="6922"/>
                  </a:cubicBezTo>
                  <a:lnTo>
                    <a:pt x="14786" y="6922"/>
                  </a:lnTo>
                  <a:cubicBezTo>
                    <a:pt x="14786" y="5298"/>
                    <a:pt x="13570" y="3954"/>
                    <a:pt x="12000" y="3752"/>
                  </a:cubicBezTo>
                  <a:cubicBezTo>
                    <a:pt x="11557" y="1587"/>
                    <a:pt x="9642" y="0"/>
                    <a:pt x="739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Wet, Cloudy &amp; Windy Conditions Are Associated With Larger Purchases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409" name="Google Shape;409;p42"/>
          <p:cNvSpPr txBox="1"/>
          <p:nvPr/>
        </p:nvSpPr>
        <p:spPr>
          <a:xfrm>
            <a:off x="5741565" y="2333584"/>
            <a:ext cx="2612579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12.19 Avg. Units</a:t>
            </a:r>
            <a:endParaRPr sz="24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13" name="Google Shape;413;p42"/>
          <p:cNvSpPr txBox="1"/>
          <p:nvPr/>
        </p:nvSpPr>
        <p:spPr>
          <a:xfrm>
            <a:off x="6372307" y="3600058"/>
            <a:ext cx="15846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</a:t>
            </a:r>
            <a:r>
              <a:rPr lang="en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han cold conditions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416" name="Google Shape;416;p42"/>
          <p:cNvSpPr txBox="1"/>
          <p:nvPr/>
        </p:nvSpPr>
        <p:spPr>
          <a:xfrm>
            <a:off x="6372289" y="3281294"/>
            <a:ext cx="1584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81% MORE</a:t>
            </a:r>
            <a:endParaRPr sz="24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grpSp>
        <p:nvGrpSpPr>
          <p:cNvPr id="420" name="Google Shape;420;p42"/>
          <p:cNvGrpSpPr/>
          <p:nvPr/>
        </p:nvGrpSpPr>
        <p:grpSpPr>
          <a:xfrm>
            <a:off x="7888702" y="193985"/>
            <a:ext cx="979800" cy="979800"/>
            <a:chOff x="7444052" y="1945310"/>
            <a:chExt cx="979800" cy="979800"/>
          </a:xfrm>
        </p:grpSpPr>
        <p:sp>
          <p:nvSpPr>
            <p:cNvPr id="421" name="Google Shape;421;p42"/>
            <p:cNvSpPr/>
            <p:nvPr/>
          </p:nvSpPr>
          <p:spPr>
            <a:xfrm>
              <a:off x="7444052" y="1945310"/>
              <a:ext cx="979800" cy="979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22" name="Google Shape;422;p42"/>
            <p:cNvGrpSpPr/>
            <p:nvPr/>
          </p:nvGrpSpPr>
          <p:grpSpPr>
            <a:xfrm>
              <a:off x="7677149" y="2238043"/>
              <a:ext cx="513623" cy="394314"/>
              <a:chOff x="1000166" y="3942302"/>
              <a:chExt cx="384650" cy="295300"/>
            </a:xfrm>
          </p:grpSpPr>
          <p:sp>
            <p:nvSpPr>
              <p:cNvPr id="423" name="Google Shape;423;p42"/>
              <p:cNvSpPr/>
              <p:nvPr/>
            </p:nvSpPr>
            <p:spPr>
              <a:xfrm>
                <a:off x="1000166" y="3942302"/>
                <a:ext cx="26245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10498" h="3672" extrusionOk="0">
                    <a:moveTo>
                      <a:pt x="8028" y="0"/>
                    </a:moveTo>
                    <a:lnTo>
                      <a:pt x="8028" y="951"/>
                    </a:lnTo>
                    <a:lnTo>
                      <a:pt x="8662" y="951"/>
                    </a:lnTo>
                    <a:cubicBezTo>
                      <a:pt x="9149" y="951"/>
                      <a:pt x="9546" y="1349"/>
                      <a:pt x="9546" y="1836"/>
                    </a:cubicBezTo>
                    <a:cubicBezTo>
                      <a:pt x="9546" y="2323"/>
                      <a:pt x="9149" y="2719"/>
                      <a:pt x="8662" y="2719"/>
                    </a:cubicBezTo>
                    <a:lnTo>
                      <a:pt x="0" y="2719"/>
                    </a:lnTo>
                    <a:lnTo>
                      <a:pt x="0" y="3671"/>
                    </a:lnTo>
                    <a:lnTo>
                      <a:pt x="8662" y="3671"/>
                    </a:lnTo>
                    <a:cubicBezTo>
                      <a:pt x="9674" y="3671"/>
                      <a:pt x="10498" y="2848"/>
                      <a:pt x="10498" y="1836"/>
                    </a:cubicBezTo>
                    <a:cubicBezTo>
                      <a:pt x="10498" y="824"/>
                      <a:pt x="9674" y="0"/>
                      <a:pt x="86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Google Shape;424;p42"/>
              <p:cNvSpPr/>
              <p:nvPr/>
            </p:nvSpPr>
            <p:spPr>
              <a:xfrm>
                <a:off x="1000166" y="4145802"/>
                <a:ext cx="32355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12942" h="3672" extrusionOk="0">
                    <a:moveTo>
                      <a:pt x="0" y="0"/>
                    </a:moveTo>
                    <a:lnTo>
                      <a:pt x="0" y="952"/>
                    </a:lnTo>
                    <a:lnTo>
                      <a:pt x="11106" y="952"/>
                    </a:lnTo>
                    <a:cubicBezTo>
                      <a:pt x="11593" y="952"/>
                      <a:pt x="11990" y="1349"/>
                      <a:pt x="11990" y="1836"/>
                    </a:cubicBezTo>
                    <a:cubicBezTo>
                      <a:pt x="11990" y="2323"/>
                      <a:pt x="11593" y="2719"/>
                      <a:pt x="11106" y="2719"/>
                    </a:cubicBezTo>
                    <a:lnTo>
                      <a:pt x="10472" y="2719"/>
                    </a:lnTo>
                    <a:lnTo>
                      <a:pt x="10472" y="3672"/>
                    </a:lnTo>
                    <a:lnTo>
                      <a:pt x="11106" y="3672"/>
                    </a:lnTo>
                    <a:cubicBezTo>
                      <a:pt x="12118" y="3672"/>
                      <a:pt x="12941" y="2848"/>
                      <a:pt x="12941" y="1836"/>
                    </a:cubicBezTo>
                    <a:cubicBezTo>
                      <a:pt x="12941" y="824"/>
                      <a:pt x="12118" y="0"/>
                      <a:pt x="111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Google Shape;425;p42"/>
              <p:cNvSpPr/>
              <p:nvPr/>
            </p:nvSpPr>
            <p:spPr>
              <a:xfrm>
                <a:off x="1135841" y="4078027"/>
                <a:ext cx="248975" cy="23850"/>
              </a:xfrm>
              <a:custGeom>
                <a:avLst/>
                <a:gdLst/>
                <a:ahLst/>
                <a:cxnLst/>
                <a:rect l="l" t="t" r="r" b="b"/>
                <a:pathLst>
                  <a:path w="9959" h="954" extrusionOk="0">
                    <a:moveTo>
                      <a:pt x="1" y="1"/>
                    </a:moveTo>
                    <a:lnTo>
                      <a:pt x="1" y="953"/>
                    </a:lnTo>
                    <a:lnTo>
                      <a:pt x="9958" y="953"/>
                    </a:lnTo>
                    <a:lnTo>
                      <a:pt x="995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Google Shape;426;p42"/>
              <p:cNvSpPr/>
              <p:nvPr/>
            </p:nvSpPr>
            <p:spPr>
              <a:xfrm>
                <a:off x="1000166" y="4078027"/>
                <a:ext cx="97600" cy="238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954" extrusionOk="0">
                    <a:moveTo>
                      <a:pt x="0" y="1"/>
                    </a:moveTo>
                    <a:lnTo>
                      <a:pt x="0" y="953"/>
                    </a:lnTo>
                    <a:lnTo>
                      <a:pt x="3903" y="953"/>
                    </a:lnTo>
                    <a:lnTo>
                      <a:pt x="39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BBA199A1-C325-D848-3A86-AFFDCDC984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803"/>
          <a:stretch>
            <a:fillRect/>
          </a:stretch>
        </p:blipFill>
        <p:spPr>
          <a:xfrm>
            <a:off x="1296649" y="1814518"/>
            <a:ext cx="4277569" cy="278948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Use Weather as an Additional Demand Signal</a:t>
            </a:r>
            <a:endParaRPr dirty="0"/>
          </a:p>
        </p:txBody>
      </p:sp>
      <p:grpSp>
        <p:nvGrpSpPr>
          <p:cNvPr id="263" name="Google Shape;263;p33"/>
          <p:cNvGrpSpPr/>
          <p:nvPr/>
        </p:nvGrpSpPr>
        <p:grpSpPr>
          <a:xfrm>
            <a:off x="7927669" y="3492084"/>
            <a:ext cx="979813" cy="979813"/>
            <a:chOff x="6398575" y="3131102"/>
            <a:chExt cx="1250400" cy="1250400"/>
          </a:xfrm>
        </p:grpSpPr>
        <p:sp>
          <p:nvSpPr>
            <p:cNvPr id="264" name="Google Shape;264;p33"/>
            <p:cNvSpPr/>
            <p:nvPr/>
          </p:nvSpPr>
          <p:spPr>
            <a:xfrm>
              <a:off x="6398575" y="3131102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33"/>
            <p:cNvSpPr/>
            <p:nvPr/>
          </p:nvSpPr>
          <p:spPr>
            <a:xfrm>
              <a:off x="6669486" y="3502125"/>
              <a:ext cx="708593" cy="508345"/>
            </a:xfrm>
            <a:custGeom>
              <a:avLst/>
              <a:gdLst/>
              <a:ahLst/>
              <a:cxnLst/>
              <a:rect l="l" t="t" r="r" b="b"/>
              <a:pathLst>
                <a:path w="15223" h="10921" extrusionOk="0">
                  <a:moveTo>
                    <a:pt x="11323" y="1944"/>
                  </a:moveTo>
                  <a:cubicBezTo>
                    <a:pt x="12402" y="1944"/>
                    <a:pt x="13279" y="2821"/>
                    <a:pt x="13279" y="3900"/>
                  </a:cubicBezTo>
                  <a:cubicBezTo>
                    <a:pt x="13279" y="4241"/>
                    <a:pt x="13189" y="4575"/>
                    <a:pt x="13023" y="4867"/>
                  </a:cubicBezTo>
                  <a:cubicBezTo>
                    <a:pt x="12707" y="4708"/>
                    <a:pt x="12363" y="4600"/>
                    <a:pt x="12000" y="4553"/>
                  </a:cubicBezTo>
                  <a:cubicBezTo>
                    <a:pt x="11800" y="3581"/>
                    <a:pt x="11304" y="2725"/>
                    <a:pt x="10615" y="2078"/>
                  </a:cubicBezTo>
                  <a:cubicBezTo>
                    <a:pt x="10840" y="1991"/>
                    <a:pt x="11081" y="1944"/>
                    <a:pt x="11323" y="1944"/>
                  </a:cubicBezTo>
                  <a:close/>
                  <a:moveTo>
                    <a:pt x="7393" y="1755"/>
                  </a:moveTo>
                  <a:cubicBezTo>
                    <a:pt x="9294" y="1755"/>
                    <a:pt x="10896" y="3174"/>
                    <a:pt x="11117" y="5059"/>
                  </a:cubicBezTo>
                  <a:lnTo>
                    <a:pt x="11167" y="5479"/>
                  </a:lnTo>
                  <a:lnTo>
                    <a:pt x="11590" y="5479"/>
                  </a:lnTo>
                  <a:cubicBezTo>
                    <a:pt x="12828" y="5479"/>
                    <a:pt x="13836" y="6486"/>
                    <a:pt x="13836" y="7724"/>
                  </a:cubicBezTo>
                  <a:cubicBezTo>
                    <a:pt x="13836" y="8962"/>
                    <a:pt x="12828" y="9969"/>
                    <a:pt x="11590" y="9969"/>
                  </a:cubicBezTo>
                  <a:lnTo>
                    <a:pt x="3197" y="9969"/>
                  </a:lnTo>
                  <a:cubicBezTo>
                    <a:pt x="1959" y="9969"/>
                    <a:pt x="952" y="8962"/>
                    <a:pt x="952" y="7724"/>
                  </a:cubicBezTo>
                  <a:cubicBezTo>
                    <a:pt x="952" y="6486"/>
                    <a:pt x="1959" y="5479"/>
                    <a:pt x="3197" y="5479"/>
                  </a:cubicBezTo>
                  <a:lnTo>
                    <a:pt x="3620" y="5479"/>
                  </a:lnTo>
                  <a:lnTo>
                    <a:pt x="3670" y="5059"/>
                  </a:lnTo>
                  <a:cubicBezTo>
                    <a:pt x="3892" y="3174"/>
                    <a:pt x="5494" y="1755"/>
                    <a:pt x="7393" y="1755"/>
                  </a:cubicBezTo>
                  <a:close/>
                  <a:moveTo>
                    <a:pt x="10849" y="1"/>
                  </a:moveTo>
                  <a:lnTo>
                    <a:pt x="10849" y="1032"/>
                  </a:lnTo>
                  <a:cubicBezTo>
                    <a:pt x="10465" y="1096"/>
                    <a:pt x="10096" y="1237"/>
                    <a:pt x="9767" y="1445"/>
                  </a:cubicBezTo>
                  <a:cubicBezTo>
                    <a:pt x="9068" y="1036"/>
                    <a:pt x="8256" y="802"/>
                    <a:pt x="7394" y="802"/>
                  </a:cubicBezTo>
                  <a:cubicBezTo>
                    <a:pt x="5145" y="802"/>
                    <a:pt x="3232" y="2389"/>
                    <a:pt x="2787" y="4553"/>
                  </a:cubicBezTo>
                  <a:cubicBezTo>
                    <a:pt x="1217" y="4755"/>
                    <a:pt x="1" y="6099"/>
                    <a:pt x="1" y="7724"/>
                  </a:cubicBezTo>
                  <a:cubicBezTo>
                    <a:pt x="1" y="9487"/>
                    <a:pt x="1434" y="10920"/>
                    <a:pt x="3197" y="10920"/>
                  </a:cubicBezTo>
                  <a:lnTo>
                    <a:pt x="11590" y="10920"/>
                  </a:lnTo>
                  <a:cubicBezTo>
                    <a:pt x="13353" y="10920"/>
                    <a:pt x="14787" y="9487"/>
                    <a:pt x="14787" y="7724"/>
                  </a:cubicBezTo>
                  <a:cubicBezTo>
                    <a:pt x="14787" y="6818"/>
                    <a:pt x="14408" y="6001"/>
                    <a:pt x="13801" y="5418"/>
                  </a:cubicBezTo>
                  <a:cubicBezTo>
                    <a:pt x="13996" y="5098"/>
                    <a:pt x="14128" y="4745"/>
                    <a:pt x="14191" y="4374"/>
                  </a:cubicBezTo>
                  <a:lnTo>
                    <a:pt x="15222" y="4374"/>
                  </a:lnTo>
                  <a:lnTo>
                    <a:pt x="15222" y="3423"/>
                  </a:lnTo>
                  <a:lnTo>
                    <a:pt x="14191" y="3423"/>
                  </a:lnTo>
                  <a:cubicBezTo>
                    <a:pt x="14118" y="2976"/>
                    <a:pt x="13940" y="2563"/>
                    <a:pt x="13687" y="2208"/>
                  </a:cubicBezTo>
                  <a:lnTo>
                    <a:pt x="14417" y="1480"/>
                  </a:lnTo>
                  <a:lnTo>
                    <a:pt x="13743" y="806"/>
                  </a:lnTo>
                  <a:lnTo>
                    <a:pt x="13013" y="1536"/>
                  </a:lnTo>
                  <a:cubicBezTo>
                    <a:pt x="12660" y="1283"/>
                    <a:pt x="12247" y="1107"/>
                    <a:pt x="11800" y="1032"/>
                  </a:cubicBezTo>
                  <a:lnTo>
                    <a:pt x="11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AE8AFF-0587-A75C-8796-6F02C6330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49" y="3931514"/>
            <a:ext cx="6737687" cy="672460"/>
          </a:xfrm>
        </p:spPr>
        <p:txBody>
          <a:bodyPr/>
          <a:lstStyle/>
          <a:p>
            <a:pPr>
              <a:buNone/>
            </a:pPr>
            <a:r>
              <a:rPr lang="en-CA" b="1" dirty="0"/>
              <a:t>RECOMMENDED ACTION</a:t>
            </a:r>
          </a:p>
          <a:p>
            <a:pPr>
              <a:buNone/>
            </a:pPr>
            <a:r>
              <a:rPr lang="en-CA" dirty="0"/>
              <a:t>Review short-term product availability when similar weather is forecast.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C3BA426-E867-EE8C-FE03-8851140208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1255616"/>
              </p:ext>
            </p:extLst>
          </p:nvPr>
        </p:nvGraphicFramePr>
        <p:xfrm>
          <a:off x="720000" y="1479275"/>
          <a:ext cx="7710750" cy="2452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pSp>
        <p:nvGrpSpPr>
          <p:cNvPr id="5" name="Google Shape;420;p42">
            <a:extLst>
              <a:ext uri="{FF2B5EF4-FFF2-40B4-BE49-F238E27FC236}">
                <a16:creationId xmlns:a16="http://schemas.microsoft.com/office/drawing/2014/main" id="{A38700F6-B2AE-6CF4-09C5-2F764E851BEA}"/>
              </a:ext>
            </a:extLst>
          </p:cNvPr>
          <p:cNvGrpSpPr/>
          <p:nvPr/>
        </p:nvGrpSpPr>
        <p:grpSpPr>
          <a:xfrm>
            <a:off x="8046099" y="139540"/>
            <a:ext cx="979800" cy="979800"/>
            <a:chOff x="7444052" y="1945310"/>
            <a:chExt cx="979800" cy="979800"/>
          </a:xfrm>
        </p:grpSpPr>
        <p:sp>
          <p:nvSpPr>
            <p:cNvPr id="6" name="Google Shape;421;p42">
              <a:extLst>
                <a:ext uri="{FF2B5EF4-FFF2-40B4-BE49-F238E27FC236}">
                  <a16:creationId xmlns:a16="http://schemas.microsoft.com/office/drawing/2014/main" id="{8690CBA7-66E7-1C51-A52F-0DE1A0F8C584}"/>
                </a:ext>
              </a:extLst>
            </p:cNvPr>
            <p:cNvSpPr/>
            <p:nvPr/>
          </p:nvSpPr>
          <p:spPr>
            <a:xfrm>
              <a:off x="7444052" y="1945310"/>
              <a:ext cx="979800" cy="9798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" name="Google Shape;422;p42">
              <a:extLst>
                <a:ext uri="{FF2B5EF4-FFF2-40B4-BE49-F238E27FC236}">
                  <a16:creationId xmlns:a16="http://schemas.microsoft.com/office/drawing/2014/main" id="{82882830-6D35-153D-07FD-E204061C7C8C}"/>
                </a:ext>
              </a:extLst>
            </p:cNvPr>
            <p:cNvGrpSpPr/>
            <p:nvPr/>
          </p:nvGrpSpPr>
          <p:grpSpPr>
            <a:xfrm>
              <a:off x="7677149" y="2238043"/>
              <a:ext cx="513623" cy="394314"/>
              <a:chOff x="1000166" y="3942302"/>
              <a:chExt cx="384650" cy="295300"/>
            </a:xfrm>
          </p:grpSpPr>
          <p:sp>
            <p:nvSpPr>
              <p:cNvPr id="8" name="Google Shape;423;p42">
                <a:extLst>
                  <a:ext uri="{FF2B5EF4-FFF2-40B4-BE49-F238E27FC236}">
                    <a16:creationId xmlns:a16="http://schemas.microsoft.com/office/drawing/2014/main" id="{6AF961EF-3359-FFE5-C86F-3CEC01A2BEFF}"/>
                  </a:ext>
                </a:extLst>
              </p:cNvPr>
              <p:cNvSpPr/>
              <p:nvPr/>
            </p:nvSpPr>
            <p:spPr>
              <a:xfrm>
                <a:off x="1000166" y="3942302"/>
                <a:ext cx="26245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10498" h="3672" extrusionOk="0">
                    <a:moveTo>
                      <a:pt x="8028" y="0"/>
                    </a:moveTo>
                    <a:lnTo>
                      <a:pt x="8028" y="951"/>
                    </a:lnTo>
                    <a:lnTo>
                      <a:pt x="8662" y="951"/>
                    </a:lnTo>
                    <a:cubicBezTo>
                      <a:pt x="9149" y="951"/>
                      <a:pt x="9546" y="1349"/>
                      <a:pt x="9546" y="1836"/>
                    </a:cubicBezTo>
                    <a:cubicBezTo>
                      <a:pt x="9546" y="2323"/>
                      <a:pt x="9149" y="2719"/>
                      <a:pt x="8662" y="2719"/>
                    </a:cubicBezTo>
                    <a:lnTo>
                      <a:pt x="0" y="2719"/>
                    </a:lnTo>
                    <a:lnTo>
                      <a:pt x="0" y="3671"/>
                    </a:lnTo>
                    <a:lnTo>
                      <a:pt x="8662" y="3671"/>
                    </a:lnTo>
                    <a:cubicBezTo>
                      <a:pt x="9674" y="3671"/>
                      <a:pt x="10498" y="2848"/>
                      <a:pt x="10498" y="1836"/>
                    </a:cubicBezTo>
                    <a:cubicBezTo>
                      <a:pt x="10498" y="824"/>
                      <a:pt x="9674" y="0"/>
                      <a:pt x="866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" name="Google Shape;424;p42">
                <a:extLst>
                  <a:ext uri="{FF2B5EF4-FFF2-40B4-BE49-F238E27FC236}">
                    <a16:creationId xmlns:a16="http://schemas.microsoft.com/office/drawing/2014/main" id="{E961A7FC-B864-86E8-F9CE-FCDB0D885A51}"/>
                  </a:ext>
                </a:extLst>
              </p:cNvPr>
              <p:cNvSpPr/>
              <p:nvPr/>
            </p:nvSpPr>
            <p:spPr>
              <a:xfrm>
                <a:off x="1000166" y="4145802"/>
                <a:ext cx="323550" cy="91800"/>
              </a:xfrm>
              <a:custGeom>
                <a:avLst/>
                <a:gdLst/>
                <a:ahLst/>
                <a:cxnLst/>
                <a:rect l="l" t="t" r="r" b="b"/>
                <a:pathLst>
                  <a:path w="12942" h="3672" extrusionOk="0">
                    <a:moveTo>
                      <a:pt x="0" y="0"/>
                    </a:moveTo>
                    <a:lnTo>
                      <a:pt x="0" y="952"/>
                    </a:lnTo>
                    <a:lnTo>
                      <a:pt x="11106" y="952"/>
                    </a:lnTo>
                    <a:cubicBezTo>
                      <a:pt x="11593" y="952"/>
                      <a:pt x="11990" y="1349"/>
                      <a:pt x="11990" y="1836"/>
                    </a:cubicBezTo>
                    <a:cubicBezTo>
                      <a:pt x="11990" y="2323"/>
                      <a:pt x="11593" y="2719"/>
                      <a:pt x="11106" y="2719"/>
                    </a:cubicBezTo>
                    <a:lnTo>
                      <a:pt x="10472" y="2719"/>
                    </a:lnTo>
                    <a:lnTo>
                      <a:pt x="10472" y="3672"/>
                    </a:lnTo>
                    <a:lnTo>
                      <a:pt x="11106" y="3672"/>
                    </a:lnTo>
                    <a:cubicBezTo>
                      <a:pt x="12118" y="3672"/>
                      <a:pt x="12941" y="2848"/>
                      <a:pt x="12941" y="1836"/>
                    </a:cubicBezTo>
                    <a:cubicBezTo>
                      <a:pt x="12941" y="824"/>
                      <a:pt x="12118" y="0"/>
                      <a:pt x="11106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" name="Google Shape;425;p42">
                <a:extLst>
                  <a:ext uri="{FF2B5EF4-FFF2-40B4-BE49-F238E27FC236}">
                    <a16:creationId xmlns:a16="http://schemas.microsoft.com/office/drawing/2014/main" id="{AD904D28-D179-F81E-1C74-6E7BFD6A924A}"/>
                  </a:ext>
                </a:extLst>
              </p:cNvPr>
              <p:cNvSpPr/>
              <p:nvPr/>
            </p:nvSpPr>
            <p:spPr>
              <a:xfrm>
                <a:off x="1135841" y="4078027"/>
                <a:ext cx="248975" cy="23850"/>
              </a:xfrm>
              <a:custGeom>
                <a:avLst/>
                <a:gdLst/>
                <a:ahLst/>
                <a:cxnLst/>
                <a:rect l="l" t="t" r="r" b="b"/>
                <a:pathLst>
                  <a:path w="9959" h="954" extrusionOk="0">
                    <a:moveTo>
                      <a:pt x="1" y="1"/>
                    </a:moveTo>
                    <a:lnTo>
                      <a:pt x="1" y="953"/>
                    </a:lnTo>
                    <a:lnTo>
                      <a:pt x="9958" y="953"/>
                    </a:lnTo>
                    <a:lnTo>
                      <a:pt x="9958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" name="Google Shape;426;p42">
                <a:extLst>
                  <a:ext uri="{FF2B5EF4-FFF2-40B4-BE49-F238E27FC236}">
                    <a16:creationId xmlns:a16="http://schemas.microsoft.com/office/drawing/2014/main" id="{A55D19AB-B1F3-2707-515B-1D8F64F171AA}"/>
                  </a:ext>
                </a:extLst>
              </p:cNvPr>
              <p:cNvSpPr/>
              <p:nvPr/>
            </p:nvSpPr>
            <p:spPr>
              <a:xfrm>
                <a:off x="1000166" y="4078027"/>
                <a:ext cx="97600" cy="23850"/>
              </a:xfrm>
              <a:custGeom>
                <a:avLst/>
                <a:gdLst/>
                <a:ahLst/>
                <a:cxnLst/>
                <a:rect l="l" t="t" r="r" b="b"/>
                <a:pathLst>
                  <a:path w="3904" h="954" extrusionOk="0">
                    <a:moveTo>
                      <a:pt x="0" y="1"/>
                    </a:moveTo>
                    <a:lnTo>
                      <a:pt x="0" y="953"/>
                    </a:lnTo>
                    <a:lnTo>
                      <a:pt x="3903" y="953"/>
                    </a:lnTo>
                    <a:lnTo>
                      <a:pt x="39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6">
          <a:extLst>
            <a:ext uri="{FF2B5EF4-FFF2-40B4-BE49-F238E27FC236}">
              <a16:creationId xmlns:a16="http://schemas.microsoft.com/office/drawing/2014/main" id="{15C215B1-8714-83AD-0662-0809C64AA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>
            <a:extLst>
              <a:ext uri="{FF2B5EF4-FFF2-40B4-BE49-F238E27FC236}">
                <a16:creationId xmlns:a16="http://schemas.microsoft.com/office/drawing/2014/main" id="{C121754B-14E8-693F-1C6E-B966BD8AC8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Warm &amp; Dry Conditions Are Associated With Higher-Priced Purchases</a:t>
            </a:r>
            <a:endParaRPr dirty="0">
              <a:solidFill>
                <a:schemeClr val="dk1"/>
              </a:solidFill>
            </a:endParaRPr>
          </a:p>
        </p:txBody>
      </p:sp>
      <p:sp>
        <p:nvSpPr>
          <p:cNvPr id="6" name="Google Shape;567;p47">
            <a:extLst>
              <a:ext uri="{FF2B5EF4-FFF2-40B4-BE49-F238E27FC236}">
                <a16:creationId xmlns:a16="http://schemas.microsoft.com/office/drawing/2014/main" id="{E1148A59-A4F3-F964-7B91-8F2A94E4D4B0}"/>
              </a:ext>
            </a:extLst>
          </p:cNvPr>
          <p:cNvSpPr/>
          <p:nvPr/>
        </p:nvSpPr>
        <p:spPr>
          <a:xfrm>
            <a:off x="8095593" y="671882"/>
            <a:ext cx="781407" cy="80219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dist="47625" dir="3480000" algn="bl" rotWithShape="0">
              <a:schemeClr val="dk1">
                <a:alpha val="1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7" name="Google Shape;640;p47">
            <a:extLst>
              <a:ext uri="{FF2B5EF4-FFF2-40B4-BE49-F238E27FC236}">
                <a16:creationId xmlns:a16="http://schemas.microsoft.com/office/drawing/2014/main" id="{D7E31257-7329-BE43-D2C3-2EB87C84AFE2}"/>
              </a:ext>
            </a:extLst>
          </p:cNvPr>
          <p:cNvGrpSpPr/>
          <p:nvPr/>
        </p:nvGrpSpPr>
        <p:grpSpPr>
          <a:xfrm>
            <a:off x="8367548" y="849026"/>
            <a:ext cx="248670" cy="435863"/>
            <a:chOff x="2218313" y="1403550"/>
            <a:chExt cx="206225" cy="384650"/>
          </a:xfrm>
        </p:grpSpPr>
        <p:sp>
          <p:nvSpPr>
            <p:cNvPr id="8" name="Google Shape;641;p47">
              <a:extLst>
                <a:ext uri="{FF2B5EF4-FFF2-40B4-BE49-F238E27FC236}">
                  <a16:creationId xmlns:a16="http://schemas.microsoft.com/office/drawing/2014/main" id="{FBDACCC7-B52C-6F71-3073-6D9CE733934A}"/>
                </a:ext>
              </a:extLst>
            </p:cNvPr>
            <p:cNvSpPr/>
            <p:nvPr/>
          </p:nvSpPr>
          <p:spPr>
            <a:xfrm>
              <a:off x="2218313" y="1403550"/>
              <a:ext cx="206225" cy="384650"/>
            </a:xfrm>
            <a:custGeom>
              <a:avLst/>
              <a:gdLst/>
              <a:ahLst/>
              <a:cxnLst/>
              <a:rect l="l" t="t" r="r" b="b"/>
              <a:pathLst>
                <a:path w="8249" h="15386" extrusionOk="0">
                  <a:moveTo>
                    <a:pt x="4124" y="951"/>
                  </a:moveTo>
                  <a:cubicBezTo>
                    <a:pt x="5087" y="951"/>
                    <a:pt x="5868" y="1734"/>
                    <a:pt x="5868" y="2696"/>
                  </a:cubicBezTo>
                  <a:lnTo>
                    <a:pt x="5868" y="8603"/>
                  </a:lnTo>
                  <a:lnTo>
                    <a:pt x="6055" y="8745"/>
                  </a:lnTo>
                  <a:cubicBezTo>
                    <a:pt x="6843" y="9354"/>
                    <a:pt x="7296" y="10270"/>
                    <a:pt x="7296" y="11261"/>
                  </a:cubicBezTo>
                  <a:cubicBezTo>
                    <a:pt x="7296" y="13010"/>
                    <a:pt x="5873" y="14433"/>
                    <a:pt x="4124" y="14433"/>
                  </a:cubicBezTo>
                  <a:cubicBezTo>
                    <a:pt x="2374" y="14433"/>
                    <a:pt x="951" y="13010"/>
                    <a:pt x="951" y="11261"/>
                  </a:cubicBezTo>
                  <a:cubicBezTo>
                    <a:pt x="951" y="10270"/>
                    <a:pt x="1405" y="9354"/>
                    <a:pt x="2194" y="8745"/>
                  </a:cubicBezTo>
                  <a:lnTo>
                    <a:pt x="2379" y="8603"/>
                  </a:lnTo>
                  <a:lnTo>
                    <a:pt x="2379" y="2696"/>
                  </a:lnTo>
                  <a:cubicBezTo>
                    <a:pt x="2379" y="1734"/>
                    <a:pt x="3162" y="951"/>
                    <a:pt x="4124" y="951"/>
                  </a:cubicBezTo>
                  <a:close/>
                  <a:moveTo>
                    <a:pt x="4124" y="0"/>
                  </a:moveTo>
                  <a:cubicBezTo>
                    <a:pt x="2637" y="0"/>
                    <a:pt x="1428" y="1209"/>
                    <a:pt x="1428" y="2696"/>
                  </a:cubicBezTo>
                  <a:lnTo>
                    <a:pt x="1428" y="8143"/>
                  </a:lnTo>
                  <a:cubicBezTo>
                    <a:pt x="518" y="8929"/>
                    <a:pt x="0" y="10052"/>
                    <a:pt x="0" y="11261"/>
                  </a:cubicBezTo>
                  <a:cubicBezTo>
                    <a:pt x="0" y="13535"/>
                    <a:pt x="1850" y="15385"/>
                    <a:pt x="4124" y="15385"/>
                  </a:cubicBezTo>
                  <a:cubicBezTo>
                    <a:pt x="6397" y="15385"/>
                    <a:pt x="8248" y="13535"/>
                    <a:pt x="8248" y="11261"/>
                  </a:cubicBezTo>
                  <a:cubicBezTo>
                    <a:pt x="8248" y="10053"/>
                    <a:pt x="7731" y="8929"/>
                    <a:pt x="6821" y="8143"/>
                  </a:cubicBezTo>
                  <a:lnTo>
                    <a:pt x="6821" y="2696"/>
                  </a:lnTo>
                  <a:cubicBezTo>
                    <a:pt x="6821" y="1209"/>
                    <a:pt x="5610" y="0"/>
                    <a:pt x="41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42;p47">
              <a:extLst>
                <a:ext uri="{FF2B5EF4-FFF2-40B4-BE49-F238E27FC236}">
                  <a16:creationId xmlns:a16="http://schemas.microsoft.com/office/drawing/2014/main" id="{1558D0C3-C49E-B320-6BA0-9F1E038A1972}"/>
                </a:ext>
              </a:extLst>
            </p:cNvPr>
            <p:cNvSpPr/>
            <p:nvPr/>
          </p:nvSpPr>
          <p:spPr>
            <a:xfrm>
              <a:off x="2273838" y="1463000"/>
              <a:ext cx="95175" cy="269675"/>
            </a:xfrm>
            <a:custGeom>
              <a:avLst/>
              <a:gdLst/>
              <a:ahLst/>
              <a:cxnLst/>
              <a:rect l="l" t="t" r="r" b="b"/>
              <a:pathLst>
                <a:path w="3807" h="10787" extrusionOk="0">
                  <a:moveTo>
                    <a:pt x="1428" y="1"/>
                  </a:moveTo>
                  <a:lnTo>
                    <a:pt x="1428" y="7039"/>
                  </a:lnTo>
                  <a:cubicBezTo>
                    <a:pt x="607" y="7252"/>
                    <a:pt x="0" y="7998"/>
                    <a:pt x="0" y="8883"/>
                  </a:cubicBezTo>
                  <a:cubicBezTo>
                    <a:pt x="0" y="9932"/>
                    <a:pt x="853" y="10786"/>
                    <a:pt x="1903" y="10786"/>
                  </a:cubicBezTo>
                  <a:cubicBezTo>
                    <a:pt x="2952" y="10786"/>
                    <a:pt x="3806" y="9932"/>
                    <a:pt x="3806" y="8883"/>
                  </a:cubicBezTo>
                  <a:cubicBezTo>
                    <a:pt x="3806" y="7998"/>
                    <a:pt x="3198" y="7252"/>
                    <a:pt x="2379" y="7039"/>
                  </a:cubicBezTo>
                  <a:lnTo>
                    <a:pt x="23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F7584CC5-6C91-6F12-2E63-F35FA221BA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7093" y="1712010"/>
            <a:ext cx="4315859" cy="290659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409;p42">
            <a:extLst>
              <a:ext uri="{FF2B5EF4-FFF2-40B4-BE49-F238E27FC236}">
                <a16:creationId xmlns:a16="http://schemas.microsoft.com/office/drawing/2014/main" id="{48C6AC7E-FDCF-9FB8-1CB0-54B89A17A60D}"/>
              </a:ext>
            </a:extLst>
          </p:cNvPr>
          <p:cNvSpPr txBox="1"/>
          <p:nvPr/>
        </p:nvSpPr>
        <p:spPr>
          <a:xfrm>
            <a:off x="5741565" y="2333584"/>
            <a:ext cx="2612579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$4.79 Avg. Unit-Price</a:t>
            </a:r>
            <a:endParaRPr sz="24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15" name="Google Shape;413;p42">
            <a:extLst>
              <a:ext uri="{FF2B5EF4-FFF2-40B4-BE49-F238E27FC236}">
                <a16:creationId xmlns:a16="http://schemas.microsoft.com/office/drawing/2014/main" id="{05CD28EE-E29F-7166-CC27-11EBE0C8D140}"/>
              </a:ext>
            </a:extLst>
          </p:cNvPr>
          <p:cNvSpPr txBox="1"/>
          <p:nvPr/>
        </p:nvSpPr>
        <p:spPr>
          <a:xfrm>
            <a:off x="6372307" y="3600058"/>
            <a:ext cx="1584600" cy="64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t</a:t>
            </a:r>
            <a:r>
              <a:rPr lang="en" sz="1200" dirty="0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rPr>
              <a:t>han cold conditions</a:t>
            </a:r>
            <a:endParaRPr sz="1200" dirty="0">
              <a:solidFill>
                <a:schemeClr val="dk1"/>
              </a:solidFill>
              <a:latin typeface="Barlow"/>
              <a:ea typeface="Barlow"/>
              <a:cs typeface="Barlow"/>
              <a:sym typeface="Barlow"/>
            </a:endParaRPr>
          </a:p>
        </p:txBody>
      </p:sp>
      <p:sp>
        <p:nvSpPr>
          <p:cNvPr id="17" name="Google Shape;416;p42">
            <a:extLst>
              <a:ext uri="{FF2B5EF4-FFF2-40B4-BE49-F238E27FC236}">
                <a16:creationId xmlns:a16="http://schemas.microsoft.com/office/drawing/2014/main" id="{F18CECD9-1E4B-F015-6C34-64E8C6AF8CEF}"/>
              </a:ext>
            </a:extLst>
          </p:cNvPr>
          <p:cNvSpPr txBox="1"/>
          <p:nvPr/>
        </p:nvSpPr>
        <p:spPr>
          <a:xfrm>
            <a:off x="6372289" y="3281294"/>
            <a:ext cx="1584600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33% MORE</a:t>
            </a:r>
            <a:endParaRPr sz="2400" dirty="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</p:spTree>
    <p:extLst>
      <p:ext uri="{BB962C8B-B14F-4D97-AF65-F5344CB8AC3E}">
        <p14:creationId xmlns:p14="http://schemas.microsoft.com/office/powerpoint/2010/main" val="22237746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1">
          <a:extLst>
            <a:ext uri="{FF2B5EF4-FFF2-40B4-BE49-F238E27FC236}">
              <a16:creationId xmlns:a16="http://schemas.microsoft.com/office/drawing/2014/main" id="{3C0F400D-C7CA-7F28-4B8F-1BA5CEE8C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>
            <a:extLst>
              <a:ext uri="{FF2B5EF4-FFF2-40B4-BE49-F238E27FC236}">
                <a16:creationId xmlns:a16="http://schemas.microsoft.com/office/drawing/2014/main" id="{A033A2FC-200A-A743-1420-5016EA3706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Different Weather May Require Different Sales Strategies</a:t>
            </a:r>
            <a:endParaRPr dirty="0"/>
          </a:p>
        </p:txBody>
      </p:sp>
      <p:grpSp>
        <p:nvGrpSpPr>
          <p:cNvPr id="263" name="Google Shape;263;p33">
            <a:extLst>
              <a:ext uri="{FF2B5EF4-FFF2-40B4-BE49-F238E27FC236}">
                <a16:creationId xmlns:a16="http://schemas.microsoft.com/office/drawing/2014/main" id="{21A683C0-719D-81EA-FB48-96ABC203F92A}"/>
              </a:ext>
            </a:extLst>
          </p:cNvPr>
          <p:cNvGrpSpPr/>
          <p:nvPr/>
        </p:nvGrpSpPr>
        <p:grpSpPr>
          <a:xfrm>
            <a:off x="7927669" y="3492084"/>
            <a:ext cx="979813" cy="979813"/>
            <a:chOff x="6398575" y="3131102"/>
            <a:chExt cx="1250400" cy="1250400"/>
          </a:xfrm>
        </p:grpSpPr>
        <p:sp>
          <p:nvSpPr>
            <p:cNvPr id="264" name="Google Shape;264;p33">
              <a:extLst>
                <a:ext uri="{FF2B5EF4-FFF2-40B4-BE49-F238E27FC236}">
                  <a16:creationId xmlns:a16="http://schemas.microsoft.com/office/drawing/2014/main" id="{8D8D0CE7-2ABD-6B73-6A9D-958FB91DCF29}"/>
                </a:ext>
              </a:extLst>
            </p:cNvPr>
            <p:cNvSpPr/>
            <p:nvPr/>
          </p:nvSpPr>
          <p:spPr>
            <a:xfrm>
              <a:off x="6398575" y="3131102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3">
              <a:extLst>
                <a:ext uri="{FF2B5EF4-FFF2-40B4-BE49-F238E27FC236}">
                  <a16:creationId xmlns:a16="http://schemas.microsoft.com/office/drawing/2014/main" id="{1913888F-4AD1-A61D-8291-C43CDFC7275E}"/>
                </a:ext>
              </a:extLst>
            </p:cNvPr>
            <p:cNvSpPr/>
            <p:nvPr/>
          </p:nvSpPr>
          <p:spPr>
            <a:xfrm>
              <a:off x="6669486" y="3502125"/>
              <a:ext cx="708593" cy="508345"/>
            </a:xfrm>
            <a:custGeom>
              <a:avLst/>
              <a:gdLst/>
              <a:ahLst/>
              <a:cxnLst/>
              <a:rect l="l" t="t" r="r" b="b"/>
              <a:pathLst>
                <a:path w="15223" h="10921" extrusionOk="0">
                  <a:moveTo>
                    <a:pt x="11323" y="1944"/>
                  </a:moveTo>
                  <a:cubicBezTo>
                    <a:pt x="12402" y="1944"/>
                    <a:pt x="13279" y="2821"/>
                    <a:pt x="13279" y="3900"/>
                  </a:cubicBezTo>
                  <a:cubicBezTo>
                    <a:pt x="13279" y="4241"/>
                    <a:pt x="13189" y="4575"/>
                    <a:pt x="13023" y="4867"/>
                  </a:cubicBezTo>
                  <a:cubicBezTo>
                    <a:pt x="12707" y="4708"/>
                    <a:pt x="12363" y="4600"/>
                    <a:pt x="12000" y="4553"/>
                  </a:cubicBezTo>
                  <a:cubicBezTo>
                    <a:pt x="11800" y="3581"/>
                    <a:pt x="11304" y="2725"/>
                    <a:pt x="10615" y="2078"/>
                  </a:cubicBezTo>
                  <a:cubicBezTo>
                    <a:pt x="10840" y="1991"/>
                    <a:pt x="11081" y="1944"/>
                    <a:pt x="11323" y="1944"/>
                  </a:cubicBezTo>
                  <a:close/>
                  <a:moveTo>
                    <a:pt x="7393" y="1755"/>
                  </a:moveTo>
                  <a:cubicBezTo>
                    <a:pt x="9294" y="1755"/>
                    <a:pt x="10896" y="3174"/>
                    <a:pt x="11117" y="5059"/>
                  </a:cubicBezTo>
                  <a:lnTo>
                    <a:pt x="11167" y="5479"/>
                  </a:lnTo>
                  <a:lnTo>
                    <a:pt x="11590" y="5479"/>
                  </a:lnTo>
                  <a:cubicBezTo>
                    <a:pt x="12828" y="5479"/>
                    <a:pt x="13836" y="6486"/>
                    <a:pt x="13836" y="7724"/>
                  </a:cubicBezTo>
                  <a:cubicBezTo>
                    <a:pt x="13836" y="8962"/>
                    <a:pt x="12828" y="9969"/>
                    <a:pt x="11590" y="9969"/>
                  </a:cubicBezTo>
                  <a:lnTo>
                    <a:pt x="3197" y="9969"/>
                  </a:lnTo>
                  <a:cubicBezTo>
                    <a:pt x="1959" y="9969"/>
                    <a:pt x="952" y="8962"/>
                    <a:pt x="952" y="7724"/>
                  </a:cubicBezTo>
                  <a:cubicBezTo>
                    <a:pt x="952" y="6486"/>
                    <a:pt x="1959" y="5479"/>
                    <a:pt x="3197" y="5479"/>
                  </a:cubicBezTo>
                  <a:lnTo>
                    <a:pt x="3620" y="5479"/>
                  </a:lnTo>
                  <a:lnTo>
                    <a:pt x="3670" y="5059"/>
                  </a:lnTo>
                  <a:cubicBezTo>
                    <a:pt x="3892" y="3174"/>
                    <a:pt x="5494" y="1755"/>
                    <a:pt x="7393" y="1755"/>
                  </a:cubicBezTo>
                  <a:close/>
                  <a:moveTo>
                    <a:pt x="10849" y="1"/>
                  </a:moveTo>
                  <a:lnTo>
                    <a:pt x="10849" y="1032"/>
                  </a:lnTo>
                  <a:cubicBezTo>
                    <a:pt x="10465" y="1096"/>
                    <a:pt x="10096" y="1237"/>
                    <a:pt x="9767" y="1445"/>
                  </a:cubicBezTo>
                  <a:cubicBezTo>
                    <a:pt x="9068" y="1036"/>
                    <a:pt x="8256" y="802"/>
                    <a:pt x="7394" y="802"/>
                  </a:cubicBezTo>
                  <a:cubicBezTo>
                    <a:pt x="5145" y="802"/>
                    <a:pt x="3232" y="2389"/>
                    <a:pt x="2787" y="4553"/>
                  </a:cubicBezTo>
                  <a:cubicBezTo>
                    <a:pt x="1217" y="4755"/>
                    <a:pt x="1" y="6099"/>
                    <a:pt x="1" y="7724"/>
                  </a:cubicBezTo>
                  <a:cubicBezTo>
                    <a:pt x="1" y="9487"/>
                    <a:pt x="1434" y="10920"/>
                    <a:pt x="3197" y="10920"/>
                  </a:cubicBezTo>
                  <a:lnTo>
                    <a:pt x="11590" y="10920"/>
                  </a:lnTo>
                  <a:cubicBezTo>
                    <a:pt x="13353" y="10920"/>
                    <a:pt x="14787" y="9487"/>
                    <a:pt x="14787" y="7724"/>
                  </a:cubicBezTo>
                  <a:cubicBezTo>
                    <a:pt x="14787" y="6818"/>
                    <a:pt x="14408" y="6001"/>
                    <a:pt x="13801" y="5418"/>
                  </a:cubicBezTo>
                  <a:cubicBezTo>
                    <a:pt x="13996" y="5098"/>
                    <a:pt x="14128" y="4745"/>
                    <a:pt x="14191" y="4374"/>
                  </a:cubicBezTo>
                  <a:lnTo>
                    <a:pt x="15222" y="4374"/>
                  </a:lnTo>
                  <a:lnTo>
                    <a:pt x="15222" y="3423"/>
                  </a:lnTo>
                  <a:lnTo>
                    <a:pt x="14191" y="3423"/>
                  </a:lnTo>
                  <a:cubicBezTo>
                    <a:pt x="14118" y="2976"/>
                    <a:pt x="13940" y="2563"/>
                    <a:pt x="13687" y="2208"/>
                  </a:cubicBezTo>
                  <a:lnTo>
                    <a:pt x="14417" y="1480"/>
                  </a:lnTo>
                  <a:lnTo>
                    <a:pt x="13743" y="806"/>
                  </a:lnTo>
                  <a:lnTo>
                    <a:pt x="13013" y="1536"/>
                  </a:lnTo>
                  <a:cubicBezTo>
                    <a:pt x="12660" y="1283"/>
                    <a:pt x="12247" y="1107"/>
                    <a:pt x="11800" y="1032"/>
                  </a:cubicBezTo>
                  <a:lnTo>
                    <a:pt x="11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A5ACC4-4B42-F2E2-5223-00EE8B29A6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49" y="3931514"/>
            <a:ext cx="6737687" cy="672460"/>
          </a:xfrm>
        </p:spPr>
        <p:txBody>
          <a:bodyPr/>
          <a:lstStyle/>
          <a:p>
            <a:pPr>
              <a:buNone/>
            </a:pPr>
            <a:r>
              <a:rPr lang="en-CA" b="1" dirty="0"/>
              <a:t>RECOMMENDED ACTION</a:t>
            </a:r>
          </a:p>
          <a:p>
            <a:pPr>
              <a:buNone/>
            </a:pPr>
            <a:r>
              <a:rPr lang="en-CA" dirty="0"/>
              <a:t>Increase the visibility or promotion of higher-priced products when similar weather is forecast.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DFD75B6-4318-D025-D9EA-36B0FC26A60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17025015"/>
              </p:ext>
            </p:extLst>
          </p:nvPr>
        </p:nvGraphicFramePr>
        <p:xfrm>
          <a:off x="720000" y="1479275"/>
          <a:ext cx="7710750" cy="2452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" name="Google Shape;567;p47">
            <a:extLst>
              <a:ext uri="{FF2B5EF4-FFF2-40B4-BE49-F238E27FC236}">
                <a16:creationId xmlns:a16="http://schemas.microsoft.com/office/drawing/2014/main" id="{A53B6FF0-7BD2-3F60-B0AF-28F164F4816D}"/>
              </a:ext>
            </a:extLst>
          </p:cNvPr>
          <p:cNvSpPr/>
          <p:nvPr/>
        </p:nvSpPr>
        <p:spPr>
          <a:xfrm>
            <a:off x="8304504" y="245139"/>
            <a:ext cx="781407" cy="80219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dist="47625" dir="3480000" algn="bl" rotWithShape="0">
              <a:schemeClr val="dk1">
                <a:alpha val="1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grpSp>
        <p:nvGrpSpPr>
          <p:cNvPr id="5" name="Google Shape;640;p47">
            <a:extLst>
              <a:ext uri="{FF2B5EF4-FFF2-40B4-BE49-F238E27FC236}">
                <a16:creationId xmlns:a16="http://schemas.microsoft.com/office/drawing/2014/main" id="{301CB848-BEB3-008D-086B-0D7620AA46F8}"/>
              </a:ext>
            </a:extLst>
          </p:cNvPr>
          <p:cNvGrpSpPr/>
          <p:nvPr/>
        </p:nvGrpSpPr>
        <p:grpSpPr>
          <a:xfrm>
            <a:off x="8576459" y="422283"/>
            <a:ext cx="248670" cy="435863"/>
            <a:chOff x="2218313" y="1403550"/>
            <a:chExt cx="206225" cy="384650"/>
          </a:xfrm>
        </p:grpSpPr>
        <p:sp>
          <p:nvSpPr>
            <p:cNvPr id="6" name="Google Shape;641;p47">
              <a:extLst>
                <a:ext uri="{FF2B5EF4-FFF2-40B4-BE49-F238E27FC236}">
                  <a16:creationId xmlns:a16="http://schemas.microsoft.com/office/drawing/2014/main" id="{18B9369D-05AC-28E7-F2FE-C0C7B3CCC5D9}"/>
                </a:ext>
              </a:extLst>
            </p:cNvPr>
            <p:cNvSpPr/>
            <p:nvPr/>
          </p:nvSpPr>
          <p:spPr>
            <a:xfrm>
              <a:off x="2218313" y="1403550"/>
              <a:ext cx="206225" cy="384650"/>
            </a:xfrm>
            <a:custGeom>
              <a:avLst/>
              <a:gdLst/>
              <a:ahLst/>
              <a:cxnLst/>
              <a:rect l="l" t="t" r="r" b="b"/>
              <a:pathLst>
                <a:path w="8249" h="15386" extrusionOk="0">
                  <a:moveTo>
                    <a:pt x="4124" y="951"/>
                  </a:moveTo>
                  <a:cubicBezTo>
                    <a:pt x="5087" y="951"/>
                    <a:pt x="5868" y="1734"/>
                    <a:pt x="5868" y="2696"/>
                  </a:cubicBezTo>
                  <a:lnTo>
                    <a:pt x="5868" y="8603"/>
                  </a:lnTo>
                  <a:lnTo>
                    <a:pt x="6055" y="8745"/>
                  </a:lnTo>
                  <a:cubicBezTo>
                    <a:pt x="6843" y="9354"/>
                    <a:pt x="7296" y="10270"/>
                    <a:pt x="7296" y="11261"/>
                  </a:cubicBezTo>
                  <a:cubicBezTo>
                    <a:pt x="7296" y="13010"/>
                    <a:pt x="5873" y="14433"/>
                    <a:pt x="4124" y="14433"/>
                  </a:cubicBezTo>
                  <a:cubicBezTo>
                    <a:pt x="2374" y="14433"/>
                    <a:pt x="951" y="13010"/>
                    <a:pt x="951" y="11261"/>
                  </a:cubicBezTo>
                  <a:cubicBezTo>
                    <a:pt x="951" y="10270"/>
                    <a:pt x="1405" y="9354"/>
                    <a:pt x="2194" y="8745"/>
                  </a:cubicBezTo>
                  <a:lnTo>
                    <a:pt x="2379" y="8603"/>
                  </a:lnTo>
                  <a:lnTo>
                    <a:pt x="2379" y="2696"/>
                  </a:lnTo>
                  <a:cubicBezTo>
                    <a:pt x="2379" y="1734"/>
                    <a:pt x="3162" y="951"/>
                    <a:pt x="4124" y="951"/>
                  </a:cubicBezTo>
                  <a:close/>
                  <a:moveTo>
                    <a:pt x="4124" y="0"/>
                  </a:moveTo>
                  <a:cubicBezTo>
                    <a:pt x="2637" y="0"/>
                    <a:pt x="1428" y="1209"/>
                    <a:pt x="1428" y="2696"/>
                  </a:cubicBezTo>
                  <a:lnTo>
                    <a:pt x="1428" y="8143"/>
                  </a:lnTo>
                  <a:cubicBezTo>
                    <a:pt x="518" y="8929"/>
                    <a:pt x="0" y="10052"/>
                    <a:pt x="0" y="11261"/>
                  </a:cubicBezTo>
                  <a:cubicBezTo>
                    <a:pt x="0" y="13535"/>
                    <a:pt x="1850" y="15385"/>
                    <a:pt x="4124" y="15385"/>
                  </a:cubicBezTo>
                  <a:cubicBezTo>
                    <a:pt x="6397" y="15385"/>
                    <a:pt x="8248" y="13535"/>
                    <a:pt x="8248" y="11261"/>
                  </a:cubicBezTo>
                  <a:cubicBezTo>
                    <a:pt x="8248" y="10053"/>
                    <a:pt x="7731" y="8929"/>
                    <a:pt x="6821" y="8143"/>
                  </a:cubicBezTo>
                  <a:lnTo>
                    <a:pt x="6821" y="2696"/>
                  </a:lnTo>
                  <a:cubicBezTo>
                    <a:pt x="6821" y="1209"/>
                    <a:pt x="5610" y="0"/>
                    <a:pt x="41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642;p47">
              <a:extLst>
                <a:ext uri="{FF2B5EF4-FFF2-40B4-BE49-F238E27FC236}">
                  <a16:creationId xmlns:a16="http://schemas.microsoft.com/office/drawing/2014/main" id="{0F53A936-5DEC-5E75-E99C-641D26744396}"/>
                </a:ext>
              </a:extLst>
            </p:cNvPr>
            <p:cNvSpPr/>
            <p:nvPr/>
          </p:nvSpPr>
          <p:spPr>
            <a:xfrm>
              <a:off x="2273838" y="1463000"/>
              <a:ext cx="95175" cy="269675"/>
            </a:xfrm>
            <a:custGeom>
              <a:avLst/>
              <a:gdLst/>
              <a:ahLst/>
              <a:cxnLst/>
              <a:rect l="l" t="t" r="r" b="b"/>
              <a:pathLst>
                <a:path w="3807" h="10787" extrusionOk="0">
                  <a:moveTo>
                    <a:pt x="1428" y="1"/>
                  </a:moveTo>
                  <a:lnTo>
                    <a:pt x="1428" y="7039"/>
                  </a:lnTo>
                  <a:cubicBezTo>
                    <a:pt x="607" y="7252"/>
                    <a:pt x="0" y="7998"/>
                    <a:pt x="0" y="8883"/>
                  </a:cubicBezTo>
                  <a:cubicBezTo>
                    <a:pt x="0" y="9932"/>
                    <a:pt x="853" y="10786"/>
                    <a:pt x="1903" y="10786"/>
                  </a:cubicBezTo>
                  <a:cubicBezTo>
                    <a:pt x="2952" y="10786"/>
                    <a:pt x="3806" y="9932"/>
                    <a:pt x="3806" y="8883"/>
                  </a:cubicBezTo>
                  <a:cubicBezTo>
                    <a:pt x="3806" y="7998"/>
                    <a:pt x="3198" y="7252"/>
                    <a:pt x="2379" y="7039"/>
                  </a:cubicBezTo>
                  <a:lnTo>
                    <a:pt x="23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076613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30">
          <a:extLst>
            <a:ext uri="{FF2B5EF4-FFF2-40B4-BE49-F238E27FC236}">
              <a16:creationId xmlns:a16="http://schemas.microsoft.com/office/drawing/2014/main" id="{2FFCFF27-9EB4-52A1-AEB8-D4E950F176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43">
            <a:extLst>
              <a:ext uri="{FF2B5EF4-FFF2-40B4-BE49-F238E27FC236}">
                <a16:creationId xmlns:a16="http://schemas.microsoft.com/office/drawing/2014/main" id="{72F27374-F09A-04DA-60CF-986DC329BF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2229" y="1213676"/>
            <a:ext cx="183000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sz="2800" dirty="0"/>
              <a:t>What Are Customers Buying Most Often?</a:t>
            </a:r>
            <a:endParaRPr sz="2800" dirty="0">
              <a:solidFill>
                <a:schemeClr val="dk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118892-8A04-E96D-0F83-CE3719A40C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02237" y="805840"/>
            <a:ext cx="6225061" cy="353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4742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6">
          <a:extLst>
            <a:ext uri="{FF2B5EF4-FFF2-40B4-BE49-F238E27FC236}">
              <a16:creationId xmlns:a16="http://schemas.microsoft.com/office/drawing/2014/main" id="{9E97F473-A974-5819-8B2C-A874F4900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>
            <a:extLst>
              <a:ext uri="{FF2B5EF4-FFF2-40B4-BE49-F238E27FC236}">
                <a16:creationId xmlns:a16="http://schemas.microsoft.com/office/drawing/2014/main" id="{DB858BB1-F530-6EC9-6606-E04C5E11DF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499"/>
            <a:ext cx="7771882" cy="68898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 sz="3200" dirty="0"/>
              <a:t>Some Product Pairs Are Strongly Associated</a:t>
            </a:r>
            <a:endParaRPr lang="en-US" sz="3200" dirty="0"/>
          </a:p>
        </p:txBody>
      </p:sp>
      <p:sp>
        <p:nvSpPr>
          <p:cNvPr id="6" name="Google Shape;567;p47">
            <a:extLst>
              <a:ext uri="{FF2B5EF4-FFF2-40B4-BE49-F238E27FC236}">
                <a16:creationId xmlns:a16="http://schemas.microsoft.com/office/drawing/2014/main" id="{4A699525-4CAB-555D-1FA7-E2B8C69D59DE}"/>
              </a:ext>
            </a:extLst>
          </p:cNvPr>
          <p:cNvSpPr/>
          <p:nvPr/>
        </p:nvSpPr>
        <p:spPr>
          <a:xfrm>
            <a:off x="8225514" y="1075654"/>
            <a:ext cx="781407" cy="80219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dist="47625" dir="3480000" algn="bl" rotWithShape="0">
              <a:schemeClr val="dk1">
                <a:alpha val="1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640;p47">
            <a:extLst>
              <a:ext uri="{FF2B5EF4-FFF2-40B4-BE49-F238E27FC236}">
                <a16:creationId xmlns:a16="http://schemas.microsoft.com/office/drawing/2014/main" id="{DE90B1E2-DF4F-AC3B-95AF-798D1F7F8108}"/>
              </a:ext>
            </a:extLst>
          </p:cNvPr>
          <p:cNvGrpSpPr/>
          <p:nvPr/>
        </p:nvGrpSpPr>
        <p:grpSpPr>
          <a:xfrm>
            <a:off x="8491882" y="1228480"/>
            <a:ext cx="248670" cy="435863"/>
            <a:chOff x="2218313" y="1403550"/>
            <a:chExt cx="206225" cy="384650"/>
          </a:xfrm>
        </p:grpSpPr>
        <p:sp>
          <p:nvSpPr>
            <p:cNvPr id="8" name="Google Shape;641;p47">
              <a:extLst>
                <a:ext uri="{FF2B5EF4-FFF2-40B4-BE49-F238E27FC236}">
                  <a16:creationId xmlns:a16="http://schemas.microsoft.com/office/drawing/2014/main" id="{61CE79AD-99B8-9F32-6BC3-8275BC53A2E0}"/>
                </a:ext>
              </a:extLst>
            </p:cNvPr>
            <p:cNvSpPr/>
            <p:nvPr/>
          </p:nvSpPr>
          <p:spPr>
            <a:xfrm>
              <a:off x="2218313" y="1403550"/>
              <a:ext cx="206225" cy="384650"/>
            </a:xfrm>
            <a:custGeom>
              <a:avLst/>
              <a:gdLst/>
              <a:ahLst/>
              <a:cxnLst/>
              <a:rect l="l" t="t" r="r" b="b"/>
              <a:pathLst>
                <a:path w="8249" h="15386" extrusionOk="0">
                  <a:moveTo>
                    <a:pt x="4124" y="951"/>
                  </a:moveTo>
                  <a:cubicBezTo>
                    <a:pt x="5087" y="951"/>
                    <a:pt x="5868" y="1734"/>
                    <a:pt x="5868" y="2696"/>
                  </a:cubicBezTo>
                  <a:lnTo>
                    <a:pt x="5868" y="8603"/>
                  </a:lnTo>
                  <a:lnTo>
                    <a:pt x="6055" y="8745"/>
                  </a:lnTo>
                  <a:cubicBezTo>
                    <a:pt x="6843" y="9354"/>
                    <a:pt x="7296" y="10270"/>
                    <a:pt x="7296" y="11261"/>
                  </a:cubicBezTo>
                  <a:cubicBezTo>
                    <a:pt x="7296" y="13010"/>
                    <a:pt x="5873" y="14433"/>
                    <a:pt x="4124" y="14433"/>
                  </a:cubicBezTo>
                  <a:cubicBezTo>
                    <a:pt x="2374" y="14433"/>
                    <a:pt x="951" y="13010"/>
                    <a:pt x="951" y="11261"/>
                  </a:cubicBezTo>
                  <a:cubicBezTo>
                    <a:pt x="951" y="10270"/>
                    <a:pt x="1405" y="9354"/>
                    <a:pt x="2194" y="8745"/>
                  </a:cubicBezTo>
                  <a:lnTo>
                    <a:pt x="2379" y="8603"/>
                  </a:lnTo>
                  <a:lnTo>
                    <a:pt x="2379" y="2696"/>
                  </a:lnTo>
                  <a:cubicBezTo>
                    <a:pt x="2379" y="1734"/>
                    <a:pt x="3162" y="951"/>
                    <a:pt x="4124" y="951"/>
                  </a:cubicBezTo>
                  <a:close/>
                  <a:moveTo>
                    <a:pt x="4124" y="0"/>
                  </a:moveTo>
                  <a:cubicBezTo>
                    <a:pt x="2637" y="0"/>
                    <a:pt x="1428" y="1209"/>
                    <a:pt x="1428" y="2696"/>
                  </a:cubicBezTo>
                  <a:lnTo>
                    <a:pt x="1428" y="8143"/>
                  </a:lnTo>
                  <a:cubicBezTo>
                    <a:pt x="518" y="8929"/>
                    <a:pt x="0" y="10052"/>
                    <a:pt x="0" y="11261"/>
                  </a:cubicBezTo>
                  <a:cubicBezTo>
                    <a:pt x="0" y="13535"/>
                    <a:pt x="1850" y="15385"/>
                    <a:pt x="4124" y="15385"/>
                  </a:cubicBezTo>
                  <a:cubicBezTo>
                    <a:pt x="6397" y="15385"/>
                    <a:pt x="8248" y="13535"/>
                    <a:pt x="8248" y="11261"/>
                  </a:cubicBezTo>
                  <a:cubicBezTo>
                    <a:pt x="8248" y="10053"/>
                    <a:pt x="7731" y="8929"/>
                    <a:pt x="6821" y="8143"/>
                  </a:cubicBezTo>
                  <a:lnTo>
                    <a:pt x="6821" y="2696"/>
                  </a:lnTo>
                  <a:cubicBezTo>
                    <a:pt x="6821" y="1209"/>
                    <a:pt x="5610" y="0"/>
                    <a:pt x="41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42;p47">
              <a:extLst>
                <a:ext uri="{FF2B5EF4-FFF2-40B4-BE49-F238E27FC236}">
                  <a16:creationId xmlns:a16="http://schemas.microsoft.com/office/drawing/2014/main" id="{3AC156AA-CED9-5B7D-64B1-9324C480D874}"/>
                </a:ext>
              </a:extLst>
            </p:cNvPr>
            <p:cNvSpPr/>
            <p:nvPr/>
          </p:nvSpPr>
          <p:spPr>
            <a:xfrm>
              <a:off x="2273838" y="1463000"/>
              <a:ext cx="95175" cy="269675"/>
            </a:xfrm>
            <a:custGeom>
              <a:avLst/>
              <a:gdLst/>
              <a:ahLst/>
              <a:cxnLst/>
              <a:rect l="l" t="t" r="r" b="b"/>
              <a:pathLst>
                <a:path w="3807" h="10787" extrusionOk="0">
                  <a:moveTo>
                    <a:pt x="1428" y="1"/>
                  </a:moveTo>
                  <a:lnTo>
                    <a:pt x="1428" y="7039"/>
                  </a:lnTo>
                  <a:cubicBezTo>
                    <a:pt x="607" y="7252"/>
                    <a:pt x="0" y="7998"/>
                    <a:pt x="0" y="8883"/>
                  </a:cubicBezTo>
                  <a:cubicBezTo>
                    <a:pt x="0" y="9932"/>
                    <a:pt x="853" y="10786"/>
                    <a:pt x="1903" y="10786"/>
                  </a:cubicBezTo>
                  <a:cubicBezTo>
                    <a:pt x="2952" y="10786"/>
                    <a:pt x="3806" y="9932"/>
                    <a:pt x="3806" y="8883"/>
                  </a:cubicBezTo>
                  <a:cubicBezTo>
                    <a:pt x="3806" y="7998"/>
                    <a:pt x="3198" y="7252"/>
                    <a:pt x="2379" y="7039"/>
                  </a:cubicBezTo>
                  <a:lnTo>
                    <a:pt x="23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409;p42">
            <a:extLst>
              <a:ext uri="{FF2B5EF4-FFF2-40B4-BE49-F238E27FC236}">
                <a16:creationId xmlns:a16="http://schemas.microsoft.com/office/drawing/2014/main" id="{5007D01E-7CE7-EDED-CB97-2788BBABFE08}"/>
              </a:ext>
            </a:extLst>
          </p:cNvPr>
          <p:cNvSpPr txBox="1"/>
          <p:nvPr/>
        </p:nvSpPr>
        <p:spPr>
          <a:xfrm>
            <a:off x="5072368" y="2773910"/>
            <a:ext cx="3419514" cy="13952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algn="ctr"/>
            <a:r>
              <a:rPr lang="en-CA" sz="2800" b="1" dirty="0"/>
              <a:t>48.2×</a:t>
            </a:r>
          </a:p>
          <a:p>
            <a:pPr algn="ctr"/>
            <a:r>
              <a:rPr lang="en-CA" sz="2400" dirty="0"/>
              <a:t>stronger association than expected</a:t>
            </a:r>
            <a:endParaRPr lang="en-CA" sz="2400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9DA8A6-BC64-E32D-DCF9-BA0AF1EE11DA}"/>
              </a:ext>
            </a:extLst>
          </p:cNvPr>
          <p:cNvSpPr txBox="1"/>
          <p:nvPr/>
        </p:nvSpPr>
        <p:spPr>
          <a:xfrm>
            <a:off x="5392296" y="1663413"/>
            <a:ext cx="341951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CA" b="1" dirty="0"/>
              <a:t>Poppy’s Playhouse Bedroom + Livingroom</a:t>
            </a:r>
            <a:br>
              <a:rPr lang="en-CA" dirty="0"/>
            </a:br>
            <a:r>
              <a:rPr lang="en-CA" dirty="0"/>
              <a:t>showed the strongest product-pair relationship.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E890607-A96D-54AA-7D19-132B1F09DE6A}"/>
              </a:ext>
            </a:extLst>
          </p:cNvPr>
          <p:cNvSpPr txBox="1"/>
          <p:nvPr/>
        </p:nvSpPr>
        <p:spPr>
          <a:xfrm>
            <a:off x="609000" y="4085516"/>
            <a:ext cx="444344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 dirty="0"/>
              <a:t>Higher values indicate product pairs that appeared together more frequently than expected if purchases were unrelated.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EE44EDD-4DA3-882A-E57B-4783E9CC81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939" y="1446411"/>
            <a:ext cx="4010404" cy="2528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6267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1">
          <a:extLst>
            <a:ext uri="{FF2B5EF4-FFF2-40B4-BE49-F238E27FC236}">
              <a16:creationId xmlns:a16="http://schemas.microsoft.com/office/drawing/2014/main" id="{DFB49CED-C7B7-6FAE-6853-F9D75A62AE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>
            <a:extLst>
              <a:ext uri="{FF2B5EF4-FFF2-40B4-BE49-F238E27FC236}">
                <a16:creationId xmlns:a16="http://schemas.microsoft.com/office/drawing/2014/main" id="{8D497FE0-B52F-7094-D716-94D9C6C6149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 dirty="0"/>
              <a:t>Strong Product Pairs Can Guide Retail Decisions </a:t>
            </a:r>
          </a:p>
        </p:txBody>
      </p:sp>
      <p:grpSp>
        <p:nvGrpSpPr>
          <p:cNvPr id="263" name="Google Shape;263;p33">
            <a:extLst>
              <a:ext uri="{FF2B5EF4-FFF2-40B4-BE49-F238E27FC236}">
                <a16:creationId xmlns:a16="http://schemas.microsoft.com/office/drawing/2014/main" id="{86BCDC48-1A26-516E-3B0A-2A41ED46CEA1}"/>
              </a:ext>
            </a:extLst>
          </p:cNvPr>
          <p:cNvGrpSpPr/>
          <p:nvPr/>
        </p:nvGrpSpPr>
        <p:grpSpPr>
          <a:xfrm>
            <a:off x="7927669" y="3492084"/>
            <a:ext cx="979813" cy="979813"/>
            <a:chOff x="6398575" y="3131102"/>
            <a:chExt cx="1250400" cy="1250400"/>
          </a:xfrm>
        </p:grpSpPr>
        <p:sp>
          <p:nvSpPr>
            <p:cNvPr id="264" name="Google Shape;264;p33">
              <a:extLst>
                <a:ext uri="{FF2B5EF4-FFF2-40B4-BE49-F238E27FC236}">
                  <a16:creationId xmlns:a16="http://schemas.microsoft.com/office/drawing/2014/main" id="{34A1CAB1-AFE2-1AC6-756C-1313542A93A0}"/>
                </a:ext>
              </a:extLst>
            </p:cNvPr>
            <p:cNvSpPr/>
            <p:nvPr/>
          </p:nvSpPr>
          <p:spPr>
            <a:xfrm>
              <a:off x="6398575" y="3131102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3">
              <a:extLst>
                <a:ext uri="{FF2B5EF4-FFF2-40B4-BE49-F238E27FC236}">
                  <a16:creationId xmlns:a16="http://schemas.microsoft.com/office/drawing/2014/main" id="{C3FC6A18-0723-1AAC-B384-1E3795C0B07F}"/>
                </a:ext>
              </a:extLst>
            </p:cNvPr>
            <p:cNvSpPr/>
            <p:nvPr/>
          </p:nvSpPr>
          <p:spPr>
            <a:xfrm>
              <a:off x="6669486" y="3502125"/>
              <a:ext cx="708593" cy="508345"/>
            </a:xfrm>
            <a:custGeom>
              <a:avLst/>
              <a:gdLst/>
              <a:ahLst/>
              <a:cxnLst/>
              <a:rect l="l" t="t" r="r" b="b"/>
              <a:pathLst>
                <a:path w="15223" h="10921" extrusionOk="0">
                  <a:moveTo>
                    <a:pt x="11323" y="1944"/>
                  </a:moveTo>
                  <a:cubicBezTo>
                    <a:pt x="12402" y="1944"/>
                    <a:pt x="13279" y="2821"/>
                    <a:pt x="13279" y="3900"/>
                  </a:cubicBezTo>
                  <a:cubicBezTo>
                    <a:pt x="13279" y="4241"/>
                    <a:pt x="13189" y="4575"/>
                    <a:pt x="13023" y="4867"/>
                  </a:cubicBezTo>
                  <a:cubicBezTo>
                    <a:pt x="12707" y="4708"/>
                    <a:pt x="12363" y="4600"/>
                    <a:pt x="12000" y="4553"/>
                  </a:cubicBezTo>
                  <a:cubicBezTo>
                    <a:pt x="11800" y="3581"/>
                    <a:pt x="11304" y="2725"/>
                    <a:pt x="10615" y="2078"/>
                  </a:cubicBezTo>
                  <a:cubicBezTo>
                    <a:pt x="10840" y="1991"/>
                    <a:pt x="11081" y="1944"/>
                    <a:pt x="11323" y="1944"/>
                  </a:cubicBezTo>
                  <a:close/>
                  <a:moveTo>
                    <a:pt x="7393" y="1755"/>
                  </a:moveTo>
                  <a:cubicBezTo>
                    <a:pt x="9294" y="1755"/>
                    <a:pt x="10896" y="3174"/>
                    <a:pt x="11117" y="5059"/>
                  </a:cubicBezTo>
                  <a:lnTo>
                    <a:pt x="11167" y="5479"/>
                  </a:lnTo>
                  <a:lnTo>
                    <a:pt x="11590" y="5479"/>
                  </a:lnTo>
                  <a:cubicBezTo>
                    <a:pt x="12828" y="5479"/>
                    <a:pt x="13836" y="6486"/>
                    <a:pt x="13836" y="7724"/>
                  </a:cubicBezTo>
                  <a:cubicBezTo>
                    <a:pt x="13836" y="8962"/>
                    <a:pt x="12828" y="9969"/>
                    <a:pt x="11590" y="9969"/>
                  </a:cubicBezTo>
                  <a:lnTo>
                    <a:pt x="3197" y="9969"/>
                  </a:lnTo>
                  <a:cubicBezTo>
                    <a:pt x="1959" y="9969"/>
                    <a:pt x="952" y="8962"/>
                    <a:pt x="952" y="7724"/>
                  </a:cubicBezTo>
                  <a:cubicBezTo>
                    <a:pt x="952" y="6486"/>
                    <a:pt x="1959" y="5479"/>
                    <a:pt x="3197" y="5479"/>
                  </a:cubicBezTo>
                  <a:lnTo>
                    <a:pt x="3620" y="5479"/>
                  </a:lnTo>
                  <a:lnTo>
                    <a:pt x="3670" y="5059"/>
                  </a:lnTo>
                  <a:cubicBezTo>
                    <a:pt x="3892" y="3174"/>
                    <a:pt x="5494" y="1755"/>
                    <a:pt x="7393" y="1755"/>
                  </a:cubicBezTo>
                  <a:close/>
                  <a:moveTo>
                    <a:pt x="10849" y="1"/>
                  </a:moveTo>
                  <a:lnTo>
                    <a:pt x="10849" y="1032"/>
                  </a:lnTo>
                  <a:cubicBezTo>
                    <a:pt x="10465" y="1096"/>
                    <a:pt x="10096" y="1237"/>
                    <a:pt x="9767" y="1445"/>
                  </a:cubicBezTo>
                  <a:cubicBezTo>
                    <a:pt x="9068" y="1036"/>
                    <a:pt x="8256" y="802"/>
                    <a:pt x="7394" y="802"/>
                  </a:cubicBezTo>
                  <a:cubicBezTo>
                    <a:pt x="5145" y="802"/>
                    <a:pt x="3232" y="2389"/>
                    <a:pt x="2787" y="4553"/>
                  </a:cubicBezTo>
                  <a:cubicBezTo>
                    <a:pt x="1217" y="4755"/>
                    <a:pt x="1" y="6099"/>
                    <a:pt x="1" y="7724"/>
                  </a:cubicBezTo>
                  <a:cubicBezTo>
                    <a:pt x="1" y="9487"/>
                    <a:pt x="1434" y="10920"/>
                    <a:pt x="3197" y="10920"/>
                  </a:cubicBezTo>
                  <a:lnTo>
                    <a:pt x="11590" y="10920"/>
                  </a:lnTo>
                  <a:cubicBezTo>
                    <a:pt x="13353" y="10920"/>
                    <a:pt x="14787" y="9487"/>
                    <a:pt x="14787" y="7724"/>
                  </a:cubicBezTo>
                  <a:cubicBezTo>
                    <a:pt x="14787" y="6818"/>
                    <a:pt x="14408" y="6001"/>
                    <a:pt x="13801" y="5418"/>
                  </a:cubicBezTo>
                  <a:cubicBezTo>
                    <a:pt x="13996" y="5098"/>
                    <a:pt x="14128" y="4745"/>
                    <a:pt x="14191" y="4374"/>
                  </a:cubicBezTo>
                  <a:lnTo>
                    <a:pt x="15222" y="4374"/>
                  </a:lnTo>
                  <a:lnTo>
                    <a:pt x="15222" y="3423"/>
                  </a:lnTo>
                  <a:lnTo>
                    <a:pt x="14191" y="3423"/>
                  </a:lnTo>
                  <a:cubicBezTo>
                    <a:pt x="14118" y="2976"/>
                    <a:pt x="13940" y="2563"/>
                    <a:pt x="13687" y="2208"/>
                  </a:cubicBezTo>
                  <a:lnTo>
                    <a:pt x="14417" y="1480"/>
                  </a:lnTo>
                  <a:lnTo>
                    <a:pt x="13743" y="806"/>
                  </a:lnTo>
                  <a:lnTo>
                    <a:pt x="13013" y="1536"/>
                  </a:lnTo>
                  <a:cubicBezTo>
                    <a:pt x="12660" y="1283"/>
                    <a:pt x="12247" y="1107"/>
                    <a:pt x="11800" y="1032"/>
                  </a:cubicBezTo>
                  <a:lnTo>
                    <a:pt x="11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B16C7-14E3-A83B-AF0D-097F6C63B8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49" y="3931514"/>
            <a:ext cx="6949962" cy="672460"/>
          </a:xfrm>
        </p:spPr>
        <p:txBody>
          <a:bodyPr/>
          <a:lstStyle/>
          <a:p>
            <a:pPr>
              <a:buNone/>
            </a:pPr>
            <a:r>
              <a:rPr lang="en-CA" b="1" dirty="0"/>
              <a:t>RECOMMENDED ACTION</a:t>
            </a:r>
          </a:p>
          <a:p>
            <a:pPr>
              <a:buNone/>
            </a:pPr>
            <a:r>
              <a:rPr lang="en-CA" dirty="0"/>
              <a:t>Use strong product associations to support product bundling, cross-promotion, and product placement decisions.</a:t>
            </a:r>
          </a:p>
        </p:txBody>
      </p:sp>
      <p:sp>
        <p:nvSpPr>
          <p:cNvPr id="2" name="Google Shape;567;p47">
            <a:extLst>
              <a:ext uri="{FF2B5EF4-FFF2-40B4-BE49-F238E27FC236}">
                <a16:creationId xmlns:a16="http://schemas.microsoft.com/office/drawing/2014/main" id="{7EB27F0E-BA11-9D32-B874-798728B9A708}"/>
              </a:ext>
            </a:extLst>
          </p:cNvPr>
          <p:cNvSpPr/>
          <p:nvPr/>
        </p:nvSpPr>
        <p:spPr>
          <a:xfrm>
            <a:off x="8304504" y="245139"/>
            <a:ext cx="781407" cy="80219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dist="47625" dir="3480000" algn="bl" rotWithShape="0">
              <a:schemeClr val="dk1">
                <a:alpha val="1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" name="Google Shape;640;p47">
            <a:extLst>
              <a:ext uri="{FF2B5EF4-FFF2-40B4-BE49-F238E27FC236}">
                <a16:creationId xmlns:a16="http://schemas.microsoft.com/office/drawing/2014/main" id="{EF1B33F2-6973-C231-FE9A-75718DD8F3F8}"/>
              </a:ext>
            </a:extLst>
          </p:cNvPr>
          <p:cNvGrpSpPr/>
          <p:nvPr/>
        </p:nvGrpSpPr>
        <p:grpSpPr>
          <a:xfrm>
            <a:off x="8576459" y="422283"/>
            <a:ext cx="248670" cy="435863"/>
            <a:chOff x="2218313" y="1403550"/>
            <a:chExt cx="206225" cy="384650"/>
          </a:xfrm>
        </p:grpSpPr>
        <p:sp>
          <p:nvSpPr>
            <p:cNvPr id="6" name="Google Shape;641;p47">
              <a:extLst>
                <a:ext uri="{FF2B5EF4-FFF2-40B4-BE49-F238E27FC236}">
                  <a16:creationId xmlns:a16="http://schemas.microsoft.com/office/drawing/2014/main" id="{54A1AC14-24AC-2DDF-0490-49756F439F20}"/>
                </a:ext>
              </a:extLst>
            </p:cNvPr>
            <p:cNvSpPr/>
            <p:nvPr/>
          </p:nvSpPr>
          <p:spPr>
            <a:xfrm>
              <a:off x="2218313" y="1403550"/>
              <a:ext cx="206225" cy="384650"/>
            </a:xfrm>
            <a:custGeom>
              <a:avLst/>
              <a:gdLst/>
              <a:ahLst/>
              <a:cxnLst/>
              <a:rect l="l" t="t" r="r" b="b"/>
              <a:pathLst>
                <a:path w="8249" h="15386" extrusionOk="0">
                  <a:moveTo>
                    <a:pt x="4124" y="951"/>
                  </a:moveTo>
                  <a:cubicBezTo>
                    <a:pt x="5087" y="951"/>
                    <a:pt x="5868" y="1734"/>
                    <a:pt x="5868" y="2696"/>
                  </a:cubicBezTo>
                  <a:lnTo>
                    <a:pt x="5868" y="8603"/>
                  </a:lnTo>
                  <a:lnTo>
                    <a:pt x="6055" y="8745"/>
                  </a:lnTo>
                  <a:cubicBezTo>
                    <a:pt x="6843" y="9354"/>
                    <a:pt x="7296" y="10270"/>
                    <a:pt x="7296" y="11261"/>
                  </a:cubicBezTo>
                  <a:cubicBezTo>
                    <a:pt x="7296" y="13010"/>
                    <a:pt x="5873" y="14433"/>
                    <a:pt x="4124" y="14433"/>
                  </a:cubicBezTo>
                  <a:cubicBezTo>
                    <a:pt x="2374" y="14433"/>
                    <a:pt x="951" y="13010"/>
                    <a:pt x="951" y="11261"/>
                  </a:cubicBezTo>
                  <a:cubicBezTo>
                    <a:pt x="951" y="10270"/>
                    <a:pt x="1405" y="9354"/>
                    <a:pt x="2194" y="8745"/>
                  </a:cubicBezTo>
                  <a:lnTo>
                    <a:pt x="2379" y="8603"/>
                  </a:lnTo>
                  <a:lnTo>
                    <a:pt x="2379" y="2696"/>
                  </a:lnTo>
                  <a:cubicBezTo>
                    <a:pt x="2379" y="1734"/>
                    <a:pt x="3162" y="951"/>
                    <a:pt x="4124" y="951"/>
                  </a:cubicBezTo>
                  <a:close/>
                  <a:moveTo>
                    <a:pt x="4124" y="0"/>
                  </a:moveTo>
                  <a:cubicBezTo>
                    <a:pt x="2637" y="0"/>
                    <a:pt x="1428" y="1209"/>
                    <a:pt x="1428" y="2696"/>
                  </a:cubicBezTo>
                  <a:lnTo>
                    <a:pt x="1428" y="8143"/>
                  </a:lnTo>
                  <a:cubicBezTo>
                    <a:pt x="518" y="8929"/>
                    <a:pt x="0" y="10052"/>
                    <a:pt x="0" y="11261"/>
                  </a:cubicBezTo>
                  <a:cubicBezTo>
                    <a:pt x="0" y="13535"/>
                    <a:pt x="1850" y="15385"/>
                    <a:pt x="4124" y="15385"/>
                  </a:cubicBezTo>
                  <a:cubicBezTo>
                    <a:pt x="6397" y="15385"/>
                    <a:pt x="8248" y="13535"/>
                    <a:pt x="8248" y="11261"/>
                  </a:cubicBezTo>
                  <a:cubicBezTo>
                    <a:pt x="8248" y="10053"/>
                    <a:pt x="7731" y="8929"/>
                    <a:pt x="6821" y="8143"/>
                  </a:cubicBezTo>
                  <a:lnTo>
                    <a:pt x="6821" y="2696"/>
                  </a:lnTo>
                  <a:cubicBezTo>
                    <a:pt x="6821" y="1209"/>
                    <a:pt x="5610" y="0"/>
                    <a:pt x="41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642;p47">
              <a:extLst>
                <a:ext uri="{FF2B5EF4-FFF2-40B4-BE49-F238E27FC236}">
                  <a16:creationId xmlns:a16="http://schemas.microsoft.com/office/drawing/2014/main" id="{E25BC1FA-5EC5-3EA6-A4A5-04EEB8A91CAE}"/>
                </a:ext>
              </a:extLst>
            </p:cNvPr>
            <p:cNvSpPr/>
            <p:nvPr/>
          </p:nvSpPr>
          <p:spPr>
            <a:xfrm>
              <a:off x="2273838" y="1463000"/>
              <a:ext cx="95175" cy="269675"/>
            </a:xfrm>
            <a:custGeom>
              <a:avLst/>
              <a:gdLst/>
              <a:ahLst/>
              <a:cxnLst/>
              <a:rect l="l" t="t" r="r" b="b"/>
              <a:pathLst>
                <a:path w="3807" h="10787" extrusionOk="0">
                  <a:moveTo>
                    <a:pt x="1428" y="1"/>
                  </a:moveTo>
                  <a:lnTo>
                    <a:pt x="1428" y="7039"/>
                  </a:lnTo>
                  <a:cubicBezTo>
                    <a:pt x="607" y="7252"/>
                    <a:pt x="0" y="7998"/>
                    <a:pt x="0" y="8883"/>
                  </a:cubicBezTo>
                  <a:cubicBezTo>
                    <a:pt x="0" y="9932"/>
                    <a:pt x="853" y="10786"/>
                    <a:pt x="1903" y="10786"/>
                  </a:cubicBezTo>
                  <a:cubicBezTo>
                    <a:pt x="2952" y="10786"/>
                    <a:pt x="3806" y="9932"/>
                    <a:pt x="3806" y="8883"/>
                  </a:cubicBezTo>
                  <a:cubicBezTo>
                    <a:pt x="3806" y="7998"/>
                    <a:pt x="3198" y="7252"/>
                    <a:pt x="2379" y="7039"/>
                  </a:cubicBezTo>
                  <a:lnTo>
                    <a:pt x="23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69296496-10CB-0179-2808-1F59485E82E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55722767"/>
              </p:ext>
            </p:extLst>
          </p:nvPr>
        </p:nvGraphicFramePr>
        <p:xfrm>
          <a:off x="720000" y="1479275"/>
          <a:ext cx="7710750" cy="2452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6671615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6">
          <a:extLst>
            <a:ext uri="{FF2B5EF4-FFF2-40B4-BE49-F238E27FC236}">
              <a16:creationId xmlns:a16="http://schemas.microsoft.com/office/drawing/2014/main" id="{A7D0030C-5D05-64D9-EA4C-EAE7F9812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>
            <a:extLst>
              <a:ext uri="{FF2B5EF4-FFF2-40B4-BE49-F238E27FC236}">
                <a16:creationId xmlns:a16="http://schemas.microsoft.com/office/drawing/2014/main" id="{AF52A95F-FA9A-2827-7B2F-345DA64CD5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/>
              <a:t>Weather Conditions Are Associated With Specific Product Purchases</a:t>
            </a:r>
            <a:endParaRPr lang="en-US"/>
          </a:p>
        </p:txBody>
      </p:sp>
      <p:sp>
        <p:nvSpPr>
          <p:cNvPr id="6" name="Google Shape;567;p47">
            <a:extLst>
              <a:ext uri="{FF2B5EF4-FFF2-40B4-BE49-F238E27FC236}">
                <a16:creationId xmlns:a16="http://schemas.microsoft.com/office/drawing/2014/main" id="{3978E659-725D-6FF8-DD27-DE078ACEB07F}"/>
              </a:ext>
            </a:extLst>
          </p:cNvPr>
          <p:cNvSpPr/>
          <p:nvPr/>
        </p:nvSpPr>
        <p:spPr>
          <a:xfrm>
            <a:off x="8095593" y="671882"/>
            <a:ext cx="781407" cy="80219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dist="47625" dir="3480000" algn="bl" rotWithShape="0">
              <a:schemeClr val="dk1">
                <a:alpha val="1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oogle Shape;640;p47">
            <a:extLst>
              <a:ext uri="{FF2B5EF4-FFF2-40B4-BE49-F238E27FC236}">
                <a16:creationId xmlns:a16="http://schemas.microsoft.com/office/drawing/2014/main" id="{0F9A22A7-28EA-D3BD-F831-27FF3F1921CA}"/>
              </a:ext>
            </a:extLst>
          </p:cNvPr>
          <p:cNvGrpSpPr/>
          <p:nvPr/>
        </p:nvGrpSpPr>
        <p:grpSpPr>
          <a:xfrm>
            <a:off x="8367548" y="849026"/>
            <a:ext cx="248670" cy="435863"/>
            <a:chOff x="2218313" y="1403550"/>
            <a:chExt cx="206225" cy="384650"/>
          </a:xfrm>
        </p:grpSpPr>
        <p:sp>
          <p:nvSpPr>
            <p:cNvPr id="8" name="Google Shape;641;p47">
              <a:extLst>
                <a:ext uri="{FF2B5EF4-FFF2-40B4-BE49-F238E27FC236}">
                  <a16:creationId xmlns:a16="http://schemas.microsoft.com/office/drawing/2014/main" id="{B262A9BF-8DBF-49B3-5E16-7A3D1CC7CDC6}"/>
                </a:ext>
              </a:extLst>
            </p:cNvPr>
            <p:cNvSpPr/>
            <p:nvPr/>
          </p:nvSpPr>
          <p:spPr>
            <a:xfrm>
              <a:off x="2218313" y="1403550"/>
              <a:ext cx="206225" cy="384650"/>
            </a:xfrm>
            <a:custGeom>
              <a:avLst/>
              <a:gdLst/>
              <a:ahLst/>
              <a:cxnLst/>
              <a:rect l="l" t="t" r="r" b="b"/>
              <a:pathLst>
                <a:path w="8249" h="15386" extrusionOk="0">
                  <a:moveTo>
                    <a:pt x="4124" y="951"/>
                  </a:moveTo>
                  <a:cubicBezTo>
                    <a:pt x="5087" y="951"/>
                    <a:pt x="5868" y="1734"/>
                    <a:pt x="5868" y="2696"/>
                  </a:cubicBezTo>
                  <a:lnTo>
                    <a:pt x="5868" y="8603"/>
                  </a:lnTo>
                  <a:lnTo>
                    <a:pt x="6055" y="8745"/>
                  </a:lnTo>
                  <a:cubicBezTo>
                    <a:pt x="6843" y="9354"/>
                    <a:pt x="7296" y="10270"/>
                    <a:pt x="7296" y="11261"/>
                  </a:cubicBezTo>
                  <a:cubicBezTo>
                    <a:pt x="7296" y="13010"/>
                    <a:pt x="5873" y="14433"/>
                    <a:pt x="4124" y="14433"/>
                  </a:cubicBezTo>
                  <a:cubicBezTo>
                    <a:pt x="2374" y="14433"/>
                    <a:pt x="951" y="13010"/>
                    <a:pt x="951" y="11261"/>
                  </a:cubicBezTo>
                  <a:cubicBezTo>
                    <a:pt x="951" y="10270"/>
                    <a:pt x="1405" y="9354"/>
                    <a:pt x="2194" y="8745"/>
                  </a:cubicBezTo>
                  <a:lnTo>
                    <a:pt x="2379" y="8603"/>
                  </a:lnTo>
                  <a:lnTo>
                    <a:pt x="2379" y="2696"/>
                  </a:lnTo>
                  <a:cubicBezTo>
                    <a:pt x="2379" y="1734"/>
                    <a:pt x="3162" y="951"/>
                    <a:pt x="4124" y="951"/>
                  </a:cubicBezTo>
                  <a:close/>
                  <a:moveTo>
                    <a:pt x="4124" y="0"/>
                  </a:moveTo>
                  <a:cubicBezTo>
                    <a:pt x="2637" y="0"/>
                    <a:pt x="1428" y="1209"/>
                    <a:pt x="1428" y="2696"/>
                  </a:cubicBezTo>
                  <a:lnTo>
                    <a:pt x="1428" y="8143"/>
                  </a:lnTo>
                  <a:cubicBezTo>
                    <a:pt x="518" y="8929"/>
                    <a:pt x="0" y="10052"/>
                    <a:pt x="0" y="11261"/>
                  </a:cubicBezTo>
                  <a:cubicBezTo>
                    <a:pt x="0" y="13535"/>
                    <a:pt x="1850" y="15385"/>
                    <a:pt x="4124" y="15385"/>
                  </a:cubicBezTo>
                  <a:cubicBezTo>
                    <a:pt x="6397" y="15385"/>
                    <a:pt x="8248" y="13535"/>
                    <a:pt x="8248" y="11261"/>
                  </a:cubicBezTo>
                  <a:cubicBezTo>
                    <a:pt x="8248" y="10053"/>
                    <a:pt x="7731" y="8929"/>
                    <a:pt x="6821" y="8143"/>
                  </a:cubicBezTo>
                  <a:lnTo>
                    <a:pt x="6821" y="2696"/>
                  </a:lnTo>
                  <a:cubicBezTo>
                    <a:pt x="6821" y="1209"/>
                    <a:pt x="5610" y="0"/>
                    <a:pt x="41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9" name="Google Shape;642;p47">
              <a:extLst>
                <a:ext uri="{FF2B5EF4-FFF2-40B4-BE49-F238E27FC236}">
                  <a16:creationId xmlns:a16="http://schemas.microsoft.com/office/drawing/2014/main" id="{9F97526C-8DD7-DBF2-52CB-5CAC6CC081A9}"/>
                </a:ext>
              </a:extLst>
            </p:cNvPr>
            <p:cNvSpPr/>
            <p:nvPr/>
          </p:nvSpPr>
          <p:spPr>
            <a:xfrm>
              <a:off x="2273838" y="1463000"/>
              <a:ext cx="95175" cy="269675"/>
            </a:xfrm>
            <a:custGeom>
              <a:avLst/>
              <a:gdLst/>
              <a:ahLst/>
              <a:cxnLst/>
              <a:rect l="l" t="t" r="r" b="b"/>
              <a:pathLst>
                <a:path w="3807" h="10787" extrusionOk="0">
                  <a:moveTo>
                    <a:pt x="1428" y="1"/>
                  </a:moveTo>
                  <a:lnTo>
                    <a:pt x="1428" y="7039"/>
                  </a:lnTo>
                  <a:cubicBezTo>
                    <a:pt x="607" y="7252"/>
                    <a:pt x="0" y="7998"/>
                    <a:pt x="0" y="8883"/>
                  </a:cubicBezTo>
                  <a:cubicBezTo>
                    <a:pt x="0" y="9932"/>
                    <a:pt x="853" y="10786"/>
                    <a:pt x="1903" y="10786"/>
                  </a:cubicBezTo>
                  <a:cubicBezTo>
                    <a:pt x="2952" y="10786"/>
                    <a:pt x="3806" y="9932"/>
                    <a:pt x="3806" y="8883"/>
                  </a:cubicBezTo>
                  <a:cubicBezTo>
                    <a:pt x="3806" y="7998"/>
                    <a:pt x="3198" y="7252"/>
                    <a:pt x="2379" y="7039"/>
                  </a:cubicBezTo>
                  <a:lnTo>
                    <a:pt x="23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13" name="Google Shape;409;p42">
            <a:extLst>
              <a:ext uri="{FF2B5EF4-FFF2-40B4-BE49-F238E27FC236}">
                <a16:creationId xmlns:a16="http://schemas.microsoft.com/office/drawing/2014/main" id="{2628C4E8-47ED-595C-B541-125442A2843E}"/>
              </a:ext>
            </a:extLst>
          </p:cNvPr>
          <p:cNvSpPr txBox="1"/>
          <p:nvPr/>
        </p:nvSpPr>
        <p:spPr>
          <a:xfrm>
            <a:off x="5712938" y="2613332"/>
            <a:ext cx="3925273" cy="966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CA" sz="2800" dirty="0"/>
              <a:t>28% MORE EXPECTED 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lang="en-CA" sz="1600" dirty="0"/>
              <a:t>TO BE PURCHASED</a:t>
            </a:r>
            <a:endParaRPr kumimoji="0" sz="1600" b="0" i="0" u="none" strike="noStrike" kern="0" cap="none" spc="0" normalizeH="0" baseline="0" noProof="0" dirty="0">
              <a:ln>
                <a:noFill/>
              </a:ln>
              <a:solidFill>
                <a:srgbClr val="212121"/>
              </a:solidFill>
              <a:effectLst/>
              <a:uLnTx/>
              <a:uFillTx/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8A381C46-8758-65C5-EF3A-C4FB16FCD38B}"/>
              </a:ext>
            </a:extLst>
          </p:cNvPr>
          <p:cNvSpPr txBox="1"/>
          <p:nvPr/>
        </p:nvSpPr>
        <p:spPr>
          <a:xfrm>
            <a:off x="5682467" y="1886764"/>
            <a:ext cx="3160057" cy="849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buNone/>
            </a:pPr>
            <a:r>
              <a:rPr lang="en-CA" sz="1200" dirty="0">
                <a:latin typeface="Barlow" panose="00000500000000000000" pitchFamily="2" charset="0"/>
              </a:rPr>
              <a:t>Low Temperature</a:t>
            </a:r>
          </a:p>
          <a:p>
            <a:pPr>
              <a:buNone/>
            </a:pPr>
            <a:r>
              <a:rPr lang="en-CA" sz="1200" dirty="0">
                <a:latin typeface="Barlow" panose="00000500000000000000" pitchFamily="2" charset="0"/>
              </a:rPr>
              <a:t> + Low Rainfall</a:t>
            </a:r>
          </a:p>
          <a:p>
            <a:pPr>
              <a:buNone/>
            </a:pPr>
            <a:endParaRPr lang="en-CA" sz="1200" dirty="0">
              <a:latin typeface="Barlow" panose="00000500000000000000" pitchFamily="2" charset="0"/>
            </a:endParaRPr>
          </a:p>
          <a:p>
            <a:pPr>
              <a:buNone/>
            </a:pPr>
            <a:r>
              <a:rPr lang="en-CA" sz="1200" b="1" dirty="0">
                <a:latin typeface="Barlow" panose="00000500000000000000" pitchFamily="2" charset="0"/>
              </a:rPr>
              <a:t> </a:t>
            </a:r>
          </a:p>
          <a:p>
            <a:r>
              <a:rPr lang="en-CA" sz="1200" i="1" dirty="0">
                <a:latin typeface="Barlow" panose="00000500000000000000" pitchFamily="2" charset="0"/>
              </a:rPr>
              <a:t>White Hanging Heart T-Light Holder </a:t>
            </a:r>
            <a:endParaRPr lang="en-CA" sz="1200" dirty="0">
              <a:latin typeface="Barlow" panose="00000500000000000000" pitchFamily="2" charset="0"/>
            </a:endParaRPr>
          </a:p>
          <a:p>
            <a:pPr>
              <a:buNone/>
            </a:pPr>
            <a:endParaRPr lang="en-CA" sz="1200" dirty="0">
              <a:latin typeface="Barlow" panose="00000500000000000000" pitchFamily="2" charset="0"/>
            </a:endParaRPr>
          </a:p>
        </p:txBody>
      </p:sp>
      <p:sp>
        <p:nvSpPr>
          <p:cNvPr id="15" name="Google Shape;413;p42">
            <a:extLst>
              <a:ext uri="{FF2B5EF4-FFF2-40B4-BE49-F238E27FC236}">
                <a16:creationId xmlns:a16="http://schemas.microsoft.com/office/drawing/2014/main" id="{118D1868-6912-E7D0-8AD8-ACE7AD3CC14D}"/>
              </a:ext>
            </a:extLst>
          </p:cNvPr>
          <p:cNvSpPr txBox="1"/>
          <p:nvPr/>
        </p:nvSpPr>
        <p:spPr>
          <a:xfrm>
            <a:off x="5682467" y="3457064"/>
            <a:ext cx="2866798" cy="598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buNone/>
            </a:pPr>
            <a:r>
              <a:rPr lang="en-CA" sz="1200" dirty="0">
                <a:latin typeface="Barlow" panose="00000500000000000000" pitchFamily="2" charset="0"/>
              </a:rPr>
              <a:t>than if weather and purchases were unrelated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DA0E12-9A63-DAA8-40F6-F12B18F77B9E}"/>
              </a:ext>
            </a:extLst>
          </p:cNvPr>
          <p:cNvSpPr txBox="1"/>
          <p:nvPr/>
        </p:nvSpPr>
        <p:spPr>
          <a:xfrm>
            <a:off x="6898293" y="1983465"/>
            <a:ext cx="3642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→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930F0F0-C2D5-A0D0-2F55-3ABEB160FA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409" y="1743557"/>
            <a:ext cx="5129942" cy="292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5389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1">
          <a:extLst>
            <a:ext uri="{FF2B5EF4-FFF2-40B4-BE49-F238E27FC236}">
              <a16:creationId xmlns:a16="http://schemas.microsoft.com/office/drawing/2014/main" id="{435C15CF-F0D9-4BB8-02A4-33666FA5C3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>
            <a:extLst>
              <a:ext uri="{FF2B5EF4-FFF2-40B4-BE49-F238E27FC236}">
                <a16:creationId xmlns:a16="http://schemas.microsoft.com/office/drawing/2014/main" id="{015BC93E-CAC2-0B5D-C5B9-51BB6ECCF6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/>
              <a:t>Weather May Help Identify Changes in Product Demand</a:t>
            </a:r>
            <a:endParaRPr/>
          </a:p>
        </p:txBody>
      </p:sp>
      <p:grpSp>
        <p:nvGrpSpPr>
          <p:cNvPr id="263" name="Google Shape;263;p33">
            <a:extLst>
              <a:ext uri="{FF2B5EF4-FFF2-40B4-BE49-F238E27FC236}">
                <a16:creationId xmlns:a16="http://schemas.microsoft.com/office/drawing/2014/main" id="{AA5B2A29-E097-BEDF-E448-FFFB6086C671}"/>
              </a:ext>
            </a:extLst>
          </p:cNvPr>
          <p:cNvGrpSpPr/>
          <p:nvPr/>
        </p:nvGrpSpPr>
        <p:grpSpPr>
          <a:xfrm>
            <a:off x="7927669" y="3492084"/>
            <a:ext cx="979813" cy="979813"/>
            <a:chOff x="6398575" y="3131102"/>
            <a:chExt cx="1250400" cy="1250400"/>
          </a:xfrm>
        </p:grpSpPr>
        <p:sp>
          <p:nvSpPr>
            <p:cNvPr id="264" name="Google Shape;264;p33">
              <a:extLst>
                <a:ext uri="{FF2B5EF4-FFF2-40B4-BE49-F238E27FC236}">
                  <a16:creationId xmlns:a16="http://schemas.microsoft.com/office/drawing/2014/main" id="{71D5A9CD-F54C-94C9-8AD2-DFB8A8A774B9}"/>
                </a:ext>
              </a:extLst>
            </p:cNvPr>
            <p:cNvSpPr/>
            <p:nvPr/>
          </p:nvSpPr>
          <p:spPr>
            <a:xfrm>
              <a:off x="6398575" y="3131102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3">
              <a:extLst>
                <a:ext uri="{FF2B5EF4-FFF2-40B4-BE49-F238E27FC236}">
                  <a16:creationId xmlns:a16="http://schemas.microsoft.com/office/drawing/2014/main" id="{5DEF4E89-6C3B-44A7-343D-650C3773F698}"/>
                </a:ext>
              </a:extLst>
            </p:cNvPr>
            <p:cNvSpPr/>
            <p:nvPr/>
          </p:nvSpPr>
          <p:spPr>
            <a:xfrm>
              <a:off x="6669486" y="3502125"/>
              <a:ext cx="708593" cy="508345"/>
            </a:xfrm>
            <a:custGeom>
              <a:avLst/>
              <a:gdLst/>
              <a:ahLst/>
              <a:cxnLst/>
              <a:rect l="l" t="t" r="r" b="b"/>
              <a:pathLst>
                <a:path w="15223" h="10921" extrusionOk="0">
                  <a:moveTo>
                    <a:pt x="11323" y="1944"/>
                  </a:moveTo>
                  <a:cubicBezTo>
                    <a:pt x="12402" y="1944"/>
                    <a:pt x="13279" y="2821"/>
                    <a:pt x="13279" y="3900"/>
                  </a:cubicBezTo>
                  <a:cubicBezTo>
                    <a:pt x="13279" y="4241"/>
                    <a:pt x="13189" y="4575"/>
                    <a:pt x="13023" y="4867"/>
                  </a:cubicBezTo>
                  <a:cubicBezTo>
                    <a:pt x="12707" y="4708"/>
                    <a:pt x="12363" y="4600"/>
                    <a:pt x="12000" y="4553"/>
                  </a:cubicBezTo>
                  <a:cubicBezTo>
                    <a:pt x="11800" y="3581"/>
                    <a:pt x="11304" y="2725"/>
                    <a:pt x="10615" y="2078"/>
                  </a:cubicBezTo>
                  <a:cubicBezTo>
                    <a:pt x="10840" y="1991"/>
                    <a:pt x="11081" y="1944"/>
                    <a:pt x="11323" y="1944"/>
                  </a:cubicBezTo>
                  <a:close/>
                  <a:moveTo>
                    <a:pt x="7393" y="1755"/>
                  </a:moveTo>
                  <a:cubicBezTo>
                    <a:pt x="9294" y="1755"/>
                    <a:pt x="10896" y="3174"/>
                    <a:pt x="11117" y="5059"/>
                  </a:cubicBezTo>
                  <a:lnTo>
                    <a:pt x="11167" y="5479"/>
                  </a:lnTo>
                  <a:lnTo>
                    <a:pt x="11590" y="5479"/>
                  </a:lnTo>
                  <a:cubicBezTo>
                    <a:pt x="12828" y="5479"/>
                    <a:pt x="13836" y="6486"/>
                    <a:pt x="13836" y="7724"/>
                  </a:cubicBezTo>
                  <a:cubicBezTo>
                    <a:pt x="13836" y="8962"/>
                    <a:pt x="12828" y="9969"/>
                    <a:pt x="11590" y="9969"/>
                  </a:cubicBezTo>
                  <a:lnTo>
                    <a:pt x="3197" y="9969"/>
                  </a:lnTo>
                  <a:cubicBezTo>
                    <a:pt x="1959" y="9969"/>
                    <a:pt x="952" y="8962"/>
                    <a:pt x="952" y="7724"/>
                  </a:cubicBezTo>
                  <a:cubicBezTo>
                    <a:pt x="952" y="6486"/>
                    <a:pt x="1959" y="5479"/>
                    <a:pt x="3197" y="5479"/>
                  </a:cubicBezTo>
                  <a:lnTo>
                    <a:pt x="3620" y="5479"/>
                  </a:lnTo>
                  <a:lnTo>
                    <a:pt x="3670" y="5059"/>
                  </a:lnTo>
                  <a:cubicBezTo>
                    <a:pt x="3892" y="3174"/>
                    <a:pt x="5494" y="1755"/>
                    <a:pt x="7393" y="1755"/>
                  </a:cubicBezTo>
                  <a:close/>
                  <a:moveTo>
                    <a:pt x="10849" y="1"/>
                  </a:moveTo>
                  <a:lnTo>
                    <a:pt x="10849" y="1032"/>
                  </a:lnTo>
                  <a:cubicBezTo>
                    <a:pt x="10465" y="1096"/>
                    <a:pt x="10096" y="1237"/>
                    <a:pt x="9767" y="1445"/>
                  </a:cubicBezTo>
                  <a:cubicBezTo>
                    <a:pt x="9068" y="1036"/>
                    <a:pt x="8256" y="802"/>
                    <a:pt x="7394" y="802"/>
                  </a:cubicBezTo>
                  <a:cubicBezTo>
                    <a:pt x="5145" y="802"/>
                    <a:pt x="3232" y="2389"/>
                    <a:pt x="2787" y="4553"/>
                  </a:cubicBezTo>
                  <a:cubicBezTo>
                    <a:pt x="1217" y="4755"/>
                    <a:pt x="1" y="6099"/>
                    <a:pt x="1" y="7724"/>
                  </a:cubicBezTo>
                  <a:cubicBezTo>
                    <a:pt x="1" y="9487"/>
                    <a:pt x="1434" y="10920"/>
                    <a:pt x="3197" y="10920"/>
                  </a:cubicBezTo>
                  <a:lnTo>
                    <a:pt x="11590" y="10920"/>
                  </a:lnTo>
                  <a:cubicBezTo>
                    <a:pt x="13353" y="10920"/>
                    <a:pt x="14787" y="9487"/>
                    <a:pt x="14787" y="7724"/>
                  </a:cubicBezTo>
                  <a:cubicBezTo>
                    <a:pt x="14787" y="6818"/>
                    <a:pt x="14408" y="6001"/>
                    <a:pt x="13801" y="5418"/>
                  </a:cubicBezTo>
                  <a:cubicBezTo>
                    <a:pt x="13996" y="5098"/>
                    <a:pt x="14128" y="4745"/>
                    <a:pt x="14191" y="4374"/>
                  </a:cubicBezTo>
                  <a:lnTo>
                    <a:pt x="15222" y="4374"/>
                  </a:lnTo>
                  <a:lnTo>
                    <a:pt x="15222" y="3423"/>
                  </a:lnTo>
                  <a:lnTo>
                    <a:pt x="14191" y="3423"/>
                  </a:lnTo>
                  <a:cubicBezTo>
                    <a:pt x="14118" y="2976"/>
                    <a:pt x="13940" y="2563"/>
                    <a:pt x="13687" y="2208"/>
                  </a:cubicBezTo>
                  <a:lnTo>
                    <a:pt x="14417" y="1480"/>
                  </a:lnTo>
                  <a:lnTo>
                    <a:pt x="13743" y="806"/>
                  </a:lnTo>
                  <a:lnTo>
                    <a:pt x="13013" y="1536"/>
                  </a:lnTo>
                  <a:cubicBezTo>
                    <a:pt x="12660" y="1283"/>
                    <a:pt x="12247" y="1107"/>
                    <a:pt x="11800" y="1032"/>
                  </a:cubicBezTo>
                  <a:lnTo>
                    <a:pt x="11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3A1F0-CEF1-A83D-8D74-E711ACC71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49" y="3931514"/>
            <a:ext cx="6737687" cy="672460"/>
          </a:xfrm>
        </p:spPr>
        <p:txBody>
          <a:bodyPr/>
          <a:lstStyle/>
          <a:p>
            <a:pPr>
              <a:buNone/>
            </a:pPr>
            <a:r>
              <a:rPr lang="en-CA" b="1"/>
              <a:t>RECOMMENDED ACTION</a:t>
            </a:r>
          </a:p>
          <a:p>
            <a:pPr>
              <a:buNone/>
            </a:pPr>
            <a:r>
              <a:rPr lang="en-CA"/>
              <a:t>Use weather to support demand planning, not to make stocking decisions on its own.</a:t>
            </a:r>
          </a:p>
        </p:txBody>
      </p:sp>
      <p:sp>
        <p:nvSpPr>
          <p:cNvPr id="2" name="Google Shape;567;p47">
            <a:extLst>
              <a:ext uri="{FF2B5EF4-FFF2-40B4-BE49-F238E27FC236}">
                <a16:creationId xmlns:a16="http://schemas.microsoft.com/office/drawing/2014/main" id="{52E07A91-B110-96FC-AF49-2EBB156C6D6C}"/>
              </a:ext>
            </a:extLst>
          </p:cNvPr>
          <p:cNvSpPr/>
          <p:nvPr/>
        </p:nvSpPr>
        <p:spPr>
          <a:xfrm>
            <a:off x="8304504" y="245139"/>
            <a:ext cx="781407" cy="80219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dist="47625" dir="3480000" algn="bl" rotWithShape="0">
              <a:schemeClr val="dk1">
                <a:alpha val="1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" name="Google Shape;640;p47">
            <a:extLst>
              <a:ext uri="{FF2B5EF4-FFF2-40B4-BE49-F238E27FC236}">
                <a16:creationId xmlns:a16="http://schemas.microsoft.com/office/drawing/2014/main" id="{57E07BC2-6AD5-548B-C03F-B9E2244A2884}"/>
              </a:ext>
            </a:extLst>
          </p:cNvPr>
          <p:cNvGrpSpPr/>
          <p:nvPr/>
        </p:nvGrpSpPr>
        <p:grpSpPr>
          <a:xfrm>
            <a:off x="8576459" y="422283"/>
            <a:ext cx="248670" cy="435863"/>
            <a:chOff x="2218313" y="1403550"/>
            <a:chExt cx="206225" cy="384650"/>
          </a:xfrm>
        </p:grpSpPr>
        <p:sp>
          <p:nvSpPr>
            <p:cNvPr id="6" name="Google Shape;641;p47">
              <a:extLst>
                <a:ext uri="{FF2B5EF4-FFF2-40B4-BE49-F238E27FC236}">
                  <a16:creationId xmlns:a16="http://schemas.microsoft.com/office/drawing/2014/main" id="{DCCF0CA7-FF0F-3F3D-DF4C-395643064CDF}"/>
                </a:ext>
              </a:extLst>
            </p:cNvPr>
            <p:cNvSpPr/>
            <p:nvPr/>
          </p:nvSpPr>
          <p:spPr>
            <a:xfrm>
              <a:off x="2218313" y="1403550"/>
              <a:ext cx="206225" cy="384650"/>
            </a:xfrm>
            <a:custGeom>
              <a:avLst/>
              <a:gdLst/>
              <a:ahLst/>
              <a:cxnLst/>
              <a:rect l="l" t="t" r="r" b="b"/>
              <a:pathLst>
                <a:path w="8249" h="15386" extrusionOk="0">
                  <a:moveTo>
                    <a:pt x="4124" y="951"/>
                  </a:moveTo>
                  <a:cubicBezTo>
                    <a:pt x="5087" y="951"/>
                    <a:pt x="5868" y="1734"/>
                    <a:pt x="5868" y="2696"/>
                  </a:cubicBezTo>
                  <a:lnTo>
                    <a:pt x="5868" y="8603"/>
                  </a:lnTo>
                  <a:lnTo>
                    <a:pt x="6055" y="8745"/>
                  </a:lnTo>
                  <a:cubicBezTo>
                    <a:pt x="6843" y="9354"/>
                    <a:pt x="7296" y="10270"/>
                    <a:pt x="7296" y="11261"/>
                  </a:cubicBezTo>
                  <a:cubicBezTo>
                    <a:pt x="7296" y="13010"/>
                    <a:pt x="5873" y="14433"/>
                    <a:pt x="4124" y="14433"/>
                  </a:cubicBezTo>
                  <a:cubicBezTo>
                    <a:pt x="2374" y="14433"/>
                    <a:pt x="951" y="13010"/>
                    <a:pt x="951" y="11261"/>
                  </a:cubicBezTo>
                  <a:cubicBezTo>
                    <a:pt x="951" y="10270"/>
                    <a:pt x="1405" y="9354"/>
                    <a:pt x="2194" y="8745"/>
                  </a:cubicBezTo>
                  <a:lnTo>
                    <a:pt x="2379" y="8603"/>
                  </a:lnTo>
                  <a:lnTo>
                    <a:pt x="2379" y="2696"/>
                  </a:lnTo>
                  <a:cubicBezTo>
                    <a:pt x="2379" y="1734"/>
                    <a:pt x="3162" y="951"/>
                    <a:pt x="4124" y="951"/>
                  </a:cubicBezTo>
                  <a:close/>
                  <a:moveTo>
                    <a:pt x="4124" y="0"/>
                  </a:moveTo>
                  <a:cubicBezTo>
                    <a:pt x="2637" y="0"/>
                    <a:pt x="1428" y="1209"/>
                    <a:pt x="1428" y="2696"/>
                  </a:cubicBezTo>
                  <a:lnTo>
                    <a:pt x="1428" y="8143"/>
                  </a:lnTo>
                  <a:cubicBezTo>
                    <a:pt x="518" y="8929"/>
                    <a:pt x="0" y="10052"/>
                    <a:pt x="0" y="11261"/>
                  </a:cubicBezTo>
                  <a:cubicBezTo>
                    <a:pt x="0" y="13535"/>
                    <a:pt x="1850" y="15385"/>
                    <a:pt x="4124" y="15385"/>
                  </a:cubicBezTo>
                  <a:cubicBezTo>
                    <a:pt x="6397" y="15385"/>
                    <a:pt x="8248" y="13535"/>
                    <a:pt x="8248" y="11261"/>
                  </a:cubicBezTo>
                  <a:cubicBezTo>
                    <a:pt x="8248" y="10053"/>
                    <a:pt x="7731" y="8929"/>
                    <a:pt x="6821" y="8143"/>
                  </a:cubicBezTo>
                  <a:lnTo>
                    <a:pt x="6821" y="2696"/>
                  </a:lnTo>
                  <a:cubicBezTo>
                    <a:pt x="6821" y="1209"/>
                    <a:pt x="5610" y="0"/>
                    <a:pt x="41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642;p47">
              <a:extLst>
                <a:ext uri="{FF2B5EF4-FFF2-40B4-BE49-F238E27FC236}">
                  <a16:creationId xmlns:a16="http://schemas.microsoft.com/office/drawing/2014/main" id="{B5EA0A0B-C538-21BE-41C8-B41F84EBE8DF}"/>
                </a:ext>
              </a:extLst>
            </p:cNvPr>
            <p:cNvSpPr/>
            <p:nvPr/>
          </p:nvSpPr>
          <p:spPr>
            <a:xfrm>
              <a:off x="2273838" y="1463000"/>
              <a:ext cx="95175" cy="269675"/>
            </a:xfrm>
            <a:custGeom>
              <a:avLst/>
              <a:gdLst/>
              <a:ahLst/>
              <a:cxnLst/>
              <a:rect l="l" t="t" r="r" b="b"/>
              <a:pathLst>
                <a:path w="3807" h="10787" extrusionOk="0">
                  <a:moveTo>
                    <a:pt x="1428" y="1"/>
                  </a:moveTo>
                  <a:lnTo>
                    <a:pt x="1428" y="7039"/>
                  </a:lnTo>
                  <a:cubicBezTo>
                    <a:pt x="607" y="7252"/>
                    <a:pt x="0" y="7998"/>
                    <a:pt x="0" y="8883"/>
                  </a:cubicBezTo>
                  <a:cubicBezTo>
                    <a:pt x="0" y="9932"/>
                    <a:pt x="853" y="10786"/>
                    <a:pt x="1903" y="10786"/>
                  </a:cubicBezTo>
                  <a:cubicBezTo>
                    <a:pt x="2952" y="10786"/>
                    <a:pt x="3806" y="9932"/>
                    <a:pt x="3806" y="8883"/>
                  </a:cubicBezTo>
                  <a:cubicBezTo>
                    <a:pt x="3806" y="7998"/>
                    <a:pt x="3198" y="7252"/>
                    <a:pt x="2379" y="7039"/>
                  </a:cubicBezTo>
                  <a:lnTo>
                    <a:pt x="23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8EB2C030-D2D2-DB93-0A7A-840F0B70E1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5287297"/>
              </p:ext>
            </p:extLst>
          </p:nvPr>
        </p:nvGraphicFramePr>
        <p:xfrm>
          <a:off x="720000" y="1479275"/>
          <a:ext cx="7710750" cy="24522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84378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06">
          <a:extLst>
            <a:ext uri="{FF2B5EF4-FFF2-40B4-BE49-F238E27FC236}">
              <a16:creationId xmlns:a16="http://schemas.microsoft.com/office/drawing/2014/main" id="{06B7960E-2226-2512-E852-F0F0FA244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2">
            <a:extLst>
              <a:ext uri="{FF2B5EF4-FFF2-40B4-BE49-F238E27FC236}">
                <a16:creationId xmlns:a16="http://schemas.microsoft.com/office/drawing/2014/main" id="{E285071F-0D1A-7FD8-8888-1961AB66BB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CA"/>
              <a:t>Weather &amp; Temporal Factors Alone Do Not Reliably Predict Transaction Sales</a:t>
            </a:r>
            <a:endParaRPr lang="en-US"/>
          </a:p>
        </p:txBody>
      </p:sp>
      <p:sp>
        <p:nvSpPr>
          <p:cNvPr id="6" name="Google Shape;567;p47">
            <a:extLst>
              <a:ext uri="{FF2B5EF4-FFF2-40B4-BE49-F238E27FC236}">
                <a16:creationId xmlns:a16="http://schemas.microsoft.com/office/drawing/2014/main" id="{94C93D62-2EC3-9345-E579-292D86AFFD54}"/>
              </a:ext>
            </a:extLst>
          </p:cNvPr>
          <p:cNvSpPr/>
          <p:nvPr/>
        </p:nvSpPr>
        <p:spPr>
          <a:xfrm>
            <a:off x="8095593" y="671882"/>
            <a:ext cx="781407" cy="80219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dist="47625" dir="3480000" algn="bl" rotWithShape="0">
              <a:schemeClr val="dk1">
                <a:alpha val="1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" name="Google Shape;640;p47">
            <a:extLst>
              <a:ext uri="{FF2B5EF4-FFF2-40B4-BE49-F238E27FC236}">
                <a16:creationId xmlns:a16="http://schemas.microsoft.com/office/drawing/2014/main" id="{35A1AB06-1C4B-5245-D2AD-E5339F7DF5F6}"/>
              </a:ext>
            </a:extLst>
          </p:cNvPr>
          <p:cNvGrpSpPr/>
          <p:nvPr/>
        </p:nvGrpSpPr>
        <p:grpSpPr>
          <a:xfrm>
            <a:off x="8367548" y="849026"/>
            <a:ext cx="248670" cy="435863"/>
            <a:chOff x="2218313" y="1403550"/>
            <a:chExt cx="206225" cy="384650"/>
          </a:xfrm>
        </p:grpSpPr>
        <p:sp>
          <p:nvSpPr>
            <p:cNvPr id="8" name="Google Shape;641;p47">
              <a:extLst>
                <a:ext uri="{FF2B5EF4-FFF2-40B4-BE49-F238E27FC236}">
                  <a16:creationId xmlns:a16="http://schemas.microsoft.com/office/drawing/2014/main" id="{BC4DF03C-30D7-038F-3EF0-1E704AA420D9}"/>
                </a:ext>
              </a:extLst>
            </p:cNvPr>
            <p:cNvSpPr/>
            <p:nvPr/>
          </p:nvSpPr>
          <p:spPr>
            <a:xfrm>
              <a:off x="2218313" y="1403550"/>
              <a:ext cx="206225" cy="384650"/>
            </a:xfrm>
            <a:custGeom>
              <a:avLst/>
              <a:gdLst/>
              <a:ahLst/>
              <a:cxnLst/>
              <a:rect l="l" t="t" r="r" b="b"/>
              <a:pathLst>
                <a:path w="8249" h="15386" extrusionOk="0">
                  <a:moveTo>
                    <a:pt x="4124" y="951"/>
                  </a:moveTo>
                  <a:cubicBezTo>
                    <a:pt x="5087" y="951"/>
                    <a:pt x="5868" y="1734"/>
                    <a:pt x="5868" y="2696"/>
                  </a:cubicBezTo>
                  <a:lnTo>
                    <a:pt x="5868" y="8603"/>
                  </a:lnTo>
                  <a:lnTo>
                    <a:pt x="6055" y="8745"/>
                  </a:lnTo>
                  <a:cubicBezTo>
                    <a:pt x="6843" y="9354"/>
                    <a:pt x="7296" y="10270"/>
                    <a:pt x="7296" y="11261"/>
                  </a:cubicBezTo>
                  <a:cubicBezTo>
                    <a:pt x="7296" y="13010"/>
                    <a:pt x="5873" y="14433"/>
                    <a:pt x="4124" y="14433"/>
                  </a:cubicBezTo>
                  <a:cubicBezTo>
                    <a:pt x="2374" y="14433"/>
                    <a:pt x="951" y="13010"/>
                    <a:pt x="951" y="11261"/>
                  </a:cubicBezTo>
                  <a:cubicBezTo>
                    <a:pt x="951" y="10270"/>
                    <a:pt x="1405" y="9354"/>
                    <a:pt x="2194" y="8745"/>
                  </a:cubicBezTo>
                  <a:lnTo>
                    <a:pt x="2379" y="8603"/>
                  </a:lnTo>
                  <a:lnTo>
                    <a:pt x="2379" y="2696"/>
                  </a:lnTo>
                  <a:cubicBezTo>
                    <a:pt x="2379" y="1734"/>
                    <a:pt x="3162" y="951"/>
                    <a:pt x="4124" y="951"/>
                  </a:cubicBezTo>
                  <a:close/>
                  <a:moveTo>
                    <a:pt x="4124" y="0"/>
                  </a:moveTo>
                  <a:cubicBezTo>
                    <a:pt x="2637" y="0"/>
                    <a:pt x="1428" y="1209"/>
                    <a:pt x="1428" y="2696"/>
                  </a:cubicBezTo>
                  <a:lnTo>
                    <a:pt x="1428" y="8143"/>
                  </a:lnTo>
                  <a:cubicBezTo>
                    <a:pt x="518" y="8929"/>
                    <a:pt x="0" y="10052"/>
                    <a:pt x="0" y="11261"/>
                  </a:cubicBezTo>
                  <a:cubicBezTo>
                    <a:pt x="0" y="13535"/>
                    <a:pt x="1850" y="15385"/>
                    <a:pt x="4124" y="15385"/>
                  </a:cubicBezTo>
                  <a:cubicBezTo>
                    <a:pt x="6397" y="15385"/>
                    <a:pt x="8248" y="13535"/>
                    <a:pt x="8248" y="11261"/>
                  </a:cubicBezTo>
                  <a:cubicBezTo>
                    <a:pt x="8248" y="10053"/>
                    <a:pt x="7731" y="8929"/>
                    <a:pt x="6821" y="8143"/>
                  </a:cubicBezTo>
                  <a:lnTo>
                    <a:pt x="6821" y="2696"/>
                  </a:lnTo>
                  <a:cubicBezTo>
                    <a:pt x="6821" y="1209"/>
                    <a:pt x="5610" y="0"/>
                    <a:pt x="41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642;p47">
              <a:extLst>
                <a:ext uri="{FF2B5EF4-FFF2-40B4-BE49-F238E27FC236}">
                  <a16:creationId xmlns:a16="http://schemas.microsoft.com/office/drawing/2014/main" id="{7177F9C5-7358-93DB-4EDB-9D83C2C7AC6D}"/>
                </a:ext>
              </a:extLst>
            </p:cNvPr>
            <p:cNvSpPr/>
            <p:nvPr/>
          </p:nvSpPr>
          <p:spPr>
            <a:xfrm>
              <a:off x="2273838" y="1463000"/>
              <a:ext cx="95175" cy="269675"/>
            </a:xfrm>
            <a:custGeom>
              <a:avLst/>
              <a:gdLst/>
              <a:ahLst/>
              <a:cxnLst/>
              <a:rect l="l" t="t" r="r" b="b"/>
              <a:pathLst>
                <a:path w="3807" h="10787" extrusionOk="0">
                  <a:moveTo>
                    <a:pt x="1428" y="1"/>
                  </a:moveTo>
                  <a:lnTo>
                    <a:pt x="1428" y="7039"/>
                  </a:lnTo>
                  <a:cubicBezTo>
                    <a:pt x="607" y="7252"/>
                    <a:pt x="0" y="7998"/>
                    <a:pt x="0" y="8883"/>
                  </a:cubicBezTo>
                  <a:cubicBezTo>
                    <a:pt x="0" y="9932"/>
                    <a:pt x="853" y="10786"/>
                    <a:pt x="1903" y="10786"/>
                  </a:cubicBezTo>
                  <a:cubicBezTo>
                    <a:pt x="2952" y="10786"/>
                    <a:pt x="3806" y="9932"/>
                    <a:pt x="3806" y="8883"/>
                  </a:cubicBezTo>
                  <a:cubicBezTo>
                    <a:pt x="3806" y="7998"/>
                    <a:pt x="3198" y="7252"/>
                    <a:pt x="2379" y="7039"/>
                  </a:cubicBezTo>
                  <a:lnTo>
                    <a:pt x="23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" name="Google Shape;409;p42">
            <a:extLst>
              <a:ext uri="{FF2B5EF4-FFF2-40B4-BE49-F238E27FC236}">
                <a16:creationId xmlns:a16="http://schemas.microsoft.com/office/drawing/2014/main" id="{A031D733-71E0-040E-3219-8BEE0EBAEB53}"/>
              </a:ext>
            </a:extLst>
          </p:cNvPr>
          <p:cNvSpPr txBox="1"/>
          <p:nvPr/>
        </p:nvSpPr>
        <p:spPr>
          <a:xfrm>
            <a:off x="5754969" y="3060768"/>
            <a:ext cx="2612579" cy="41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rPr>
              <a:t>~35%</a:t>
            </a:r>
            <a:endParaRPr sz="2400">
              <a:solidFill>
                <a:schemeClr val="dk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E7542A-F954-C1A3-5605-FD02F2BC0F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4304" y="1894721"/>
            <a:ext cx="4328089" cy="2709279"/>
          </a:xfrm>
          <a:prstGeom prst="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Google Shape;413;p42">
            <a:extLst>
              <a:ext uri="{FF2B5EF4-FFF2-40B4-BE49-F238E27FC236}">
                <a16:creationId xmlns:a16="http://schemas.microsoft.com/office/drawing/2014/main" id="{EEA73CAB-F410-C3D5-42A5-794BB1DAD6A6}"/>
              </a:ext>
            </a:extLst>
          </p:cNvPr>
          <p:cNvSpPr txBox="1"/>
          <p:nvPr/>
        </p:nvSpPr>
        <p:spPr>
          <a:xfrm>
            <a:off x="5805652" y="2371788"/>
            <a:ext cx="2380593" cy="68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CA" sz="1200"/>
              <a:t>Weather &amp; timing correctly predicted sales categories only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58B3C32-C594-C410-257F-A0F9E354118C}"/>
              </a:ext>
            </a:extLst>
          </p:cNvPr>
          <p:cNvSpPr txBox="1"/>
          <p:nvPr/>
        </p:nvSpPr>
        <p:spPr>
          <a:xfrm>
            <a:off x="6599423" y="3472749"/>
            <a:ext cx="104685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200"/>
              <a:t>of the time.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922134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1">
          <a:extLst>
            <a:ext uri="{FF2B5EF4-FFF2-40B4-BE49-F238E27FC236}">
              <a16:creationId xmlns:a16="http://schemas.microsoft.com/office/drawing/2014/main" id="{DB0EAA4A-78A7-9F77-00F5-5A4B7DBCAC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>
            <a:extLst>
              <a:ext uri="{FF2B5EF4-FFF2-40B4-BE49-F238E27FC236}">
                <a16:creationId xmlns:a16="http://schemas.microsoft.com/office/drawing/2014/main" id="{E55152BA-5836-5D17-5824-13568EF3B4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10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CA"/>
              <a:t>Weather &amp; Timing ≠ Reliable Sales Predictor</a:t>
            </a:r>
            <a:endParaRPr/>
          </a:p>
        </p:txBody>
      </p:sp>
      <p:grpSp>
        <p:nvGrpSpPr>
          <p:cNvPr id="263" name="Google Shape;263;p33">
            <a:extLst>
              <a:ext uri="{FF2B5EF4-FFF2-40B4-BE49-F238E27FC236}">
                <a16:creationId xmlns:a16="http://schemas.microsoft.com/office/drawing/2014/main" id="{94A2F7B3-B291-6A39-7778-CE8A6D75D9A5}"/>
              </a:ext>
            </a:extLst>
          </p:cNvPr>
          <p:cNvGrpSpPr/>
          <p:nvPr/>
        </p:nvGrpSpPr>
        <p:grpSpPr>
          <a:xfrm>
            <a:off x="7927669" y="3492084"/>
            <a:ext cx="979813" cy="979813"/>
            <a:chOff x="6398575" y="3131102"/>
            <a:chExt cx="1250400" cy="1250400"/>
          </a:xfrm>
        </p:grpSpPr>
        <p:sp>
          <p:nvSpPr>
            <p:cNvPr id="264" name="Google Shape;264;p33">
              <a:extLst>
                <a:ext uri="{FF2B5EF4-FFF2-40B4-BE49-F238E27FC236}">
                  <a16:creationId xmlns:a16="http://schemas.microsoft.com/office/drawing/2014/main" id="{B77B90BB-49DE-50DE-F522-8290835F0B20}"/>
                </a:ext>
              </a:extLst>
            </p:cNvPr>
            <p:cNvSpPr/>
            <p:nvPr/>
          </p:nvSpPr>
          <p:spPr>
            <a:xfrm>
              <a:off x="6398575" y="3131102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33">
              <a:extLst>
                <a:ext uri="{FF2B5EF4-FFF2-40B4-BE49-F238E27FC236}">
                  <a16:creationId xmlns:a16="http://schemas.microsoft.com/office/drawing/2014/main" id="{39A0C72A-4E93-EAF6-FFA0-BCA4D3B28B8B}"/>
                </a:ext>
              </a:extLst>
            </p:cNvPr>
            <p:cNvSpPr/>
            <p:nvPr/>
          </p:nvSpPr>
          <p:spPr>
            <a:xfrm>
              <a:off x="6669486" y="3502125"/>
              <a:ext cx="708593" cy="508345"/>
            </a:xfrm>
            <a:custGeom>
              <a:avLst/>
              <a:gdLst/>
              <a:ahLst/>
              <a:cxnLst/>
              <a:rect l="l" t="t" r="r" b="b"/>
              <a:pathLst>
                <a:path w="15223" h="10921" extrusionOk="0">
                  <a:moveTo>
                    <a:pt x="11323" y="1944"/>
                  </a:moveTo>
                  <a:cubicBezTo>
                    <a:pt x="12402" y="1944"/>
                    <a:pt x="13279" y="2821"/>
                    <a:pt x="13279" y="3900"/>
                  </a:cubicBezTo>
                  <a:cubicBezTo>
                    <a:pt x="13279" y="4241"/>
                    <a:pt x="13189" y="4575"/>
                    <a:pt x="13023" y="4867"/>
                  </a:cubicBezTo>
                  <a:cubicBezTo>
                    <a:pt x="12707" y="4708"/>
                    <a:pt x="12363" y="4600"/>
                    <a:pt x="12000" y="4553"/>
                  </a:cubicBezTo>
                  <a:cubicBezTo>
                    <a:pt x="11800" y="3581"/>
                    <a:pt x="11304" y="2725"/>
                    <a:pt x="10615" y="2078"/>
                  </a:cubicBezTo>
                  <a:cubicBezTo>
                    <a:pt x="10840" y="1991"/>
                    <a:pt x="11081" y="1944"/>
                    <a:pt x="11323" y="1944"/>
                  </a:cubicBezTo>
                  <a:close/>
                  <a:moveTo>
                    <a:pt x="7393" y="1755"/>
                  </a:moveTo>
                  <a:cubicBezTo>
                    <a:pt x="9294" y="1755"/>
                    <a:pt x="10896" y="3174"/>
                    <a:pt x="11117" y="5059"/>
                  </a:cubicBezTo>
                  <a:lnTo>
                    <a:pt x="11167" y="5479"/>
                  </a:lnTo>
                  <a:lnTo>
                    <a:pt x="11590" y="5479"/>
                  </a:lnTo>
                  <a:cubicBezTo>
                    <a:pt x="12828" y="5479"/>
                    <a:pt x="13836" y="6486"/>
                    <a:pt x="13836" y="7724"/>
                  </a:cubicBezTo>
                  <a:cubicBezTo>
                    <a:pt x="13836" y="8962"/>
                    <a:pt x="12828" y="9969"/>
                    <a:pt x="11590" y="9969"/>
                  </a:cubicBezTo>
                  <a:lnTo>
                    <a:pt x="3197" y="9969"/>
                  </a:lnTo>
                  <a:cubicBezTo>
                    <a:pt x="1959" y="9969"/>
                    <a:pt x="952" y="8962"/>
                    <a:pt x="952" y="7724"/>
                  </a:cubicBezTo>
                  <a:cubicBezTo>
                    <a:pt x="952" y="6486"/>
                    <a:pt x="1959" y="5479"/>
                    <a:pt x="3197" y="5479"/>
                  </a:cubicBezTo>
                  <a:lnTo>
                    <a:pt x="3620" y="5479"/>
                  </a:lnTo>
                  <a:lnTo>
                    <a:pt x="3670" y="5059"/>
                  </a:lnTo>
                  <a:cubicBezTo>
                    <a:pt x="3892" y="3174"/>
                    <a:pt x="5494" y="1755"/>
                    <a:pt x="7393" y="1755"/>
                  </a:cubicBezTo>
                  <a:close/>
                  <a:moveTo>
                    <a:pt x="10849" y="1"/>
                  </a:moveTo>
                  <a:lnTo>
                    <a:pt x="10849" y="1032"/>
                  </a:lnTo>
                  <a:cubicBezTo>
                    <a:pt x="10465" y="1096"/>
                    <a:pt x="10096" y="1237"/>
                    <a:pt x="9767" y="1445"/>
                  </a:cubicBezTo>
                  <a:cubicBezTo>
                    <a:pt x="9068" y="1036"/>
                    <a:pt x="8256" y="802"/>
                    <a:pt x="7394" y="802"/>
                  </a:cubicBezTo>
                  <a:cubicBezTo>
                    <a:pt x="5145" y="802"/>
                    <a:pt x="3232" y="2389"/>
                    <a:pt x="2787" y="4553"/>
                  </a:cubicBezTo>
                  <a:cubicBezTo>
                    <a:pt x="1217" y="4755"/>
                    <a:pt x="1" y="6099"/>
                    <a:pt x="1" y="7724"/>
                  </a:cubicBezTo>
                  <a:cubicBezTo>
                    <a:pt x="1" y="9487"/>
                    <a:pt x="1434" y="10920"/>
                    <a:pt x="3197" y="10920"/>
                  </a:cubicBezTo>
                  <a:lnTo>
                    <a:pt x="11590" y="10920"/>
                  </a:lnTo>
                  <a:cubicBezTo>
                    <a:pt x="13353" y="10920"/>
                    <a:pt x="14787" y="9487"/>
                    <a:pt x="14787" y="7724"/>
                  </a:cubicBezTo>
                  <a:cubicBezTo>
                    <a:pt x="14787" y="6818"/>
                    <a:pt x="14408" y="6001"/>
                    <a:pt x="13801" y="5418"/>
                  </a:cubicBezTo>
                  <a:cubicBezTo>
                    <a:pt x="13996" y="5098"/>
                    <a:pt x="14128" y="4745"/>
                    <a:pt x="14191" y="4374"/>
                  </a:cubicBezTo>
                  <a:lnTo>
                    <a:pt x="15222" y="4374"/>
                  </a:lnTo>
                  <a:lnTo>
                    <a:pt x="15222" y="3423"/>
                  </a:lnTo>
                  <a:lnTo>
                    <a:pt x="14191" y="3423"/>
                  </a:lnTo>
                  <a:cubicBezTo>
                    <a:pt x="14118" y="2976"/>
                    <a:pt x="13940" y="2563"/>
                    <a:pt x="13687" y="2208"/>
                  </a:cubicBezTo>
                  <a:lnTo>
                    <a:pt x="14417" y="1480"/>
                  </a:lnTo>
                  <a:lnTo>
                    <a:pt x="13743" y="806"/>
                  </a:lnTo>
                  <a:lnTo>
                    <a:pt x="13013" y="1536"/>
                  </a:lnTo>
                  <a:cubicBezTo>
                    <a:pt x="12660" y="1283"/>
                    <a:pt x="12247" y="1107"/>
                    <a:pt x="11800" y="1032"/>
                  </a:cubicBezTo>
                  <a:lnTo>
                    <a:pt x="1180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62C11-7A8F-BA53-E868-A6A834691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3249" y="3931514"/>
            <a:ext cx="6737687" cy="672460"/>
          </a:xfrm>
        </p:spPr>
        <p:txBody>
          <a:bodyPr/>
          <a:lstStyle/>
          <a:p>
            <a:pPr>
              <a:buNone/>
            </a:pPr>
            <a:r>
              <a:rPr lang="en-CA" b="1"/>
              <a:t>RECOMMENDED ACTION</a:t>
            </a:r>
          </a:p>
          <a:p>
            <a:pPr>
              <a:buNone/>
            </a:pPr>
            <a:r>
              <a:rPr lang="en-CA"/>
              <a:t>Use weather as supporting information, not on its own.</a:t>
            </a:r>
          </a:p>
        </p:txBody>
      </p:sp>
      <p:sp>
        <p:nvSpPr>
          <p:cNvPr id="2" name="Google Shape;567;p47">
            <a:extLst>
              <a:ext uri="{FF2B5EF4-FFF2-40B4-BE49-F238E27FC236}">
                <a16:creationId xmlns:a16="http://schemas.microsoft.com/office/drawing/2014/main" id="{B67B098D-BBF5-A329-C0BC-B632BDB2A463}"/>
              </a:ext>
            </a:extLst>
          </p:cNvPr>
          <p:cNvSpPr/>
          <p:nvPr/>
        </p:nvSpPr>
        <p:spPr>
          <a:xfrm>
            <a:off x="8304504" y="245139"/>
            <a:ext cx="781407" cy="802194"/>
          </a:xfrm>
          <a:prstGeom prst="ellipse">
            <a:avLst/>
          </a:prstGeom>
          <a:solidFill>
            <a:schemeClr val="dk1"/>
          </a:solidFill>
          <a:ln>
            <a:noFill/>
          </a:ln>
          <a:effectLst>
            <a:outerShdw dist="47625" dir="3480000" algn="bl" rotWithShape="0">
              <a:schemeClr val="dk1">
                <a:alpha val="13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5" name="Google Shape;640;p47">
            <a:extLst>
              <a:ext uri="{FF2B5EF4-FFF2-40B4-BE49-F238E27FC236}">
                <a16:creationId xmlns:a16="http://schemas.microsoft.com/office/drawing/2014/main" id="{864BB6C8-5A9F-EFAA-D631-B2AE118D685A}"/>
              </a:ext>
            </a:extLst>
          </p:cNvPr>
          <p:cNvGrpSpPr/>
          <p:nvPr/>
        </p:nvGrpSpPr>
        <p:grpSpPr>
          <a:xfrm>
            <a:off x="8576459" y="422283"/>
            <a:ext cx="248670" cy="435863"/>
            <a:chOff x="2218313" y="1403550"/>
            <a:chExt cx="206225" cy="384650"/>
          </a:xfrm>
        </p:grpSpPr>
        <p:sp>
          <p:nvSpPr>
            <p:cNvPr id="6" name="Google Shape;641;p47">
              <a:extLst>
                <a:ext uri="{FF2B5EF4-FFF2-40B4-BE49-F238E27FC236}">
                  <a16:creationId xmlns:a16="http://schemas.microsoft.com/office/drawing/2014/main" id="{5BC9DFE4-5B58-DF7B-6EF9-6D05F8BF4AF0}"/>
                </a:ext>
              </a:extLst>
            </p:cNvPr>
            <p:cNvSpPr/>
            <p:nvPr/>
          </p:nvSpPr>
          <p:spPr>
            <a:xfrm>
              <a:off x="2218313" y="1403550"/>
              <a:ext cx="206225" cy="384650"/>
            </a:xfrm>
            <a:custGeom>
              <a:avLst/>
              <a:gdLst/>
              <a:ahLst/>
              <a:cxnLst/>
              <a:rect l="l" t="t" r="r" b="b"/>
              <a:pathLst>
                <a:path w="8249" h="15386" extrusionOk="0">
                  <a:moveTo>
                    <a:pt x="4124" y="951"/>
                  </a:moveTo>
                  <a:cubicBezTo>
                    <a:pt x="5087" y="951"/>
                    <a:pt x="5868" y="1734"/>
                    <a:pt x="5868" y="2696"/>
                  </a:cubicBezTo>
                  <a:lnTo>
                    <a:pt x="5868" y="8603"/>
                  </a:lnTo>
                  <a:lnTo>
                    <a:pt x="6055" y="8745"/>
                  </a:lnTo>
                  <a:cubicBezTo>
                    <a:pt x="6843" y="9354"/>
                    <a:pt x="7296" y="10270"/>
                    <a:pt x="7296" y="11261"/>
                  </a:cubicBezTo>
                  <a:cubicBezTo>
                    <a:pt x="7296" y="13010"/>
                    <a:pt x="5873" y="14433"/>
                    <a:pt x="4124" y="14433"/>
                  </a:cubicBezTo>
                  <a:cubicBezTo>
                    <a:pt x="2374" y="14433"/>
                    <a:pt x="951" y="13010"/>
                    <a:pt x="951" y="11261"/>
                  </a:cubicBezTo>
                  <a:cubicBezTo>
                    <a:pt x="951" y="10270"/>
                    <a:pt x="1405" y="9354"/>
                    <a:pt x="2194" y="8745"/>
                  </a:cubicBezTo>
                  <a:lnTo>
                    <a:pt x="2379" y="8603"/>
                  </a:lnTo>
                  <a:lnTo>
                    <a:pt x="2379" y="2696"/>
                  </a:lnTo>
                  <a:cubicBezTo>
                    <a:pt x="2379" y="1734"/>
                    <a:pt x="3162" y="951"/>
                    <a:pt x="4124" y="951"/>
                  </a:cubicBezTo>
                  <a:close/>
                  <a:moveTo>
                    <a:pt x="4124" y="0"/>
                  </a:moveTo>
                  <a:cubicBezTo>
                    <a:pt x="2637" y="0"/>
                    <a:pt x="1428" y="1209"/>
                    <a:pt x="1428" y="2696"/>
                  </a:cubicBezTo>
                  <a:lnTo>
                    <a:pt x="1428" y="8143"/>
                  </a:lnTo>
                  <a:cubicBezTo>
                    <a:pt x="518" y="8929"/>
                    <a:pt x="0" y="10052"/>
                    <a:pt x="0" y="11261"/>
                  </a:cubicBezTo>
                  <a:cubicBezTo>
                    <a:pt x="0" y="13535"/>
                    <a:pt x="1850" y="15385"/>
                    <a:pt x="4124" y="15385"/>
                  </a:cubicBezTo>
                  <a:cubicBezTo>
                    <a:pt x="6397" y="15385"/>
                    <a:pt x="8248" y="13535"/>
                    <a:pt x="8248" y="11261"/>
                  </a:cubicBezTo>
                  <a:cubicBezTo>
                    <a:pt x="8248" y="10053"/>
                    <a:pt x="7731" y="8929"/>
                    <a:pt x="6821" y="8143"/>
                  </a:cubicBezTo>
                  <a:lnTo>
                    <a:pt x="6821" y="2696"/>
                  </a:lnTo>
                  <a:cubicBezTo>
                    <a:pt x="6821" y="1209"/>
                    <a:pt x="5610" y="0"/>
                    <a:pt x="412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7" name="Google Shape;642;p47">
              <a:extLst>
                <a:ext uri="{FF2B5EF4-FFF2-40B4-BE49-F238E27FC236}">
                  <a16:creationId xmlns:a16="http://schemas.microsoft.com/office/drawing/2014/main" id="{A6BD3E3F-451F-91C9-6422-728CEA636AE2}"/>
                </a:ext>
              </a:extLst>
            </p:cNvPr>
            <p:cNvSpPr/>
            <p:nvPr/>
          </p:nvSpPr>
          <p:spPr>
            <a:xfrm>
              <a:off x="2273838" y="1463000"/>
              <a:ext cx="95175" cy="269675"/>
            </a:xfrm>
            <a:custGeom>
              <a:avLst/>
              <a:gdLst/>
              <a:ahLst/>
              <a:cxnLst/>
              <a:rect l="l" t="t" r="r" b="b"/>
              <a:pathLst>
                <a:path w="3807" h="10787" extrusionOk="0">
                  <a:moveTo>
                    <a:pt x="1428" y="1"/>
                  </a:moveTo>
                  <a:lnTo>
                    <a:pt x="1428" y="7039"/>
                  </a:lnTo>
                  <a:cubicBezTo>
                    <a:pt x="607" y="7252"/>
                    <a:pt x="0" y="7998"/>
                    <a:pt x="0" y="8883"/>
                  </a:cubicBezTo>
                  <a:cubicBezTo>
                    <a:pt x="0" y="9932"/>
                    <a:pt x="853" y="10786"/>
                    <a:pt x="1903" y="10786"/>
                  </a:cubicBezTo>
                  <a:cubicBezTo>
                    <a:pt x="2952" y="10786"/>
                    <a:pt x="3806" y="9932"/>
                    <a:pt x="3806" y="8883"/>
                  </a:cubicBezTo>
                  <a:cubicBezTo>
                    <a:pt x="3806" y="7998"/>
                    <a:pt x="3198" y="7252"/>
                    <a:pt x="2379" y="7039"/>
                  </a:cubicBezTo>
                  <a:lnTo>
                    <a:pt x="2379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FB26477-70D8-A784-32BA-9752F1963674}"/>
              </a:ext>
            </a:extLst>
          </p:cNvPr>
          <p:cNvSpPr txBox="1"/>
          <p:nvPr/>
        </p:nvSpPr>
        <p:spPr>
          <a:xfrm>
            <a:off x="863162" y="2466950"/>
            <a:ext cx="25146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CA">
                <a:latin typeface="Barlow" panose="00000500000000000000" pitchFamily="2" charset="0"/>
              </a:rPr>
              <a:t>Weather influences purchasing — but doesn’t tell the whole story.</a:t>
            </a:r>
          </a:p>
        </p:txBody>
      </p:sp>
      <p:graphicFrame>
        <p:nvGraphicFramePr>
          <p:cNvPr id="10" name="Diagram 9">
            <a:extLst>
              <a:ext uri="{FF2B5EF4-FFF2-40B4-BE49-F238E27FC236}">
                <a16:creationId xmlns:a16="http://schemas.microsoft.com/office/drawing/2014/main" id="{429CE74C-CAEF-293F-DF25-BF89B9F19A3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86691774"/>
              </p:ext>
            </p:extLst>
          </p:nvPr>
        </p:nvGraphicFramePr>
        <p:xfrm>
          <a:off x="3779783" y="1277008"/>
          <a:ext cx="4360172" cy="319489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3717234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7"/>
          <p:cNvSpPr txBox="1">
            <a:spLocks noGrp="1"/>
          </p:cNvSpPr>
          <p:nvPr>
            <p:ph type="subTitle" idx="4"/>
          </p:nvPr>
        </p:nvSpPr>
        <p:spPr>
          <a:xfrm>
            <a:off x="3927875" y="188669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Next Steps</a:t>
            </a:r>
            <a:endParaRPr/>
          </a:p>
        </p:txBody>
      </p:sp>
      <p:sp>
        <p:nvSpPr>
          <p:cNvPr id="319" name="Google Shape;319;p37"/>
          <p:cNvSpPr txBox="1">
            <a:spLocks noGrp="1"/>
          </p:cNvSpPr>
          <p:nvPr>
            <p:ph type="title"/>
          </p:nvPr>
        </p:nvSpPr>
        <p:spPr>
          <a:xfrm>
            <a:off x="7200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Limitations &amp; Next Steps</a:t>
            </a:r>
            <a:endParaRPr dirty="0"/>
          </a:p>
        </p:txBody>
      </p:sp>
      <p:sp>
        <p:nvSpPr>
          <p:cNvPr id="320" name="Google Shape;320;p37"/>
          <p:cNvSpPr txBox="1">
            <a:spLocks noGrp="1"/>
          </p:cNvSpPr>
          <p:nvPr>
            <p:ph type="subTitle" idx="1"/>
          </p:nvPr>
        </p:nvSpPr>
        <p:spPr>
          <a:xfrm>
            <a:off x="3927873" y="2347899"/>
            <a:ext cx="3433625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lnSpc>
                <a:spcPct val="150000"/>
              </a:lnSpc>
            </a:pPr>
            <a:r>
              <a:rPr lang="en-CA" dirty="0"/>
              <a:t>• Explore additional factors that may influence sales</a:t>
            </a:r>
            <a:br>
              <a:rPr lang="en-CA" dirty="0"/>
            </a:br>
            <a:r>
              <a:rPr lang="en-CA" dirty="0"/>
              <a:t>• Combine weather with product, price, seasonal, and promotional information</a:t>
            </a:r>
            <a:br>
              <a:rPr lang="en-CA" dirty="0"/>
            </a:br>
            <a:r>
              <a:rPr lang="en-CA" dirty="0"/>
              <a:t>• Test weather-based strategies before implementation</a:t>
            </a:r>
            <a:endParaRPr lang="en-CA" dirty="0">
              <a:latin typeface="Barlow" panose="00000500000000000000" pitchFamily="2" charset="0"/>
            </a:endParaRPr>
          </a:p>
        </p:txBody>
      </p:sp>
      <p:sp>
        <p:nvSpPr>
          <p:cNvPr id="321" name="Google Shape;321;p37"/>
          <p:cNvSpPr txBox="1">
            <a:spLocks noGrp="1"/>
          </p:cNvSpPr>
          <p:nvPr>
            <p:ph type="subTitle" idx="2"/>
          </p:nvPr>
        </p:nvSpPr>
        <p:spPr>
          <a:xfrm>
            <a:off x="720000" y="2347899"/>
            <a:ext cx="2505600" cy="175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>
                <a:latin typeface="Barlow" panose="00000500000000000000" pitchFamily="2" charset="0"/>
              </a:rPr>
              <a:t>Associations do not prove causation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>
                <a:latin typeface="Barlow" panose="00000500000000000000" pitchFamily="2" charset="0"/>
              </a:rPr>
              <a:t>Weather relationships were relatively weak </a:t>
            </a:r>
          </a:p>
          <a:p>
            <a:pPr marL="342900" lvl="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CA" dirty="0">
                <a:latin typeface="Barlow" panose="00000500000000000000" pitchFamily="2" charset="0"/>
              </a:rPr>
              <a:t>Strategies require further testing</a:t>
            </a:r>
          </a:p>
        </p:txBody>
      </p:sp>
      <p:sp>
        <p:nvSpPr>
          <p:cNvPr id="322" name="Google Shape;322;p37"/>
          <p:cNvSpPr txBox="1">
            <a:spLocks noGrp="1"/>
          </p:cNvSpPr>
          <p:nvPr>
            <p:ph type="subTitle" idx="3"/>
          </p:nvPr>
        </p:nvSpPr>
        <p:spPr>
          <a:xfrm>
            <a:off x="720000" y="188669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Limitations</a:t>
            </a:r>
            <a:endParaRPr/>
          </a:p>
        </p:txBody>
      </p:sp>
      <p:grpSp>
        <p:nvGrpSpPr>
          <p:cNvPr id="323" name="Google Shape;323;p37"/>
          <p:cNvGrpSpPr/>
          <p:nvPr/>
        </p:nvGrpSpPr>
        <p:grpSpPr>
          <a:xfrm>
            <a:off x="6876423" y="1283429"/>
            <a:ext cx="979938" cy="979938"/>
            <a:chOff x="6790705" y="833779"/>
            <a:chExt cx="1250400" cy="1250400"/>
          </a:xfrm>
        </p:grpSpPr>
        <p:sp>
          <p:nvSpPr>
            <p:cNvPr id="324" name="Google Shape;324;p37"/>
            <p:cNvSpPr/>
            <p:nvPr/>
          </p:nvSpPr>
          <p:spPr>
            <a:xfrm>
              <a:off x="6790705" y="833779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37"/>
            <p:cNvSpPr/>
            <p:nvPr/>
          </p:nvSpPr>
          <p:spPr>
            <a:xfrm>
              <a:off x="7057075" y="1100165"/>
              <a:ext cx="717595" cy="717642"/>
            </a:xfrm>
            <a:custGeom>
              <a:avLst/>
              <a:gdLst/>
              <a:ahLst/>
              <a:cxnLst/>
              <a:rect l="l" t="t" r="r" b="b"/>
              <a:pathLst>
                <a:path w="15385" h="15386" extrusionOk="0">
                  <a:moveTo>
                    <a:pt x="7692" y="952"/>
                  </a:moveTo>
                  <a:cubicBezTo>
                    <a:pt x="11409" y="952"/>
                    <a:pt x="14434" y="3977"/>
                    <a:pt x="14434" y="7693"/>
                  </a:cubicBezTo>
                  <a:cubicBezTo>
                    <a:pt x="14434" y="11410"/>
                    <a:pt x="11409" y="14433"/>
                    <a:pt x="7692" y="14433"/>
                  </a:cubicBezTo>
                  <a:cubicBezTo>
                    <a:pt x="3976" y="14433"/>
                    <a:pt x="952" y="11410"/>
                    <a:pt x="952" y="7693"/>
                  </a:cubicBezTo>
                  <a:cubicBezTo>
                    <a:pt x="952" y="3977"/>
                    <a:pt x="3976" y="952"/>
                    <a:pt x="7692" y="952"/>
                  </a:cubicBezTo>
                  <a:close/>
                  <a:moveTo>
                    <a:pt x="7692" y="1"/>
                  </a:moveTo>
                  <a:cubicBezTo>
                    <a:pt x="5638" y="1"/>
                    <a:pt x="3705" y="802"/>
                    <a:pt x="2254" y="2253"/>
                  </a:cubicBezTo>
                  <a:cubicBezTo>
                    <a:pt x="800" y="3707"/>
                    <a:pt x="1" y="5638"/>
                    <a:pt x="1" y="7693"/>
                  </a:cubicBezTo>
                  <a:cubicBezTo>
                    <a:pt x="1" y="9747"/>
                    <a:pt x="800" y="11680"/>
                    <a:pt x="2254" y="13132"/>
                  </a:cubicBezTo>
                  <a:cubicBezTo>
                    <a:pt x="3707" y="14585"/>
                    <a:pt x="5638" y="15386"/>
                    <a:pt x="7692" y="15386"/>
                  </a:cubicBezTo>
                  <a:cubicBezTo>
                    <a:pt x="9748" y="15386"/>
                    <a:pt x="11679" y="14585"/>
                    <a:pt x="13132" y="13132"/>
                  </a:cubicBezTo>
                  <a:cubicBezTo>
                    <a:pt x="14585" y="11680"/>
                    <a:pt x="15385" y="9747"/>
                    <a:pt x="15385" y="7693"/>
                  </a:cubicBezTo>
                  <a:cubicBezTo>
                    <a:pt x="15385" y="5638"/>
                    <a:pt x="14585" y="3707"/>
                    <a:pt x="13132" y="2253"/>
                  </a:cubicBezTo>
                  <a:cubicBezTo>
                    <a:pt x="11679" y="800"/>
                    <a:pt x="9748" y="1"/>
                    <a:pt x="76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6" name="Google Shape;326;p37"/>
          <p:cNvGrpSpPr/>
          <p:nvPr/>
        </p:nvGrpSpPr>
        <p:grpSpPr>
          <a:xfrm>
            <a:off x="6026752" y="840397"/>
            <a:ext cx="979938" cy="979938"/>
            <a:chOff x="837872" y="833779"/>
            <a:chExt cx="1250400" cy="1250400"/>
          </a:xfrm>
        </p:grpSpPr>
        <p:sp>
          <p:nvSpPr>
            <p:cNvPr id="327" name="Google Shape;327;p37"/>
            <p:cNvSpPr/>
            <p:nvPr/>
          </p:nvSpPr>
          <p:spPr>
            <a:xfrm>
              <a:off x="837872" y="833779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7"/>
            <p:cNvSpPr/>
            <p:nvPr/>
          </p:nvSpPr>
          <p:spPr>
            <a:xfrm>
              <a:off x="1191511" y="1100189"/>
              <a:ext cx="543059" cy="717595"/>
            </a:xfrm>
            <a:custGeom>
              <a:avLst/>
              <a:gdLst/>
              <a:ahLst/>
              <a:cxnLst/>
              <a:rect l="l" t="t" r="r" b="b"/>
              <a:pathLst>
                <a:path w="11643" h="15385" extrusionOk="0">
                  <a:moveTo>
                    <a:pt x="7693" y="952"/>
                  </a:moveTo>
                  <a:cubicBezTo>
                    <a:pt x="8156" y="952"/>
                    <a:pt x="8611" y="999"/>
                    <a:pt x="9057" y="1090"/>
                  </a:cubicBezTo>
                  <a:cubicBezTo>
                    <a:pt x="8118" y="1651"/>
                    <a:pt x="7308" y="2408"/>
                    <a:pt x="6677" y="3320"/>
                  </a:cubicBezTo>
                  <a:cubicBezTo>
                    <a:pt x="5785" y="4608"/>
                    <a:pt x="5315" y="6120"/>
                    <a:pt x="5315" y="7693"/>
                  </a:cubicBezTo>
                  <a:cubicBezTo>
                    <a:pt x="5315" y="9265"/>
                    <a:pt x="5785" y="10777"/>
                    <a:pt x="6677" y="12065"/>
                  </a:cubicBezTo>
                  <a:cubicBezTo>
                    <a:pt x="7308" y="12978"/>
                    <a:pt x="8118" y="13735"/>
                    <a:pt x="9057" y="14297"/>
                  </a:cubicBezTo>
                  <a:cubicBezTo>
                    <a:pt x="8611" y="14388"/>
                    <a:pt x="8156" y="14433"/>
                    <a:pt x="7693" y="14433"/>
                  </a:cubicBezTo>
                  <a:cubicBezTo>
                    <a:pt x="3977" y="14433"/>
                    <a:pt x="953" y="11410"/>
                    <a:pt x="953" y="7693"/>
                  </a:cubicBezTo>
                  <a:cubicBezTo>
                    <a:pt x="953" y="3977"/>
                    <a:pt x="3977" y="952"/>
                    <a:pt x="7693" y="952"/>
                  </a:cubicBezTo>
                  <a:close/>
                  <a:moveTo>
                    <a:pt x="7693" y="1"/>
                  </a:moveTo>
                  <a:cubicBezTo>
                    <a:pt x="5639" y="1"/>
                    <a:pt x="3707" y="800"/>
                    <a:pt x="2253" y="2253"/>
                  </a:cubicBezTo>
                  <a:cubicBezTo>
                    <a:pt x="802" y="3707"/>
                    <a:pt x="1" y="5638"/>
                    <a:pt x="1" y="7693"/>
                  </a:cubicBezTo>
                  <a:cubicBezTo>
                    <a:pt x="1" y="9747"/>
                    <a:pt x="802" y="11680"/>
                    <a:pt x="2253" y="13132"/>
                  </a:cubicBezTo>
                  <a:cubicBezTo>
                    <a:pt x="3707" y="14585"/>
                    <a:pt x="5638" y="15384"/>
                    <a:pt x="7693" y="15384"/>
                  </a:cubicBezTo>
                  <a:cubicBezTo>
                    <a:pt x="8670" y="15384"/>
                    <a:pt x="9623" y="15204"/>
                    <a:pt x="10526" y="14847"/>
                  </a:cubicBezTo>
                  <a:lnTo>
                    <a:pt x="11642" y="14404"/>
                  </a:lnTo>
                  <a:lnTo>
                    <a:pt x="10526" y="13961"/>
                  </a:lnTo>
                  <a:cubicBezTo>
                    <a:pt x="7938" y="12937"/>
                    <a:pt x="6266" y="10475"/>
                    <a:pt x="6266" y="7693"/>
                  </a:cubicBezTo>
                  <a:cubicBezTo>
                    <a:pt x="6266" y="4910"/>
                    <a:pt x="7938" y="2449"/>
                    <a:pt x="10526" y="1424"/>
                  </a:cubicBezTo>
                  <a:lnTo>
                    <a:pt x="11642" y="981"/>
                  </a:lnTo>
                  <a:lnTo>
                    <a:pt x="10526" y="539"/>
                  </a:lnTo>
                  <a:cubicBezTo>
                    <a:pt x="9623" y="181"/>
                    <a:pt x="8670" y="1"/>
                    <a:pt x="769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1"/>
          <p:cNvSpPr txBox="1">
            <a:spLocks noGrp="1"/>
          </p:cNvSpPr>
          <p:nvPr>
            <p:ph type="title"/>
          </p:nvPr>
        </p:nvSpPr>
        <p:spPr>
          <a:xfrm>
            <a:off x="894575" y="1610038"/>
            <a:ext cx="5164800" cy="1332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THANKS!</a:t>
            </a:r>
            <a:endParaRPr dirty="0"/>
          </a:p>
        </p:txBody>
      </p:sp>
      <p:sp>
        <p:nvSpPr>
          <p:cNvPr id="394" name="Google Shape;394;p41"/>
          <p:cNvSpPr txBox="1">
            <a:spLocks noGrp="1"/>
          </p:cNvSpPr>
          <p:nvPr>
            <p:ph type="subTitle" idx="1"/>
          </p:nvPr>
        </p:nvSpPr>
        <p:spPr>
          <a:xfrm>
            <a:off x="894475" y="3036363"/>
            <a:ext cx="51648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dirty="0">
                <a:latin typeface="Oswald"/>
                <a:ea typeface="Oswald"/>
                <a:cs typeface="Oswald"/>
                <a:sym typeface="Oswald"/>
              </a:rPr>
              <a:t>DO YOU HAVE ANY QUESTIONS?</a:t>
            </a:r>
          </a:p>
        </p:txBody>
      </p:sp>
      <p:grpSp>
        <p:nvGrpSpPr>
          <p:cNvPr id="395" name="Google Shape;395;p41"/>
          <p:cNvGrpSpPr/>
          <p:nvPr/>
        </p:nvGrpSpPr>
        <p:grpSpPr>
          <a:xfrm>
            <a:off x="6347465" y="2317576"/>
            <a:ext cx="1250400" cy="1250400"/>
            <a:chOff x="6347465" y="1403176"/>
            <a:chExt cx="1250400" cy="1250400"/>
          </a:xfrm>
        </p:grpSpPr>
        <p:sp>
          <p:nvSpPr>
            <p:cNvPr id="396" name="Google Shape;396;p41"/>
            <p:cNvSpPr/>
            <p:nvPr/>
          </p:nvSpPr>
          <p:spPr>
            <a:xfrm>
              <a:off x="6347465" y="1403176"/>
              <a:ext cx="1250400" cy="12504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41"/>
            <p:cNvSpPr/>
            <p:nvPr/>
          </p:nvSpPr>
          <p:spPr>
            <a:xfrm>
              <a:off x="6752174" y="1733874"/>
              <a:ext cx="441033" cy="589014"/>
            </a:xfrm>
            <a:custGeom>
              <a:avLst/>
              <a:gdLst/>
              <a:ahLst/>
              <a:cxnLst/>
              <a:rect l="l" t="t" r="r" b="b"/>
              <a:pathLst>
                <a:path w="11522" h="15388" extrusionOk="0">
                  <a:moveTo>
                    <a:pt x="5762" y="1590"/>
                  </a:moveTo>
                  <a:lnTo>
                    <a:pt x="9621" y="6757"/>
                  </a:lnTo>
                  <a:cubicBezTo>
                    <a:pt x="10243" y="7590"/>
                    <a:pt x="10571" y="8584"/>
                    <a:pt x="10571" y="9626"/>
                  </a:cubicBezTo>
                  <a:cubicBezTo>
                    <a:pt x="10571" y="12279"/>
                    <a:pt x="8414" y="14436"/>
                    <a:pt x="5762" y="14436"/>
                  </a:cubicBezTo>
                  <a:cubicBezTo>
                    <a:pt x="3109" y="14436"/>
                    <a:pt x="951" y="12279"/>
                    <a:pt x="951" y="9626"/>
                  </a:cubicBezTo>
                  <a:cubicBezTo>
                    <a:pt x="951" y="8584"/>
                    <a:pt x="1281" y="7590"/>
                    <a:pt x="1901" y="6757"/>
                  </a:cubicBezTo>
                  <a:lnTo>
                    <a:pt x="5762" y="1590"/>
                  </a:lnTo>
                  <a:close/>
                  <a:moveTo>
                    <a:pt x="5762" y="1"/>
                  </a:moveTo>
                  <a:lnTo>
                    <a:pt x="1138" y="6188"/>
                  </a:lnTo>
                  <a:cubicBezTo>
                    <a:pt x="393" y="7188"/>
                    <a:pt x="0" y="8377"/>
                    <a:pt x="0" y="9626"/>
                  </a:cubicBezTo>
                  <a:cubicBezTo>
                    <a:pt x="0" y="12804"/>
                    <a:pt x="2585" y="15387"/>
                    <a:pt x="5762" y="15387"/>
                  </a:cubicBezTo>
                  <a:cubicBezTo>
                    <a:pt x="8938" y="15387"/>
                    <a:pt x="11522" y="12802"/>
                    <a:pt x="11522" y="9626"/>
                  </a:cubicBezTo>
                  <a:cubicBezTo>
                    <a:pt x="11522" y="8377"/>
                    <a:pt x="11129" y="7188"/>
                    <a:pt x="10384" y="6188"/>
                  </a:cubicBezTo>
                  <a:lnTo>
                    <a:pt x="576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98" name="Google Shape;398;p41"/>
          <p:cNvGrpSpPr/>
          <p:nvPr/>
        </p:nvGrpSpPr>
        <p:grpSpPr>
          <a:xfrm>
            <a:off x="7078515" y="1524101"/>
            <a:ext cx="1250400" cy="1250400"/>
            <a:chOff x="7078515" y="609701"/>
            <a:chExt cx="1250400" cy="1250400"/>
          </a:xfrm>
        </p:grpSpPr>
        <p:sp>
          <p:nvSpPr>
            <p:cNvPr id="399" name="Google Shape;399;p41"/>
            <p:cNvSpPr/>
            <p:nvPr/>
          </p:nvSpPr>
          <p:spPr>
            <a:xfrm>
              <a:off x="7078515" y="609701"/>
              <a:ext cx="1250400" cy="12504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  <a:effectLst>
              <a:outerShdw dist="47625" dir="3480000" algn="bl" rotWithShape="0">
                <a:schemeClr val="dk1">
                  <a:alpha val="13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00" name="Google Shape;400;p41"/>
            <p:cNvGrpSpPr/>
            <p:nvPr/>
          </p:nvGrpSpPr>
          <p:grpSpPr>
            <a:xfrm>
              <a:off x="7522500" y="896875"/>
              <a:ext cx="362446" cy="676067"/>
              <a:chOff x="6467266" y="884439"/>
              <a:chExt cx="412574" cy="769569"/>
            </a:xfrm>
          </p:grpSpPr>
          <p:sp>
            <p:nvSpPr>
              <p:cNvPr id="401" name="Google Shape;401;p41"/>
              <p:cNvSpPr/>
              <p:nvPr/>
            </p:nvSpPr>
            <p:spPr>
              <a:xfrm>
                <a:off x="6467266" y="884439"/>
                <a:ext cx="412574" cy="769569"/>
              </a:xfrm>
              <a:custGeom>
                <a:avLst/>
                <a:gdLst/>
                <a:ahLst/>
                <a:cxnLst/>
                <a:rect l="l" t="t" r="r" b="b"/>
                <a:pathLst>
                  <a:path w="8249" h="15386" extrusionOk="0">
                    <a:moveTo>
                      <a:pt x="4124" y="951"/>
                    </a:moveTo>
                    <a:cubicBezTo>
                      <a:pt x="5087" y="951"/>
                      <a:pt x="5869" y="1734"/>
                      <a:pt x="5869" y="2696"/>
                    </a:cubicBezTo>
                    <a:lnTo>
                      <a:pt x="5869" y="8603"/>
                    </a:lnTo>
                    <a:lnTo>
                      <a:pt x="6055" y="8745"/>
                    </a:lnTo>
                    <a:cubicBezTo>
                      <a:pt x="6844" y="9354"/>
                      <a:pt x="7296" y="10270"/>
                      <a:pt x="7296" y="11261"/>
                    </a:cubicBezTo>
                    <a:cubicBezTo>
                      <a:pt x="7296" y="13010"/>
                      <a:pt x="5873" y="14433"/>
                      <a:pt x="4124" y="14433"/>
                    </a:cubicBezTo>
                    <a:cubicBezTo>
                      <a:pt x="2375" y="14433"/>
                      <a:pt x="952" y="13010"/>
                      <a:pt x="952" y="11261"/>
                    </a:cubicBezTo>
                    <a:cubicBezTo>
                      <a:pt x="952" y="10270"/>
                      <a:pt x="1406" y="9354"/>
                      <a:pt x="2195" y="8745"/>
                    </a:cubicBezTo>
                    <a:lnTo>
                      <a:pt x="2380" y="8603"/>
                    </a:lnTo>
                    <a:lnTo>
                      <a:pt x="2380" y="2696"/>
                    </a:lnTo>
                    <a:cubicBezTo>
                      <a:pt x="2380" y="1734"/>
                      <a:pt x="3162" y="951"/>
                      <a:pt x="4124" y="951"/>
                    </a:cubicBezTo>
                    <a:close/>
                    <a:moveTo>
                      <a:pt x="4124" y="0"/>
                    </a:moveTo>
                    <a:cubicBezTo>
                      <a:pt x="2638" y="0"/>
                      <a:pt x="1428" y="1209"/>
                      <a:pt x="1428" y="2696"/>
                    </a:cubicBezTo>
                    <a:lnTo>
                      <a:pt x="1428" y="8143"/>
                    </a:lnTo>
                    <a:cubicBezTo>
                      <a:pt x="518" y="8929"/>
                      <a:pt x="1" y="10052"/>
                      <a:pt x="1" y="11261"/>
                    </a:cubicBezTo>
                    <a:cubicBezTo>
                      <a:pt x="1" y="13535"/>
                      <a:pt x="1850" y="15385"/>
                      <a:pt x="4124" y="15385"/>
                    </a:cubicBezTo>
                    <a:cubicBezTo>
                      <a:pt x="6398" y="15385"/>
                      <a:pt x="8249" y="13535"/>
                      <a:pt x="8249" y="11261"/>
                    </a:cubicBezTo>
                    <a:cubicBezTo>
                      <a:pt x="8249" y="10053"/>
                      <a:pt x="7732" y="8929"/>
                      <a:pt x="6821" y="8143"/>
                    </a:cubicBezTo>
                    <a:lnTo>
                      <a:pt x="6821" y="2696"/>
                    </a:lnTo>
                    <a:cubicBezTo>
                      <a:pt x="6821" y="1209"/>
                      <a:pt x="5611" y="0"/>
                      <a:pt x="4124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41"/>
              <p:cNvSpPr/>
              <p:nvPr/>
            </p:nvSpPr>
            <p:spPr>
              <a:xfrm>
                <a:off x="6578350" y="1281068"/>
                <a:ext cx="190407" cy="261842"/>
              </a:xfrm>
              <a:custGeom>
                <a:avLst/>
                <a:gdLst/>
                <a:ahLst/>
                <a:cxnLst/>
                <a:rect l="l" t="t" r="r" b="b"/>
                <a:pathLst>
                  <a:path w="3807" h="5235" extrusionOk="0">
                    <a:moveTo>
                      <a:pt x="1428" y="1"/>
                    </a:moveTo>
                    <a:lnTo>
                      <a:pt x="1428" y="1487"/>
                    </a:lnTo>
                    <a:cubicBezTo>
                      <a:pt x="608" y="1700"/>
                      <a:pt x="1" y="2446"/>
                      <a:pt x="1" y="3331"/>
                    </a:cubicBezTo>
                    <a:cubicBezTo>
                      <a:pt x="1" y="4380"/>
                      <a:pt x="853" y="5234"/>
                      <a:pt x="1903" y="5234"/>
                    </a:cubicBezTo>
                    <a:cubicBezTo>
                      <a:pt x="2953" y="5234"/>
                      <a:pt x="3807" y="4380"/>
                      <a:pt x="3807" y="3331"/>
                    </a:cubicBezTo>
                    <a:cubicBezTo>
                      <a:pt x="3807" y="2446"/>
                      <a:pt x="3199" y="1700"/>
                      <a:pt x="2380" y="1487"/>
                    </a:cubicBezTo>
                    <a:lnTo>
                      <a:pt x="238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Weatherperson Digital Resume by Slidesgo">
  <a:themeElements>
    <a:clrScheme name="Simple Light">
      <a:dk1>
        <a:srgbClr val="212121"/>
      </a:dk1>
      <a:lt1>
        <a:srgbClr val="FFFFFF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1212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4ddd393a-e98a-4404-841f-c4becdd925a5}" enabled="0" method="" siteId="{4ddd393a-e98a-4404-841f-c4becdd925a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2035</TotalTime>
  <Words>648</Words>
  <Application>Microsoft Office PowerPoint</Application>
  <PresentationFormat>On-screen Show (16:9)</PresentationFormat>
  <Paragraphs>158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Barlow</vt:lpstr>
      <vt:lpstr>Bebas Neue</vt:lpstr>
      <vt:lpstr>Oswald</vt:lpstr>
      <vt:lpstr>Anaheim</vt:lpstr>
      <vt:lpstr>Oswald Medium</vt:lpstr>
      <vt:lpstr>Arial</vt:lpstr>
      <vt:lpstr>Nunito Light</vt:lpstr>
      <vt:lpstr>Weatherperson Digital Resume by Slidesgo</vt:lpstr>
      <vt:lpstr>WEATHER AND RETAIL Purchasing Behaviour</vt:lpstr>
      <vt:lpstr>TABLE OF CONTENTS</vt:lpstr>
      <vt:lpstr>Can Weather Help Retailers Make Better Decisions?</vt:lpstr>
      <vt:lpstr>What Did We Analyze?</vt:lpstr>
      <vt:lpstr>How Did We Find the Patterns?</vt:lpstr>
      <vt:lpstr>Three Different Purchasing Environments</vt:lpstr>
      <vt:lpstr>Wet, Cloudy &amp; Windy Conditions Are Associated With Larger Purchases</vt:lpstr>
      <vt:lpstr>Use Weather as an Additional Demand Signal</vt:lpstr>
      <vt:lpstr>Warm &amp; Dry Conditions Are Associated With Higher-Priced Purchases</vt:lpstr>
      <vt:lpstr>Different Weather May Require Different Sales Strategies</vt:lpstr>
      <vt:lpstr>What Are Customers Buying Most Often?</vt:lpstr>
      <vt:lpstr>Some Product Pairs Are Strongly Associated</vt:lpstr>
      <vt:lpstr>Strong Product Pairs Can Guide Retail Decisions </vt:lpstr>
      <vt:lpstr>Weather Conditions Are Associated With Specific Product Purchases</vt:lpstr>
      <vt:lpstr>Weather May Help Identify Changes in Product Demand</vt:lpstr>
      <vt:lpstr>Weather &amp; Temporal Factors Alone Do Not Reliably Predict Transaction Sales</vt:lpstr>
      <vt:lpstr>Weather &amp; Timing ≠ Reliable Sales Predictor</vt:lpstr>
      <vt:lpstr>Limitations &amp; Next Steps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BS01</dc:creator>
  <cp:lastModifiedBy>Saba Berenji</cp:lastModifiedBy>
  <cp:revision>2</cp:revision>
  <dcterms:modified xsi:type="dcterms:W3CDTF">2026-08-18T14:59:48Z</dcterms:modified>
</cp:coreProperties>
</file>